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Reading Time (seconds)</c:v>
                </c:pt>
              </c:strCache>
            </c:strRef>
          </c:tx>
          <c:spPr>
            <a:solidFill>
              <a:srgbClr val="0077B6"/>
            </a:solidFill>
            <a:effectLst/>
          </c:spPr>
          <c:invertIfNegative val="0"/>
          <c:dLbls>
            <c:numFmt formatCode="#,##0" sourceLinked="0"/>
            <c:txPr>
              <a:bodyPr/>
              <a:lstStyle/>
              <a:p>
                <a:pPr>
                  <a:defRPr b="1" i="0" strike="noStrike" sz="1400" u="none">
                    <a:solidFill>
                      <a:srgbClr val="0D1F3C"/>
                    </a:solidFill>
                    <a:latin typeface="Arial"/>
                  </a:defRPr>
                </a:pPr>
              </a:p>
            </c:txPr>
            <c:showLegendKey val="0"/>
            <c:showVal val="1"/>
            <c:showCatName val="0"/>
            <c:showSerName val="0"/>
            <c:showPercent val="0"/>
            <c:showBubbleSize val="0"/>
            <c:showLeaderLines val="0"/>
          </c:dLbls>
          <c:dPt>
            <c:idx val="0"/>
            <c:invertIfNegative val="0"/>
            <c:bubble3D val="0"/>
            <c:spPr>
              <a:solidFill>
                <a:srgbClr val="0077B6"/>
              </a:solidFill>
              <a:effectLst/>
            </c:spPr>
          </c:dPt>
          <c:dPt>
            <c:idx val="1"/>
            <c:invertIfNegative val="0"/>
            <c:bubble3D val="0"/>
            <c:spPr>
              <a:solidFill>
                <a:srgbClr val="00B4D8"/>
              </a:solidFill>
              <a:effectLst/>
            </c:spPr>
          </c:dPt>
          <c:dPt>
            <c:idx val="2"/>
            <c:invertIfNegative val="0"/>
            <c:bubble3D val="0"/>
            <c:spPr>
              <a:solidFill>
                <a:srgbClr val="06D6A0"/>
              </a:solidFill>
              <a:effectLst/>
            </c:spPr>
          </c:dPt>
          <c:cat>
            <c:multiLvlStrRef>
              <c:f>Sheet1!$A$2:$A$4</c:f>
              <c:multiLvlStrCache>
                <c:ptCount val="3"/>
                <c:lvl>
                  <c:pt idx="0">
                    <c:v>Baseline</c:v>
                  </c:pt>
                  <c:pt idx="1">
                    <c:v>Bold + High Contrast</c:v>
                  </c:pt>
                  <c:pt idx="2">
                    <c:v>+ AI Summary</c:v>
                  </c:pt>
                </c:lvl>
              </c:multiLvlStrCache>
            </c:multiLvlStrRef>
          </c:cat>
          <c:val>
            <c:numRef>
              <c:f>Sheet1!$B$2:$B$4</c:f>
              <c:numCache>
                <c:formatCode>General</c:formatCode>
                <c:ptCount val="3"/>
                <c:pt idx="0">
                  <c:v>252</c:v>
                </c:pt>
                <c:pt idx="1">
                  <c:v>157</c:v>
                </c:pt>
                <c:pt idx="2">
                  <c:v>81</c:v>
                </c:pt>
              </c:numCache>
            </c:numRef>
          </c:val>
        </c:ser>
        <c:dLbls>
          <c:numFmt formatCode="#,##0" sourceLinked="0"/>
          <c:txPr>
            <a:bodyPr/>
            <a:lstStyle/>
            <a:p>
              <a:pPr>
                <a:defRPr b="1" i="0" strike="noStrike" sz="1400" u="none">
                  <a:solidFill>
                    <a:srgbClr val="0D1F3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0D1F3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502920" y="347472"/>
            <a:ext cx="8138160" cy="182880"/>
          </a:xfrm>
          <a:prstGeom prst="rect">
            <a:avLst/>
          </a:prstGeom>
          <a:noFill/>
          <a:ln/>
        </p:spPr>
        <p:txBody>
          <a:bodyPr wrap="square" rtlCol="0" anchor="ctr"/>
          <a:lstStyle/>
          <a:p>
            <a:pPr indent="0" marL="0">
              <a:buNone/>
            </a:pPr>
            <a:r>
              <a:rPr lang="en-US" sz="800" b="1" spc="300" kern="0" dirty="0">
                <a:solidFill>
                  <a:srgbClr val="FFFFFF">
                    <a:alpha val="45000"/>
                  </a:srgbClr>
                </a:solidFill>
                <a:latin typeface="Calibri" pitchFamily="34" charset="0"/>
                <a:ea typeface="Calibri" pitchFamily="34" charset="-122"/>
                <a:cs typeface="Calibri" pitchFamily="34" charset="-120"/>
              </a:rPr>
              <a:t>Technology &amp; Health</a:t>
            </a:r>
            <a:endParaRPr lang="en-US" sz="800" dirty="0"/>
          </a:p>
        </p:txBody>
      </p:sp>
      <p:sp>
        <p:nvSpPr>
          <p:cNvPr id="3" name="Text 1"/>
          <p:cNvSpPr/>
          <p:nvPr/>
        </p:nvSpPr>
        <p:spPr>
          <a:xfrm>
            <a:off x="502920" y="566928"/>
            <a:ext cx="8138160" cy="384048"/>
          </a:xfrm>
          <a:prstGeom prst="rect">
            <a:avLst/>
          </a:prstGeom>
          <a:noFill/>
          <a:ln/>
        </p:spPr>
        <p:txBody>
          <a:bodyPr wrap="square" rtlCol="0" anchor="ctr"/>
          <a:lstStyle/>
          <a:p>
            <a:pPr indent="0" marL="0">
              <a:buNone/>
            </a:pPr>
            <a:r>
              <a:rPr lang="en-US" sz="1400" b="1" dirty="0">
                <a:solidFill>
                  <a:srgbClr val="FFFFFF">
                    <a:alpha val="85000"/>
                  </a:srgbClr>
                </a:solidFill>
                <a:latin typeface="Georgia" pitchFamily="34" charset="0"/>
                <a:ea typeface="Georgia" pitchFamily="34" charset="-122"/>
                <a:cs typeface="Georgia" pitchFamily="34" charset="-120"/>
              </a:rPr>
              <a:t>Intel Panther Lake Brings On-Device AI to Accessibility Tools</a:t>
            </a:r>
            <a:endParaRPr lang="en-US" sz="1400" dirty="0"/>
          </a:p>
        </p:txBody>
      </p:sp>
      <p:sp>
        <p:nvSpPr>
          <p:cNvPr id="4" name="Text 2"/>
          <p:cNvSpPr/>
          <p:nvPr/>
        </p:nvSpPr>
        <p:spPr>
          <a:xfrm>
            <a:off x="502920" y="1024128"/>
            <a:ext cx="8138160" cy="658368"/>
          </a:xfrm>
          <a:prstGeom prst="rect">
            <a:avLst/>
          </a:prstGeom>
          <a:noFill/>
          <a:ln/>
        </p:spPr>
        <p:txBody>
          <a:bodyPr wrap="square" rtlCol="0" anchor="ctr"/>
          <a:lstStyle/>
          <a:p>
            <a:pPr indent="0" marL="0">
              <a:buNone/>
            </a:pPr>
            <a:r>
              <a:rPr lang="en-US" sz="900" dirty="0">
                <a:solidFill>
                  <a:srgbClr val="CCCCCC">
                    <a:alpha val="75000"/>
                  </a:srgbClr>
                </a:solidFill>
                <a:latin typeface="Georgia" pitchFamily="34" charset="0"/>
                <a:ea typeface="Georgia" pitchFamily="34" charset="-122"/>
                <a:cs typeface="Georgia" pitchFamily="34" charset="-120"/>
              </a:rPr>
              <a:t>The Panther Lake architecture delivers over 100 TOPS of NPU compute, enabling new categories of on-device AI applications that run entirely without network access. Engineers at leading PC manufacturers are already developing software that leverages this capability to provide real-time assistance.</a:t>
            </a:r>
            <a:endParaRPr lang="en-US" sz="900" dirty="0"/>
          </a:p>
        </p:txBody>
      </p:sp>
      <p:sp>
        <p:nvSpPr>
          <p:cNvPr id="5" name="Text 3"/>
          <p:cNvSpPr/>
          <p:nvPr/>
        </p:nvSpPr>
        <p:spPr>
          <a:xfrm>
            <a:off x="502920" y="1737360"/>
            <a:ext cx="8138160" cy="594360"/>
          </a:xfrm>
          <a:prstGeom prst="rect">
            <a:avLst/>
          </a:prstGeom>
          <a:noFill/>
          <a:ln/>
        </p:spPr>
        <p:txBody>
          <a:bodyPr wrap="square" rtlCol="0" anchor="ctr"/>
          <a:lstStyle/>
          <a:p>
            <a:pPr indent="0" marL="0">
              <a:buNone/>
            </a:pPr>
            <a:r>
              <a:rPr lang="en-US" sz="900" dirty="0">
                <a:solidFill>
                  <a:srgbClr val="CCCCCC">
                    <a:alpha val="75000"/>
                  </a:srgbClr>
                </a:solidFill>
                <a:latin typeface="Georgia" pitchFamily="34" charset="0"/>
                <a:ea typeface="Georgia" pitchFamily="34" charset="-122"/>
                <a:cs typeface="Georgia" pitchFamily="34" charset="-120"/>
              </a:rPr>
              <a:t>Accessibility tools that once required specialised hardware costing hundreds of dollars can now run natively on the integrated processor, removing cost barriers for the estimated 285 million people worldwide living with some form of visual impairment.</a:t>
            </a:r>
            <a:endParaRPr lang="en-US" sz="900" dirty="0"/>
          </a:p>
        </p:txBody>
      </p:sp>
      <p:sp>
        <p:nvSpPr>
          <p:cNvPr id="6" name="Text 4"/>
          <p:cNvSpPr/>
          <p:nvPr/>
        </p:nvSpPr>
        <p:spPr>
          <a:xfrm>
            <a:off x="502920" y="2377440"/>
            <a:ext cx="8138160" cy="594360"/>
          </a:xfrm>
          <a:prstGeom prst="rect">
            <a:avLst/>
          </a:prstGeom>
          <a:noFill/>
          <a:ln/>
        </p:spPr>
        <p:txBody>
          <a:bodyPr wrap="square" rtlCol="0" anchor="ctr"/>
          <a:lstStyle/>
          <a:p>
            <a:pPr indent="0" marL="0">
              <a:buNone/>
            </a:pPr>
            <a:r>
              <a:rPr lang="en-US" sz="900" dirty="0">
                <a:solidFill>
                  <a:srgbClr val="CCCCCC">
                    <a:alpha val="75000"/>
                  </a:srgbClr>
                </a:solidFill>
                <a:latin typeface="Georgia" pitchFamily="34" charset="0"/>
                <a:ea typeface="Georgia" pitchFamily="34" charset="-122"/>
                <a:cs typeface="Georgia" pitchFamily="34" charset="-120"/>
              </a:rPr>
              <a:t>The platform's inference engine supports quantised language models as compact as 1.5 billion parameters, small enough to fit entirely within system memory while delivering sub-second summarisation latency. Early benchmarks show GPU-accelerated inference completing in 0.85 seconds.</a:t>
            </a:r>
            <a:endParaRPr lang="en-US" sz="900" dirty="0"/>
          </a:p>
        </p:txBody>
      </p:sp>
      <p:sp>
        <p:nvSpPr>
          <p:cNvPr id="7" name="Shape 5"/>
          <p:cNvSpPr/>
          <p:nvPr/>
        </p:nvSpPr>
        <p:spPr>
          <a:xfrm>
            <a:off x="-914400" y="-914400"/>
            <a:ext cx="10972800" cy="6972300"/>
          </a:xfrm>
          <a:prstGeom prst="ellipse">
            <a:avLst/>
          </a:prstGeom>
          <a:solidFill>
            <a:srgbClr val="000000"/>
          </a:solidFill>
          <a:ln w="12700">
            <a:solidFill>
              <a:srgbClr val="000000"/>
            </a:solidFill>
            <a:prstDash val="solid"/>
          </a:ln>
        </p:spPr>
      </p:sp>
      <p:sp>
        <p:nvSpPr>
          <p:cNvPr id="8" name="Shape 6"/>
          <p:cNvSpPr/>
          <p:nvPr/>
        </p:nvSpPr>
        <p:spPr>
          <a:xfrm>
            <a:off x="2560320" y="914400"/>
            <a:ext cx="4023360" cy="3200400"/>
          </a:xfrm>
          <a:prstGeom prst="ellipse">
            <a:avLst/>
          </a:prstGeom>
          <a:solidFill>
            <a:srgbClr val="0B1520"/>
          </a:solidFill>
          <a:ln w="12700">
            <a:solidFill>
              <a:srgbClr val="0B1520"/>
            </a:solidFill>
            <a:prstDash val="solid"/>
          </a:ln>
        </p:spPr>
      </p:sp>
      <p:sp>
        <p:nvSpPr>
          <p:cNvPr id="9" name="Shape 7"/>
          <p:cNvSpPr/>
          <p:nvPr/>
        </p:nvSpPr>
        <p:spPr>
          <a:xfrm>
            <a:off x="1371600" y="182880"/>
            <a:ext cx="6400800" cy="4754880"/>
          </a:xfrm>
          <a:prstGeom prst="ellipse">
            <a:avLst/>
          </a:prstGeom>
          <a:solidFill>
            <a:srgbClr val="000000">
              <a:alpha val="55000"/>
            </a:srgbClr>
          </a:solidFill>
          <a:ln w="12700">
            <a:solidFill>
              <a:srgbClr val="000000"/>
            </a:solidFill>
            <a:prstDash val="solid"/>
          </a:ln>
        </p:spPr>
      </p:sp>
      <p:sp>
        <p:nvSpPr>
          <p:cNvPr id="10" name="Shape 8"/>
          <p:cNvSpPr/>
          <p:nvPr/>
        </p:nvSpPr>
        <p:spPr>
          <a:xfrm>
            <a:off x="91440" y="91440"/>
            <a:ext cx="2011680" cy="1097280"/>
          </a:xfrm>
          <a:prstGeom prst="ellipse">
            <a:avLst/>
          </a:prstGeom>
          <a:solidFill>
            <a:srgbClr val="000000">
              <a:alpha val="90000"/>
            </a:srgbClr>
          </a:solidFill>
          <a:ln w="12700">
            <a:solidFill>
              <a:srgbClr val="000000"/>
            </a:solidFill>
            <a:prstDash val="solid"/>
          </a:ln>
        </p:spPr>
      </p:sp>
      <p:sp>
        <p:nvSpPr>
          <p:cNvPr id="11" name="Shape 9"/>
          <p:cNvSpPr/>
          <p:nvPr/>
        </p:nvSpPr>
        <p:spPr>
          <a:xfrm>
            <a:off x="6858000" y="3657600"/>
            <a:ext cx="1828800" cy="1005840"/>
          </a:xfrm>
          <a:prstGeom prst="ellipse">
            <a:avLst/>
          </a:prstGeom>
          <a:solidFill>
            <a:srgbClr val="000000">
              <a:alpha val="90000"/>
            </a:srgbClr>
          </a:solidFill>
          <a:ln w="12700">
            <a:solidFill>
              <a:srgbClr val="000000"/>
            </a:solidFill>
            <a:prstDash val="solid"/>
          </a:ln>
        </p:spPr>
      </p:sp>
      <p:sp>
        <p:nvSpPr>
          <p:cNvPr id="12" name="Text 10"/>
          <p:cNvSpPr/>
          <p:nvPr/>
        </p:nvSpPr>
        <p:spPr>
          <a:xfrm>
            <a:off x="0" y="4828032"/>
            <a:ext cx="9144000" cy="182880"/>
          </a:xfrm>
          <a:prstGeom prst="rect">
            <a:avLst/>
          </a:prstGeom>
          <a:noFill/>
          <a:ln/>
        </p:spPr>
        <p:txBody>
          <a:bodyPr wrap="square" rtlCol="0" anchor="ctr"/>
          <a:lstStyle/>
          <a:p>
            <a:pPr algn="ctr" indent="0" marL="0">
              <a:buNone/>
            </a:pPr>
            <a:r>
              <a:rPr lang="en-US" sz="700" b="1" spc="300" kern="0" dirty="0">
                <a:solidFill>
                  <a:srgbClr val="FFFFFF">
                    <a:alpha val="20000"/>
                  </a:srgbClr>
                </a:solidFill>
                <a:latin typeface="Calibri" pitchFamily="34" charset="0"/>
                <a:ea typeface="Calibri" pitchFamily="34" charset="-122"/>
                <a:cs typeface="Calibri" pitchFamily="34" charset="-120"/>
              </a:rPr>
              <a:t>SIMULATED VIEW — GLAUCOMA</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C"/>
        </a:solidFill>
      </p:bgPr>
    </p:bg>
    <p:spTree>
      <p:nvGrpSpPr>
        <p:cNvPr id="1" name=""/>
        <p:cNvGrpSpPr/>
        <p:nvPr/>
      </p:nvGrpSpPr>
      <p:grpSpPr>
        <a:xfrm>
          <a:off x="0" y="0"/>
          <a:ext cx="0" cy="0"/>
          <a:chOff x="0" y="0"/>
          <a:chExt cx="0" cy="0"/>
        </a:xfrm>
      </p:grpSpPr>
      <p:sp>
        <p:nvSpPr>
          <p:cNvPr id="2" name="Text 0"/>
          <p:cNvSpPr/>
          <p:nvPr/>
        </p:nvSpPr>
        <p:spPr>
          <a:xfrm>
            <a:off x="512064" y="493776"/>
            <a:ext cx="4572000" cy="201168"/>
          </a:xfrm>
          <a:prstGeom prst="roundRect">
            <a:avLst>
              <a:gd name="adj" fmla="val 227273"/>
            </a:avLst>
          </a:prstGeom>
          <a:solidFill>
            <a:srgbClr val="00B4D8">
              <a:alpha val="12000"/>
            </a:srgbClr>
          </a:solidFill>
          <a:ln/>
        </p:spPr>
        <p:txBody>
          <a:bodyPr wrap="square" rtlCol="0" anchor="ctr"/>
          <a:lstStyle/>
          <a:p>
            <a:pPr algn="ctr" indent="0" marL="0">
              <a:buNone/>
            </a:pPr>
            <a:r>
              <a:rPr lang="en-US" sz="900" b="1" spc="200" kern="0" dirty="0">
                <a:solidFill>
                  <a:srgbClr val="00B4D8"/>
                </a:solidFill>
                <a:latin typeface="Calibri" pitchFamily="34" charset="0"/>
                <a:ea typeface="Calibri" pitchFamily="34" charset="-122"/>
                <a:cs typeface="Calibri" pitchFamily="34" charset="-120"/>
              </a:rPr>
              <a:t>FINAL PRESENTATION</a:t>
            </a:r>
            <a:endParaRPr lang="en-US" sz="900" dirty="0"/>
          </a:p>
        </p:txBody>
      </p:sp>
      <p:sp>
        <p:nvSpPr>
          <p:cNvPr id="3" name="Text 1"/>
          <p:cNvSpPr/>
          <p:nvPr/>
        </p:nvSpPr>
        <p:spPr>
          <a:xfrm>
            <a:off x="512064" y="804672"/>
            <a:ext cx="4572000" cy="86868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AI</a:t>
            </a:r>
            <a:pPr indent="0" marL="0">
              <a:buNone/>
            </a:pPr>
            <a:r>
              <a:rPr lang="en-US" sz="5200" b="1" dirty="0">
                <a:solidFill>
                  <a:srgbClr val="00B4D8"/>
                </a:solidFill>
                <a:latin typeface="Cambria" pitchFamily="34" charset="0"/>
                <a:ea typeface="Cambria" pitchFamily="34" charset="-122"/>
                <a:cs typeface="Cambria" pitchFamily="34" charset="-120"/>
              </a:rPr>
              <a:t>·</a:t>
            </a:r>
            <a:pPr indent="0" marL="0">
              <a:buNone/>
            </a:pPr>
            <a:r>
              <a:rPr lang="en-US" sz="5200" b="1" dirty="0">
                <a:solidFill>
                  <a:srgbClr val="FFFFFF"/>
                </a:solidFill>
                <a:latin typeface="Cambria" pitchFamily="34" charset="0"/>
                <a:ea typeface="Cambria" pitchFamily="34" charset="-122"/>
                <a:cs typeface="Cambria" pitchFamily="34" charset="-120"/>
              </a:rPr>
              <a:t>Kwau</a:t>
            </a:r>
            <a:endParaRPr lang="en-US" sz="5200" dirty="0"/>
          </a:p>
        </p:txBody>
      </p:sp>
      <p:sp>
        <p:nvSpPr>
          <p:cNvPr id="4" name="Text 2"/>
          <p:cNvSpPr/>
          <p:nvPr/>
        </p:nvSpPr>
        <p:spPr>
          <a:xfrm>
            <a:off x="512064" y="1627632"/>
            <a:ext cx="4572000" cy="274320"/>
          </a:xfrm>
          <a:prstGeom prst="rect">
            <a:avLst/>
          </a:prstGeom>
          <a:noFill/>
          <a:ln/>
        </p:spPr>
        <p:txBody>
          <a:bodyPr wrap="square" rtlCol="0" anchor="ctr"/>
          <a:lstStyle/>
          <a:p>
            <a:pPr indent="0" marL="0">
              <a:buNone/>
            </a:pPr>
            <a:r>
              <a:rPr lang="en-US" sz="1300" dirty="0">
                <a:solidFill>
                  <a:srgbClr val="90E0EF">
                    <a:alpha val="75000"/>
                  </a:srgbClr>
                </a:solidFill>
                <a:latin typeface="Calibri" pitchFamily="34" charset="0"/>
                <a:ea typeface="Calibri" pitchFamily="34" charset="-122"/>
                <a:cs typeface="Calibri" pitchFamily="34" charset="-120"/>
              </a:rPr>
              <a:t>愛看有</a:t>
            </a:r>
            <a:endParaRPr lang="en-US" sz="1300" dirty="0"/>
          </a:p>
        </p:txBody>
      </p:sp>
      <p:sp>
        <p:nvSpPr>
          <p:cNvPr id="5" name="Text 3"/>
          <p:cNvSpPr/>
          <p:nvPr/>
        </p:nvSpPr>
        <p:spPr>
          <a:xfrm>
            <a:off x="512064" y="1938528"/>
            <a:ext cx="4572000" cy="292608"/>
          </a:xfrm>
          <a:prstGeom prst="rect">
            <a:avLst/>
          </a:prstGeom>
          <a:noFill/>
          <a:ln/>
        </p:spPr>
        <p:txBody>
          <a:bodyPr wrap="square" rtlCol="0" anchor="ctr"/>
          <a:lstStyle/>
          <a:p>
            <a:pPr indent="0" marL="0">
              <a:buNone/>
            </a:pPr>
            <a:r>
              <a:rPr lang="en-US" sz="1200" dirty="0">
                <a:solidFill>
                  <a:srgbClr val="90E0EF"/>
                </a:solidFill>
                <a:latin typeface="Calibri" pitchFamily="34" charset="0"/>
                <a:ea typeface="Calibri" pitchFamily="34" charset="-122"/>
                <a:cs typeface="Calibri" pitchFamily="34" charset="-120"/>
              </a:rPr>
              <a:t>Webcam × AI — see clearly, understand instantly</a:t>
            </a:r>
            <a:endParaRPr lang="en-US" sz="1200" dirty="0"/>
          </a:p>
        </p:txBody>
      </p:sp>
      <p:sp>
        <p:nvSpPr>
          <p:cNvPr id="6" name="Shape 4"/>
          <p:cNvSpPr/>
          <p:nvPr/>
        </p:nvSpPr>
        <p:spPr>
          <a:xfrm>
            <a:off x="512064" y="2359152"/>
            <a:ext cx="4114800" cy="9144"/>
          </a:xfrm>
          <a:prstGeom prst="rect">
            <a:avLst/>
          </a:prstGeom>
          <a:solidFill>
            <a:srgbClr val="FFFFFF">
              <a:alpha val="10000"/>
            </a:srgbClr>
          </a:solidFill>
          <a:ln w="12700">
            <a:solidFill>
              <a:srgbClr val="FFFFFF"/>
            </a:solidFill>
            <a:prstDash val="solid"/>
          </a:ln>
        </p:spPr>
      </p:sp>
      <p:sp>
        <p:nvSpPr>
          <p:cNvPr id="7" name="Text 5"/>
          <p:cNvSpPr/>
          <p:nvPr/>
        </p:nvSpPr>
        <p:spPr>
          <a:xfrm>
            <a:off x="512064" y="2450592"/>
            <a:ext cx="4572000" cy="182880"/>
          </a:xfrm>
          <a:prstGeom prst="rect">
            <a:avLst/>
          </a:prstGeom>
          <a:noFill/>
          <a:ln/>
        </p:spPr>
        <p:txBody>
          <a:bodyPr wrap="square" rtlCol="0" anchor="ctr"/>
          <a:lstStyle/>
          <a:p>
            <a:pPr indent="0" marL="0">
              <a:buNone/>
            </a:pPr>
            <a:r>
              <a:rPr lang="en-US" sz="800" b="1" spc="200" kern="0" dirty="0">
                <a:solidFill>
                  <a:srgbClr val="90E0EF">
                    <a:alpha val="50000"/>
                  </a:srgbClr>
                </a:solidFill>
                <a:latin typeface="Calibri" pitchFamily="34" charset="0"/>
                <a:ea typeface="Calibri" pitchFamily="34" charset="-122"/>
                <a:cs typeface="Calibri" pitchFamily="34" charset="-120"/>
              </a:rPr>
              <a:t>TEAM</a:t>
            </a:r>
            <a:endParaRPr lang="en-US" sz="800" dirty="0"/>
          </a:p>
        </p:txBody>
      </p:sp>
      <p:sp>
        <p:nvSpPr>
          <p:cNvPr id="8" name="Text 6"/>
          <p:cNvSpPr/>
          <p:nvPr/>
        </p:nvSpPr>
        <p:spPr>
          <a:xfrm>
            <a:off x="512064" y="2651760"/>
            <a:ext cx="4572000" cy="256032"/>
          </a:xfrm>
          <a:prstGeom prst="rect">
            <a:avLst/>
          </a:prstGeom>
          <a:noFill/>
          <a:ln/>
        </p:spPr>
        <p:txBody>
          <a:bodyPr wrap="square" rtlCol="0" anchor="ctr"/>
          <a:lstStyle/>
          <a:p>
            <a:pPr indent="0" marL="0">
              <a:buNone/>
            </a:pPr>
            <a:r>
              <a:rPr lang="en-US" sz="1200" dirty="0">
                <a:solidFill>
                  <a:srgbClr val="BBBBBB"/>
                </a:solidFill>
                <a:latin typeface="Calibri" pitchFamily="34" charset="0"/>
                <a:ea typeface="Calibri" pitchFamily="34" charset="-122"/>
                <a:cs typeface="Calibri" pitchFamily="34" charset="-120"/>
              </a:rPr>
              <a:t>Calvin Chen  ·  Ava Lu  ·  Thomas Chang  ·  Yorke Lee</a:t>
            </a:r>
            <a:endParaRPr lang="en-US" sz="1200" dirty="0"/>
          </a:p>
        </p:txBody>
      </p:sp>
      <p:sp>
        <p:nvSpPr>
          <p:cNvPr id="9" name="Shape 7"/>
          <p:cNvSpPr/>
          <p:nvPr/>
        </p:nvSpPr>
        <p:spPr>
          <a:xfrm>
            <a:off x="5029200" y="0"/>
            <a:ext cx="4114800" cy="5143500"/>
          </a:xfrm>
          <a:prstGeom prst="rect">
            <a:avLst/>
          </a:prstGeom>
          <a:solidFill>
            <a:srgbClr val="0096C7">
              <a:alpha val="80000"/>
            </a:srgbClr>
          </a:solidFill>
          <a:ln w="12700">
            <a:solidFill>
              <a:srgbClr val="023E8A"/>
            </a:solidFill>
            <a:prstDash val="solid"/>
          </a:ln>
        </p:spPr>
      </p:sp>
      <p:sp>
        <p:nvSpPr>
          <p:cNvPr id="10" name="Shape 8"/>
          <p:cNvSpPr/>
          <p:nvPr/>
        </p:nvSpPr>
        <p:spPr>
          <a:xfrm>
            <a:off x="5623560" y="1106424"/>
            <a:ext cx="2926080" cy="2926080"/>
          </a:xfrm>
          <a:prstGeom prst="ellipse">
            <a:avLst/>
          </a:prstGeom>
          <a:solidFill>
            <a:srgbClr val="0D1F3C">
              <a:alpha val="15000"/>
            </a:srgbClr>
          </a:solidFill>
          <a:ln w="12700">
            <a:solidFill>
              <a:srgbClr val="00B4D8">
                <a:alpha val="30000"/>
              </a:srgbClr>
            </a:solidFill>
            <a:prstDash val="solid"/>
          </a:ln>
        </p:spPr>
      </p:sp>
      <p:sp>
        <p:nvSpPr>
          <p:cNvPr id="11" name="Shape 9"/>
          <p:cNvSpPr/>
          <p:nvPr/>
        </p:nvSpPr>
        <p:spPr>
          <a:xfrm>
            <a:off x="5943600" y="1426464"/>
            <a:ext cx="2286000" cy="2286000"/>
          </a:xfrm>
          <a:prstGeom prst="ellipse">
            <a:avLst/>
          </a:prstGeom>
          <a:solidFill>
            <a:srgbClr val="0D1F3C">
              <a:alpha val="20000"/>
            </a:srgbClr>
          </a:solidFill>
          <a:ln w="12700">
            <a:solidFill>
              <a:srgbClr val="00B4D8">
                <a:alpha val="30000"/>
              </a:srgbClr>
            </a:solidFill>
            <a:prstDash val="solid"/>
          </a:ln>
        </p:spPr>
      </p:sp>
      <p:sp>
        <p:nvSpPr>
          <p:cNvPr id="12" name="Shape 10"/>
          <p:cNvSpPr/>
          <p:nvPr/>
        </p:nvSpPr>
        <p:spPr>
          <a:xfrm>
            <a:off x="6263640" y="1746504"/>
            <a:ext cx="1645920" cy="1645920"/>
          </a:xfrm>
          <a:prstGeom prst="ellipse">
            <a:avLst/>
          </a:prstGeom>
          <a:solidFill>
            <a:srgbClr val="0D1F3C">
              <a:alpha val="28000"/>
            </a:srgbClr>
          </a:solidFill>
          <a:ln w="25400">
            <a:solidFill>
              <a:srgbClr val="00B4D8">
                <a:alpha val="50000"/>
              </a:srgbClr>
            </a:solidFill>
            <a:prstDash val="solid"/>
          </a:ln>
        </p:spPr>
      </p:sp>
      <p:sp>
        <p:nvSpPr>
          <p:cNvPr id="13" name="Shape 11"/>
          <p:cNvSpPr/>
          <p:nvPr/>
        </p:nvSpPr>
        <p:spPr>
          <a:xfrm>
            <a:off x="6583680" y="2066544"/>
            <a:ext cx="1005840" cy="1005840"/>
          </a:xfrm>
          <a:prstGeom prst="ellipse">
            <a:avLst/>
          </a:prstGeom>
          <a:solidFill>
            <a:srgbClr val="0D1F3C"/>
          </a:solidFill>
          <a:ln w="25400">
            <a:solidFill>
              <a:srgbClr val="00B4D8">
                <a:alpha val="80000"/>
              </a:srgbClr>
            </a:solidFill>
            <a:prstDash val="solid"/>
          </a:ln>
        </p:spPr>
      </p:sp>
      <p:sp>
        <p:nvSpPr>
          <p:cNvPr id="14" name="Shape 12"/>
          <p:cNvSpPr/>
          <p:nvPr/>
        </p:nvSpPr>
        <p:spPr>
          <a:xfrm>
            <a:off x="6885432" y="2368296"/>
            <a:ext cx="402336" cy="402336"/>
          </a:xfrm>
          <a:prstGeom prst="ellipse">
            <a:avLst/>
          </a:prstGeom>
          <a:solidFill>
            <a:srgbClr val="00B4D8"/>
          </a:solidFill>
          <a:ln w="25400">
            <a:solidFill>
              <a:srgbClr val="00B4D8">
                <a:alpha val="80000"/>
              </a:srgbClr>
            </a:solidFill>
            <a:prstDash val="solid"/>
          </a:ln>
        </p:spPr>
      </p:sp>
      <p:sp>
        <p:nvSpPr>
          <p:cNvPr id="15" name="Shape 13"/>
          <p:cNvSpPr/>
          <p:nvPr/>
        </p:nvSpPr>
        <p:spPr>
          <a:xfrm>
            <a:off x="5760720" y="2157984"/>
            <a:ext cx="2651760" cy="822960"/>
          </a:xfrm>
          <a:prstGeom prst="ellipse">
            <a:avLst/>
          </a:prstGeom>
          <a:solidFill>
            <a:srgbClr val="0D1F3C">
              <a:alpha val="0"/>
            </a:srgbClr>
          </a:solidFill>
          <a:ln w="25400">
            <a:solidFill>
              <a:srgbClr val="00B4D8">
                <a:alpha val="70000"/>
              </a:srgbClr>
            </a:solidFill>
            <a:prstDash val="solid"/>
          </a:ln>
        </p:spPr>
      </p:sp>
      <p:sp>
        <p:nvSpPr>
          <p:cNvPr id="16" name="Text 14"/>
          <p:cNvSpPr/>
          <p:nvPr/>
        </p:nvSpPr>
        <p:spPr>
          <a:xfrm>
            <a:off x="5029200" y="4663440"/>
            <a:ext cx="4114800" cy="274320"/>
          </a:xfrm>
          <a:prstGeom prst="rect">
            <a:avLst/>
          </a:prstGeom>
          <a:noFill/>
          <a:ln/>
        </p:spPr>
        <p:txBody>
          <a:bodyPr wrap="square" rtlCol="0" anchor="ctr"/>
          <a:lstStyle/>
          <a:p>
            <a:pPr algn="ctr" indent="0" marL="0">
              <a:buNone/>
            </a:pPr>
            <a:r>
              <a:rPr lang="en-US" sz="800" spc="200" kern="0" dirty="0">
                <a:solidFill>
                  <a:srgbClr val="FFFFFF">
                    <a:alpha val="40000"/>
                  </a:srgbClr>
                </a:solidFill>
                <a:latin typeface="Calibri" pitchFamily="34" charset="0"/>
                <a:ea typeface="Calibri" pitchFamily="34" charset="-122"/>
                <a:cs typeface="Calibri" pitchFamily="34" charset="-120"/>
              </a:rPr>
              <a:t>On-Device · No Cloud · Privacy-First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0D1F3C"/>
          </a:solidFill>
          <a:ln w="12700">
            <a:solidFill>
              <a:srgbClr val="0D1F3C"/>
            </a:solidFill>
            <a:prstDash val="solid"/>
          </a:ln>
        </p:spPr>
      </p:sp>
      <p:sp>
        <p:nvSpPr>
          <p:cNvPr id="3" name="Text 1"/>
          <p:cNvSpPr/>
          <p:nvPr/>
        </p:nvSpPr>
        <p:spPr>
          <a:xfrm>
            <a:off x="164592" y="347472"/>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1 · PROBLEM STATEMENT</a:t>
            </a:r>
            <a:endParaRPr lang="en-US" sz="900" dirty="0"/>
          </a:p>
        </p:txBody>
      </p:sp>
      <p:sp>
        <p:nvSpPr>
          <p:cNvPr id="4" name="Text 2"/>
          <p:cNvSpPr/>
          <p:nvPr/>
        </p:nvSpPr>
        <p:spPr>
          <a:xfrm>
            <a:off x="164592" y="676656"/>
            <a:ext cx="2926080" cy="658368"/>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20%</a:t>
            </a:r>
            <a:endParaRPr lang="en-US" sz="3600" dirty="0"/>
          </a:p>
        </p:txBody>
      </p:sp>
      <p:sp>
        <p:nvSpPr>
          <p:cNvPr id="5" name="Text 3"/>
          <p:cNvSpPr/>
          <p:nvPr/>
        </p:nvSpPr>
        <p:spPr>
          <a:xfrm>
            <a:off x="164592" y="1298448"/>
            <a:ext cx="2926080" cy="256032"/>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Vision-Impaired PC Users</a:t>
            </a:r>
            <a:endParaRPr lang="en-US" sz="1100" dirty="0"/>
          </a:p>
        </p:txBody>
      </p:sp>
      <p:sp>
        <p:nvSpPr>
          <p:cNvPr id="6" name="Shape 4"/>
          <p:cNvSpPr/>
          <p:nvPr/>
        </p:nvSpPr>
        <p:spPr>
          <a:xfrm>
            <a:off x="164592" y="1627632"/>
            <a:ext cx="2962656" cy="896112"/>
          </a:xfrm>
          <a:prstGeom prst="roundRect">
            <a:avLst>
              <a:gd name="adj" fmla="val 15306"/>
            </a:avLst>
          </a:prstGeom>
          <a:solidFill>
            <a:srgbClr val="00B4D8">
              <a:alpha val="12000"/>
            </a:srgbClr>
          </a:solidFill>
          <a:ln w="12700">
            <a:solidFill>
              <a:srgbClr val="00B4D8">
                <a:alpha val="60000"/>
              </a:srgbClr>
            </a:solidFill>
            <a:prstDash val="solid"/>
          </a:ln>
        </p:spPr>
      </p:sp>
      <p:sp>
        <p:nvSpPr>
          <p:cNvPr id="7" name="Text 5"/>
          <p:cNvSpPr/>
          <p:nvPr/>
        </p:nvSpPr>
        <p:spPr>
          <a:xfrm>
            <a:off x="237744" y="1673352"/>
            <a:ext cx="2834640" cy="548640"/>
          </a:xfrm>
          <a:prstGeom prst="rect">
            <a:avLst/>
          </a:prstGeom>
          <a:noFill/>
          <a:ln/>
        </p:spPr>
        <p:txBody>
          <a:bodyPr wrap="square" rtlCol="0" anchor="ctr"/>
          <a:lstStyle/>
          <a:p>
            <a:pPr algn="l" indent="0" marL="0">
              <a:buNone/>
            </a:pPr>
            <a:r>
              <a:rPr lang="en-US" sz="4400" b="1" dirty="0">
                <a:solidFill>
                  <a:srgbClr val="00B4D8"/>
                </a:solidFill>
                <a:latin typeface="Cambria" pitchFamily="34" charset="0"/>
                <a:ea typeface="Cambria" pitchFamily="34" charset="-122"/>
                <a:cs typeface="Cambria" pitchFamily="34" charset="-120"/>
              </a:rPr>
              <a:t>59%</a:t>
            </a:r>
            <a:endParaRPr lang="en-US" sz="4400" dirty="0"/>
          </a:p>
        </p:txBody>
      </p:sp>
      <p:sp>
        <p:nvSpPr>
          <p:cNvPr id="8" name="Text 6"/>
          <p:cNvSpPr/>
          <p:nvPr/>
        </p:nvSpPr>
        <p:spPr>
          <a:xfrm>
            <a:off x="237744" y="2212848"/>
            <a:ext cx="2834640" cy="274320"/>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never adopted an assistive tool</a:t>
            </a:r>
            <a:endParaRPr lang="en-US" sz="1100" dirty="0"/>
          </a:p>
        </p:txBody>
      </p:sp>
      <p:sp>
        <p:nvSpPr>
          <p:cNvPr id="9" name="Shape 7"/>
          <p:cNvSpPr/>
          <p:nvPr/>
        </p:nvSpPr>
        <p:spPr>
          <a:xfrm>
            <a:off x="164592" y="2633472"/>
            <a:ext cx="2962656" cy="896112"/>
          </a:xfrm>
          <a:prstGeom prst="roundRect">
            <a:avLst>
              <a:gd name="adj" fmla="val 12245"/>
            </a:avLst>
          </a:prstGeom>
          <a:solidFill>
            <a:srgbClr val="E74C3C">
              <a:alpha val="7000"/>
            </a:srgbClr>
          </a:solidFill>
          <a:ln w="12700">
            <a:solidFill>
              <a:srgbClr val="E74C3C">
                <a:alpha val="45000"/>
              </a:srgbClr>
            </a:solidFill>
            <a:prstDash val="solid"/>
          </a:ln>
        </p:spPr>
      </p:sp>
      <p:sp>
        <p:nvSpPr>
          <p:cNvPr id="10" name="Text 8"/>
          <p:cNvSpPr/>
          <p:nvPr/>
        </p:nvSpPr>
        <p:spPr>
          <a:xfrm>
            <a:off x="237744" y="2679192"/>
            <a:ext cx="2834640" cy="164592"/>
          </a:xfrm>
          <a:prstGeom prst="rect">
            <a:avLst/>
          </a:prstGeom>
          <a:noFill/>
          <a:ln/>
        </p:spPr>
        <p:txBody>
          <a:bodyPr wrap="square" rtlCol="0" anchor="ctr"/>
          <a:lstStyle/>
          <a:p>
            <a:pPr indent="0" marL="0">
              <a:buNone/>
            </a:pPr>
            <a:r>
              <a:rPr lang="en-US" sz="700" b="1" spc="50" kern="0" dirty="0">
                <a:solidFill>
                  <a:srgbClr val="E74C3C"/>
                </a:solidFill>
                <a:latin typeface="Calibri" pitchFamily="34" charset="0"/>
                <a:ea typeface="Calibri" pitchFamily="34" charset="-122"/>
                <a:cs typeface="Calibri" pitchFamily="34" charset="-120"/>
              </a:rPr>
              <a:t>WHY EXISTING TOOLS ARE ABANDONED</a:t>
            </a:r>
            <a:endParaRPr lang="en-US" sz="700" dirty="0"/>
          </a:p>
        </p:txBody>
      </p:sp>
      <p:sp>
        <p:nvSpPr>
          <p:cNvPr id="11" name="Text 9"/>
          <p:cNvSpPr/>
          <p:nvPr/>
        </p:nvSpPr>
        <p:spPr>
          <a:xfrm>
            <a:off x="237744" y="2871216"/>
            <a:ext cx="2834640" cy="274320"/>
          </a:xfrm>
          <a:prstGeom prst="rect">
            <a:avLst/>
          </a:prstGeom>
          <a:noFill/>
          <a:ln/>
        </p:spPr>
        <p:txBody>
          <a:bodyPr wrap="square" rtlCol="0" anchor="ctr"/>
          <a:lstStyle/>
          <a:p>
            <a:pPr indent="0" marL="0">
              <a:buNone/>
            </a:pPr>
            <a:r>
              <a:rPr lang="en-US" sz="900" b="1" dirty="0">
                <a:solidFill>
                  <a:srgbClr val="F6AE2D"/>
                </a:solidFill>
                <a:latin typeface="Calibri" pitchFamily="34" charset="0"/>
                <a:ea typeface="Calibri" pitchFamily="34" charset="-122"/>
                <a:cs typeface="Calibri" pitchFamily="34" charset="-120"/>
              </a:rPr>
              <a:t>⏻ Always-on required</a:t>
            </a:r>
            <a:pPr indent="0" marL="0">
              <a:buNone/>
            </a:pPr>
            <a:r>
              <a:rPr lang="en-US" sz="900" dirty="0">
                <a:solidFill>
                  <a:srgbClr val="BBBBBB"/>
                </a:solidFill>
                <a:latin typeface="Calibri" pitchFamily="34" charset="0"/>
                <a:ea typeface="Calibri" pitchFamily="34" charset="-122"/>
                <a:cs typeface="Calibri" pitchFamily="34" charset="-120"/>
              </a:rPr>
              <a:t> — Magnifier &amp; Narrator need constant manual activation</a:t>
            </a:r>
            <a:endParaRPr lang="en-US" sz="900" dirty="0"/>
          </a:p>
        </p:txBody>
      </p:sp>
      <p:sp>
        <p:nvSpPr>
          <p:cNvPr id="12" name="Text 10"/>
          <p:cNvSpPr/>
          <p:nvPr/>
        </p:nvSpPr>
        <p:spPr>
          <a:xfrm>
            <a:off x="237744" y="3163824"/>
            <a:ext cx="2834640" cy="274320"/>
          </a:xfrm>
          <a:prstGeom prst="rect">
            <a:avLst/>
          </a:prstGeom>
          <a:noFill/>
          <a:ln/>
        </p:spPr>
        <p:txBody>
          <a:bodyPr wrap="square" rtlCol="0" anchor="ctr"/>
          <a:lstStyle/>
          <a:p>
            <a:pPr indent="0" marL="0">
              <a:buNone/>
            </a:pPr>
            <a:r>
              <a:rPr lang="en-US" sz="900" b="1" dirty="0">
                <a:solidFill>
                  <a:srgbClr val="F6AE2D"/>
                </a:solidFill>
                <a:latin typeface="Calibri" pitchFamily="34" charset="0"/>
                <a:ea typeface="Calibri" pitchFamily="34" charset="-122"/>
                <a:cs typeface="Calibri" pitchFamily="34" charset="-120"/>
              </a:rPr>
              <a:t>■ Special hardware</a:t>
            </a:r>
            <a:pPr indent="0" marL="0">
              <a:buNone/>
            </a:pPr>
            <a:r>
              <a:rPr lang="en-US" sz="900" dirty="0">
                <a:solidFill>
                  <a:srgbClr val="BBBBBB"/>
                </a:solidFill>
                <a:latin typeface="Calibri" pitchFamily="34" charset="0"/>
                <a:ea typeface="Calibri" pitchFamily="34" charset="-122"/>
                <a:cs typeface="Calibri" pitchFamily="34" charset="-120"/>
              </a:rPr>
              <a:t> — Tobii eye trackers cost $100–$300 extra</a:t>
            </a:r>
            <a:endParaRPr lang="en-US" sz="900" dirty="0"/>
          </a:p>
        </p:txBody>
      </p:sp>
      <p:sp>
        <p:nvSpPr>
          <p:cNvPr id="13" name="Text 11"/>
          <p:cNvSpPr/>
          <p:nvPr/>
        </p:nvSpPr>
        <p:spPr>
          <a:xfrm>
            <a:off x="164592" y="4892040"/>
            <a:ext cx="2962656" cy="18288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Survey n=17 · Avg PC experience 3.4 / 5</a:t>
            </a:r>
            <a:endParaRPr lang="en-US" sz="800" dirty="0"/>
          </a:p>
        </p:txBody>
      </p:sp>
      <p:sp>
        <p:nvSpPr>
          <p:cNvPr id="14" name="Text 12"/>
          <p:cNvSpPr/>
          <p:nvPr/>
        </p:nvSpPr>
        <p:spPr>
          <a:xfrm>
            <a:off x="3429000" y="347472"/>
            <a:ext cx="5486400" cy="201168"/>
          </a:xfrm>
          <a:prstGeom prst="rect">
            <a:avLst/>
          </a:prstGeom>
          <a:noFill/>
          <a:ln/>
        </p:spPr>
        <p:txBody>
          <a:bodyPr wrap="square" rtlCol="0" anchor="ctr"/>
          <a:lstStyle/>
          <a:p>
            <a:pPr indent="0" marL="0">
              <a:buNone/>
            </a:pPr>
            <a:r>
              <a:rPr lang="en-US" sz="900" b="1" spc="200" kern="0" dirty="0">
                <a:solidFill>
                  <a:srgbClr val="0077B6"/>
                </a:solidFill>
                <a:latin typeface="Calibri" pitchFamily="34" charset="0"/>
                <a:ea typeface="Calibri" pitchFamily="34" charset="-122"/>
                <a:cs typeface="Calibri" pitchFamily="34" charset="-120"/>
              </a:rPr>
              <a:t>FIVE DAILY PAIN POINTS</a:t>
            </a:r>
            <a:endParaRPr lang="en-US" sz="900" dirty="0"/>
          </a:p>
        </p:txBody>
      </p:sp>
      <p:sp>
        <p:nvSpPr>
          <p:cNvPr id="15" name="Shape 13"/>
          <p:cNvSpPr/>
          <p:nvPr/>
        </p:nvSpPr>
        <p:spPr>
          <a:xfrm>
            <a:off x="3429000" y="640080"/>
            <a:ext cx="5486400" cy="658368"/>
          </a:xfrm>
          <a:prstGeom prst="roundRect">
            <a:avLst>
              <a:gd name="adj" fmla="val 16667"/>
            </a:avLst>
          </a:prstGeom>
          <a:solidFill>
            <a:srgbClr val="F4F6FA"/>
          </a:solidFill>
          <a:ln w="12700">
            <a:solidFill>
              <a:srgbClr val="F4F6FA"/>
            </a:solidFill>
            <a:prstDash val="solid"/>
          </a:ln>
        </p:spPr>
      </p:sp>
      <p:sp>
        <p:nvSpPr>
          <p:cNvPr id="16" name="Shape 14"/>
          <p:cNvSpPr/>
          <p:nvPr/>
        </p:nvSpPr>
        <p:spPr>
          <a:xfrm>
            <a:off x="3429000" y="640080"/>
            <a:ext cx="45720" cy="658368"/>
          </a:xfrm>
          <a:prstGeom prst="rect">
            <a:avLst/>
          </a:prstGeom>
          <a:solidFill>
            <a:srgbClr val="00B4D8"/>
          </a:solidFill>
          <a:ln w="12700">
            <a:solidFill>
              <a:srgbClr val="00B4D8"/>
            </a:solidFill>
            <a:prstDash val="solid"/>
          </a:ln>
        </p:spPr>
      </p:sp>
      <p:sp>
        <p:nvSpPr>
          <p:cNvPr id="17" name="Text 15"/>
          <p:cNvSpPr/>
          <p:nvPr/>
        </p:nvSpPr>
        <p:spPr>
          <a:xfrm>
            <a:off x="3520440" y="749808"/>
            <a:ext cx="914400" cy="438912"/>
          </a:xfrm>
          <a:prstGeom prst="rect">
            <a:avLst/>
          </a:prstGeom>
          <a:noFill/>
          <a:ln/>
        </p:spPr>
        <p:txBody>
          <a:bodyPr wrap="square" rtlCol="0" anchor="ctr"/>
          <a:lstStyle/>
          <a:p>
            <a:pPr indent="0" marL="0">
              <a:buNone/>
            </a:pPr>
            <a:r>
              <a:rPr lang="en-US" sz="2000" b="1" dirty="0">
                <a:solidFill>
                  <a:srgbClr val="00B4D8"/>
                </a:solidFill>
                <a:latin typeface="Cambria" pitchFamily="34" charset="0"/>
                <a:ea typeface="Cambria" pitchFamily="34" charset="-122"/>
                <a:cs typeface="Cambria" pitchFamily="34" charset="-120"/>
              </a:rPr>
              <a:t>71%</a:t>
            </a:r>
            <a:endParaRPr lang="en-US" sz="2000" dirty="0"/>
          </a:p>
        </p:txBody>
      </p:sp>
      <p:sp>
        <p:nvSpPr>
          <p:cNvPr id="18" name="Text 16"/>
          <p:cNvSpPr/>
          <p:nvPr/>
        </p:nvSpPr>
        <p:spPr>
          <a:xfrm>
            <a:off x="4498848" y="786384"/>
            <a:ext cx="4297680" cy="365760"/>
          </a:xfrm>
          <a:prstGeom prst="rect">
            <a:avLst/>
          </a:prstGeom>
          <a:noFill/>
          <a:ln/>
        </p:spPr>
        <p:txBody>
          <a:bodyPr wrap="square" rtlCol="0" anchor="ctr"/>
          <a:lstStyle/>
          <a:p>
            <a:pPr indent="0" marL="0">
              <a:buNone/>
            </a:pPr>
            <a:r>
              <a:rPr lang="en-US" sz="1400" b="1" dirty="0">
                <a:solidFill>
                  <a:srgbClr val="0D1F3C"/>
                </a:solidFill>
                <a:latin typeface="Cambria" pitchFamily="34" charset="0"/>
                <a:ea typeface="Cambria" pitchFamily="34" charset="-122"/>
                <a:cs typeface="Cambria" pitchFamily="34" charset="-120"/>
              </a:rPr>
              <a:t>Eye strain from long screen time</a:t>
            </a:r>
            <a:endParaRPr lang="en-US" sz="1400" dirty="0"/>
          </a:p>
        </p:txBody>
      </p:sp>
      <p:sp>
        <p:nvSpPr>
          <p:cNvPr id="19" name="Shape 17"/>
          <p:cNvSpPr/>
          <p:nvPr/>
        </p:nvSpPr>
        <p:spPr>
          <a:xfrm>
            <a:off x="3429000" y="1444752"/>
            <a:ext cx="5486400" cy="658368"/>
          </a:xfrm>
          <a:prstGeom prst="roundRect">
            <a:avLst>
              <a:gd name="adj" fmla="val 16667"/>
            </a:avLst>
          </a:prstGeom>
          <a:solidFill>
            <a:srgbClr val="F4F6FA"/>
          </a:solidFill>
          <a:ln w="12700">
            <a:solidFill>
              <a:srgbClr val="F4F6FA"/>
            </a:solidFill>
            <a:prstDash val="solid"/>
          </a:ln>
        </p:spPr>
      </p:sp>
      <p:sp>
        <p:nvSpPr>
          <p:cNvPr id="20" name="Shape 18"/>
          <p:cNvSpPr/>
          <p:nvPr/>
        </p:nvSpPr>
        <p:spPr>
          <a:xfrm>
            <a:off x="3429000" y="1444752"/>
            <a:ext cx="45720" cy="658368"/>
          </a:xfrm>
          <a:prstGeom prst="rect">
            <a:avLst/>
          </a:prstGeom>
          <a:solidFill>
            <a:srgbClr val="00B4D8"/>
          </a:solidFill>
          <a:ln w="12700">
            <a:solidFill>
              <a:srgbClr val="00B4D8"/>
            </a:solidFill>
            <a:prstDash val="solid"/>
          </a:ln>
        </p:spPr>
      </p:sp>
      <p:sp>
        <p:nvSpPr>
          <p:cNvPr id="21" name="Text 19"/>
          <p:cNvSpPr/>
          <p:nvPr/>
        </p:nvSpPr>
        <p:spPr>
          <a:xfrm>
            <a:off x="3520440" y="1554480"/>
            <a:ext cx="914400" cy="438912"/>
          </a:xfrm>
          <a:prstGeom prst="rect">
            <a:avLst/>
          </a:prstGeom>
          <a:noFill/>
          <a:ln/>
        </p:spPr>
        <p:txBody>
          <a:bodyPr wrap="square" rtlCol="0" anchor="ctr"/>
          <a:lstStyle/>
          <a:p>
            <a:pPr indent="0" marL="0">
              <a:buNone/>
            </a:pPr>
            <a:r>
              <a:rPr lang="en-US" sz="2000" b="1" dirty="0">
                <a:solidFill>
                  <a:srgbClr val="00B4D8"/>
                </a:solidFill>
                <a:latin typeface="Cambria" pitchFamily="34" charset="0"/>
                <a:ea typeface="Cambria" pitchFamily="34" charset="-122"/>
                <a:cs typeface="Cambria" pitchFamily="34" charset="-120"/>
              </a:rPr>
              <a:t>65%</a:t>
            </a:r>
            <a:endParaRPr lang="en-US" sz="2000" dirty="0"/>
          </a:p>
        </p:txBody>
      </p:sp>
      <p:sp>
        <p:nvSpPr>
          <p:cNvPr id="22" name="Text 20"/>
          <p:cNvSpPr/>
          <p:nvPr/>
        </p:nvSpPr>
        <p:spPr>
          <a:xfrm>
            <a:off x="4498848" y="1591056"/>
            <a:ext cx="4297680" cy="365760"/>
          </a:xfrm>
          <a:prstGeom prst="rect">
            <a:avLst/>
          </a:prstGeom>
          <a:noFill/>
          <a:ln/>
        </p:spPr>
        <p:txBody>
          <a:bodyPr wrap="square" rtlCol="0" anchor="ctr"/>
          <a:lstStyle/>
          <a:p>
            <a:pPr indent="0" marL="0">
              <a:buNone/>
            </a:pPr>
            <a:r>
              <a:rPr lang="en-US" sz="1400" b="1" dirty="0">
                <a:solidFill>
                  <a:srgbClr val="0D1F3C"/>
                </a:solidFill>
                <a:latin typeface="Cambria" pitchFamily="34" charset="0"/>
                <a:ea typeface="Cambria" pitchFamily="34" charset="-122"/>
                <a:cs typeface="Cambria" pitchFamily="34" charset="-120"/>
              </a:rPr>
              <a:t>Text too small to read</a:t>
            </a:r>
            <a:endParaRPr lang="en-US" sz="1400" dirty="0"/>
          </a:p>
        </p:txBody>
      </p:sp>
      <p:sp>
        <p:nvSpPr>
          <p:cNvPr id="23" name="Shape 21"/>
          <p:cNvSpPr/>
          <p:nvPr/>
        </p:nvSpPr>
        <p:spPr>
          <a:xfrm>
            <a:off x="3429000" y="2249424"/>
            <a:ext cx="5486400" cy="658368"/>
          </a:xfrm>
          <a:prstGeom prst="roundRect">
            <a:avLst>
              <a:gd name="adj" fmla="val 16667"/>
            </a:avLst>
          </a:prstGeom>
          <a:solidFill>
            <a:srgbClr val="F4F6FA"/>
          </a:solidFill>
          <a:ln w="12700">
            <a:solidFill>
              <a:srgbClr val="F4F6FA"/>
            </a:solidFill>
            <a:prstDash val="solid"/>
          </a:ln>
        </p:spPr>
      </p:sp>
      <p:sp>
        <p:nvSpPr>
          <p:cNvPr id="24" name="Shape 22"/>
          <p:cNvSpPr/>
          <p:nvPr/>
        </p:nvSpPr>
        <p:spPr>
          <a:xfrm>
            <a:off x="3429000" y="2249424"/>
            <a:ext cx="45720" cy="658368"/>
          </a:xfrm>
          <a:prstGeom prst="rect">
            <a:avLst/>
          </a:prstGeom>
          <a:solidFill>
            <a:srgbClr val="00B4D8"/>
          </a:solidFill>
          <a:ln w="12700">
            <a:solidFill>
              <a:srgbClr val="00B4D8"/>
            </a:solidFill>
            <a:prstDash val="solid"/>
          </a:ln>
        </p:spPr>
      </p:sp>
      <p:sp>
        <p:nvSpPr>
          <p:cNvPr id="25" name="Text 23"/>
          <p:cNvSpPr/>
          <p:nvPr/>
        </p:nvSpPr>
        <p:spPr>
          <a:xfrm>
            <a:off x="3520440" y="2359152"/>
            <a:ext cx="914400" cy="438912"/>
          </a:xfrm>
          <a:prstGeom prst="rect">
            <a:avLst/>
          </a:prstGeom>
          <a:noFill/>
          <a:ln/>
        </p:spPr>
        <p:txBody>
          <a:bodyPr wrap="square" rtlCol="0" anchor="ctr"/>
          <a:lstStyle/>
          <a:p>
            <a:pPr indent="0" marL="0">
              <a:buNone/>
            </a:pPr>
            <a:r>
              <a:rPr lang="en-US" sz="2000" b="1" dirty="0">
                <a:solidFill>
                  <a:srgbClr val="00B4D8"/>
                </a:solidFill>
                <a:latin typeface="Cambria" pitchFamily="34" charset="0"/>
                <a:ea typeface="Cambria" pitchFamily="34" charset="-122"/>
                <a:cs typeface="Cambria" pitchFamily="34" charset="-120"/>
              </a:rPr>
              <a:t>47%</a:t>
            </a:r>
            <a:endParaRPr lang="en-US" sz="2000" dirty="0"/>
          </a:p>
        </p:txBody>
      </p:sp>
      <p:sp>
        <p:nvSpPr>
          <p:cNvPr id="26" name="Text 24"/>
          <p:cNvSpPr/>
          <p:nvPr/>
        </p:nvSpPr>
        <p:spPr>
          <a:xfrm>
            <a:off x="4498848" y="2395728"/>
            <a:ext cx="4297680" cy="365760"/>
          </a:xfrm>
          <a:prstGeom prst="rect">
            <a:avLst/>
          </a:prstGeom>
          <a:noFill/>
          <a:ln/>
        </p:spPr>
        <p:txBody>
          <a:bodyPr wrap="square" rtlCol="0" anchor="ctr"/>
          <a:lstStyle/>
          <a:p>
            <a:pPr indent="0" marL="0">
              <a:buNone/>
            </a:pPr>
            <a:r>
              <a:rPr lang="en-US" sz="1400" b="1" dirty="0">
                <a:solidFill>
                  <a:srgbClr val="0D1F3C"/>
                </a:solidFill>
                <a:latin typeface="Cambria" pitchFamily="34" charset="0"/>
                <a:ea typeface="Cambria" pitchFamily="34" charset="-122"/>
                <a:cs typeface="Cambria" pitchFamily="34" charset="-120"/>
              </a:rPr>
              <a:t>Low screen contrast</a:t>
            </a:r>
            <a:endParaRPr lang="en-US" sz="1400" dirty="0"/>
          </a:p>
        </p:txBody>
      </p:sp>
      <p:sp>
        <p:nvSpPr>
          <p:cNvPr id="27" name="Shape 25"/>
          <p:cNvSpPr/>
          <p:nvPr/>
        </p:nvSpPr>
        <p:spPr>
          <a:xfrm>
            <a:off x="3429000" y="3054096"/>
            <a:ext cx="5486400" cy="658368"/>
          </a:xfrm>
          <a:prstGeom prst="roundRect">
            <a:avLst>
              <a:gd name="adj" fmla="val 16667"/>
            </a:avLst>
          </a:prstGeom>
          <a:solidFill>
            <a:srgbClr val="F4F6FA"/>
          </a:solidFill>
          <a:ln w="12700">
            <a:solidFill>
              <a:srgbClr val="F4F6FA"/>
            </a:solidFill>
            <a:prstDash val="solid"/>
          </a:ln>
        </p:spPr>
      </p:sp>
      <p:sp>
        <p:nvSpPr>
          <p:cNvPr id="28" name="Shape 26"/>
          <p:cNvSpPr/>
          <p:nvPr/>
        </p:nvSpPr>
        <p:spPr>
          <a:xfrm>
            <a:off x="3429000" y="3054096"/>
            <a:ext cx="45720" cy="658368"/>
          </a:xfrm>
          <a:prstGeom prst="rect">
            <a:avLst/>
          </a:prstGeom>
          <a:solidFill>
            <a:srgbClr val="00B4D8"/>
          </a:solidFill>
          <a:ln w="12700">
            <a:solidFill>
              <a:srgbClr val="00B4D8"/>
            </a:solidFill>
            <a:prstDash val="solid"/>
          </a:ln>
        </p:spPr>
      </p:sp>
      <p:sp>
        <p:nvSpPr>
          <p:cNvPr id="29" name="Text 27"/>
          <p:cNvSpPr/>
          <p:nvPr/>
        </p:nvSpPr>
        <p:spPr>
          <a:xfrm>
            <a:off x="3520440" y="3163824"/>
            <a:ext cx="914400" cy="438912"/>
          </a:xfrm>
          <a:prstGeom prst="rect">
            <a:avLst/>
          </a:prstGeom>
          <a:noFill/>
          <a:ln/>
        </p:spPr>
        <p:txBody>
          <a:bodyPr wrap="square" rtlCol="0" anchor="ctr"/>
          <a:lstStyle/>
          <a:p>
            <a:pPr indent="0" marL="0">
              <a:buNone/>
            </a:pPr>
            <a:r>
              <a:rPr lang="en-US" sz="2000" b="1" dirty="0">
                <a:solidFill>
                  <a:srgbClr val="00B4D8"/>
                </a:solidFill>
                <a:latin typeface="Cambria" pitchFamily="34" charset="0"/>
                <a:ea typeface="Cambria" pitchFamily="34" charset="-122"/>
                <a:cs typeface="Cambria" pitchFamily="34" charset="-120"/>
              </a:rPr>
              <a:t>24%</a:t>
            </a:r>
            <a:endParaRPr lang="en-US" sz="2000" dirty="0"/>
          </a:p>
        </p:txBody>
      </p:sp>
      <p:sp>
        <p:nvSpPr>
          <p:cNvPr id="30" name="Text 28"/>
          <p:cNvSpPr/>
          <p:nvPr/>
        </p:nvSpPr>
        <p:spPr>
          <a:xfrm>
            <a:off x="4498848" y="3200400"/>
            <a:ext cx="4297680" cy="365760"/>
          </a:xfrm>
          <a:prstGeom prst="rect">
            <a:avLst/>
          </a:prstGeom>
          <a:noFill/>
          <a:ln/>
        </p:spPr>
        <p:txBody>
          <a:bodyPr wrap="square" rtlCol="0" anchor="ctr"/>
          <a:lstStyle/>
          <a:p>
            <a:pPr indent="0" marL="0">
              <a:buNone/>
            </a:pPr>
            <a:r>
              <a:rPr lang="en-US" sz="1400" b="1" dirty="0">
                <a:solidFill>
                  <a:srgbClr val="0D1F3C"/>
                </a:solidFill>
                <a:latin typeface="Cambria" pitchFamily="34" charset="0"/>
                <a:ea typeface="Cambria" pitchFamily="34" charset="-122"/>
                <a:cs typeface="Cambria" pitchFamily="34" charset="-120"/>
              </a:rPr>
              <a:t>Cursor hard to track and locate</a:t>
            </a:r>
            <a:endParaRPr lang="en-US" sz="1400" dirty="0"/>
          </a:p>
        </p:txBody>
      </p:sp>
      <p:sp>
        <p:nvSpPr>
          <p:cNvPr id="31" name="Shape 29"/>
          <p:cNvSpPr/>
          <p:nvPr/>
        </p:nvSpPr>
        <p:spPr>
          <a:xfrm>
            <a:off x="3429000" y="3858768"/>
            <a:ext cx="5486400" cy="658368"/>
          </a:xfrm>
          <a:prstGeom prst="roundRect">
            <a:avLst>
              <a:gd name="adj" fmla="val 16667"/>
            </a:avLst>
          </a:prstGeom>
          <a:solidFill>
            <a:srgbClr val="F4F6FA"/>
          </a:solidFill>
          <a:ln w="12700">
            <a:solidFill>
              <a:srgbClr val="F4F6FA"/>
            </a:solidFill>
            <a:prstDash val="solid"/>
          </a:ln>
        </p:spPr>
      </p:sp>
      <p:sp>
        <p:nvSpPr>
          <p:cNvPr id="32" name="Shape 30"/>
          <p:cNvSpPr/>
          <p:nvPr/>
        </p:nvSpPr>
        <p:spPr>
          <a:xfrm>
            <a:off x="3429000" y="3858768"/>
            <a:ext cx="45720" cy="658368"/>
          </a:xfrm>
          <a:prstGeom prst="rect">
            <a:avLst/>
          </a:prstGeom>
          <a:solidFill>
            <a:srgbClr val="00B4D8"/>
          </a:solidFill>
          <a:ln w="12700">
            <a:solidFill>
              <a:srgbClr val="00B4D8"/>
            </a:solidFill>
            <a:prstDash val="solid"/>
          </a:ln>
        </p:spPr>
      </p:sp>
      <p:sp>
        <p:nvSpPr>
          <p:cNvPr id="33" name="Text 31"/>
          <p:cNvSpPr/>
          <p:nvPr/>
        </p:nvSpPr>
        <p:spPr>
          <a:xfrm>
            <a:off x="3520440" y="3968496"/>
            <a:ext cx="914400" cy="438912"/>
          </a:xfrm>
          <a:prstGeom prst="rect">
            <a:avLst/>
          </a:prstGeom>
          <a:noFill/>
          <a:ln/>
        </p:spPr>
        <p:txBody>
          <a:bodyPr wrap="square" rtlCol="0" anchor="ctr"/>
          <a:lstStyle/>
          <a:p>
            <a:pPr indent="0" marL="0">
              <a:buNone/>
            </a:pPr>
            <a:r>
              <a:rPr lang="en-US" sz="2000" b="1" dirty="0">
                <a:solidFill>
                  <a:srgbClr val="00B4D8"/>
                </a:solidFill>
                <a:latin typeface="Cambria" pitchFamily="34" charset="0"/>
                <a:ea typeface="Cambria" pitchFamily="34" charset="-122"/>
                <a:cs typeface="Cambria" pitchFamily="34" charset="-120"/>
              </a:rPr>
              <a:t>18%</a:t>
            </a:r>
            <a:endParaRPr lang="en-US" sz="2000" dirty="0"/>
          </a:p>
        </p:txBody>
      </p:sp>
      <p:sp>
        <p:nvSpPr>
          <p:cNvPr id="34" name="Text 32"/>
          <p:cNvSpPr/>
          <p:nvPr/>
        </p:nvSpPr>
        <p:spPr>
          <a:xfrm>
            <a:off x="4498848" y="4005072"/>
            <a:ext cx="4297680" cy="365760"/>
          </a:xfrm>
          <a:prstGeom prst="rect">
            <a:avLst/>
          </a:prstGeom>
          <a:noFill/>
          <a:ln/>
        </p:spPr>
        <p:txBody>
          <a:bodyPr wrap="square" rtlCol="0" anchor="ctr"/>
          <a:lstStyle/>
          <a:p>
            <a:pPr indent="0" marL="0">
              <a:buNone/>
            </a:pPr>
            <a:r>
              <a:rPr lang="en-US" sz="1400" b="1" dirty="0">
                <a:solidFill>
                  <a:srgbClr val="0D1F3C"/>
                </a:solidFill>
                <a:latin typeface="Cambria" pitchFamily="34" charset="0"/>
                <a:ea typeface="Cambria" pitchFamily="34" charset="-122"/>
                <a:cs typeface="Cambria" pitchFamily="34" charset="-120"/>
              </a:rPr>
              <a:t>Can't find buttons or links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sp>
      <p:sp>
        <p:nvSpPr>
          <p:cNvPr id="3" name="Text 1"/>
          <p:cNvSpPr/>
          <p:nvPr/>
        </p:nvSpPr>
        <p:spPr>
          <a:xfrm>
            <a:off x="182880" y="329184"/>
            <a:ext cx="2011680" cy="256032"/>
          </a:xfrm>
          <a:prstGeom prst="roundRect">
            <a:avLst>
              <a:gd name="adj" fmla="val 178571"/>
            </a:avLst>
          </a:prstGeom>
          <a:solidFill>
            <a:srgbClr val="C9922A"/>
          </a:solid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 · PROPOSED SOLUTION</a:t>
            </a:r>
            <a:endParaRPr lang="en-US" sz="900" dirty="0"/>
          </a:p>
        </p:txBody>
      </p:sp>
      <p:sp>
        <p:nvSpPr>
          <p:cNvPr id="4" name="Text 2"/>
          <p:cNvSpPr/>
          <p:nvPr/>
        </p:nvSpPr>
        <p:spPr>
          <a:xfrm>
            <a:off x="182880" y="676656"/>
            <a:ext cx="3429000" cy="475488"/>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Blind Area</a:t>
            </a:r>
            <a:endParaRPr lang="en-US" sz="2600" dirty="0"/>
          </a:p>
        </p:txBody>
      </p:sp>
      <p:sp>
        <p:nvSpPr>
          <p:cNvPr id="5" name="Text 3"/>
          <p:cNvSpPr/>
          <p:nvPr/>
        </p:nvSpPr>
        <p:spPr>
          <a:xfrm>
            <a:off x="182880" y="1133856"/>
            <a:ext cx="3429000" cy="256032"/>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Unvisited zones — AI detects &amp; guides</a:t>
            </a:r>
            <a:endParaRPr lang="en-US" sz="1100" dirty="0"/>
          </a:p>
        </p:txBody>
      </p:sp>
      <p:sp>
        <p:nvSpPr>
          <p:cNvPr id="6" name="Shape 4"/>
          <p:cNvSpPr/>
          <p:nvPr/>
        </p:nvSpPr>
        <p:spPr>
          <a:xfrm>
            <a:off x="182880" y="1499616"/>
            <a:ext cx="3429000" cy="694944"/>
          </a:xfrm>
          <a:prstGeom prst="roundRect">
            <a:avLst>
              <a:gd name="adj" fmla="val 13158"/>
            </a:avLst>
          </a:prstGeom>
          <a:solidFill>
            <a:srgbClr val="FFFFFF">
              <a:alpha val="6000"/>
            </a:srgbClr>
          </a:solidFill>
          <a:ln w="25400">
            <a:solidFill>
              <a:srgbClr val="C9922A">
                <a:alpha val="60000"/>
              </a:srgbClr>
            </a:solidFill>
            <a:prstDash val="solid"/>
          </a:ln>
        </p:spPr>
      </p:sp>
      <p:sp>
        <p:nvSpPr>
          <p:cNvPr id="7" name="Shape 5"/>
          <p:cNvSpPr/>
          <p:nvPr/>
        </p:nvSpPr>
        <p:spPr>
          <a:xfrm>
            <a:off x="182880" y="1499616"/>
            <a:ext cx="36576" cy="694944"/>
          </a:xfrm>
          <a:prstGeom prst="rect">
            <a:avLst/>
          </a:prstGeom>
          <a:solidFill>
            <a:srgbClr val="C9922A">
              <a:alpha val="60000"/>
            </a:srgbClr>
          </a:solidFill>
          <a:ln w="12700">
            <a:solidFill>
              <a:srgbClr val="C9922A"/>
            </a:solidFill>
            <a:prstDash val="solid"/>
          </a:ln>
        </p:spPr>
      </p:sp>
      <p:sp>
        <p:nvSpPr>
          <p:cNvPr id="8" name="Text 6"/>
          <p:cNvSpPr/>
          <p:nvPr/>
        </p:nvSpPr>
        <p:spPr>
          <a:xfrm>
            <a:off x="292608" y="1554480"/>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Gaze Heatmap</a:t>
            </a:r>
            <a:endParaRPr lang="en-US" sz="1300" dirty="0"/>
          </a:p>
        </p:txBody>
      </p:sp>
      <p:sp>
        <p:nvSpPr>
          <p:cNvPr id="9" name="Text 7"/>
          <p:cNvSpPr/>
          <p:nvPr/>
        </p:nvSpPr>
        <p:spPr>
          <a:xfrm>
            <a:off x="292608" y="1828800"/>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Gaussian Mixture Model — maps visited vs cold zones across the page</a:t>
            </a:r>
            <a:endParaRPr lang="en-US" sz="950" dirty="0"/>
          </a:p>
        </p:txBody>
      </p:sp>
      <p:sp>
        <p:nvSpPr>
          <p:cNvPr id="10" name="Shape 8"/>
          <p:cNvSpPr/>
          <p:nvPr/>
        </p:nvSpPr>
        <p:spPr>
          <a:xfrm>
            <a:off x="4069080" y="475488"/>
            <a:ext cx="4846320" cy="4206240"/>
          </a:xfrm>
          <a:prstGeom prst="roundRect">
            <a:avLst>
              <a:gd name="adj" fmla="val 4348"/>
            </a:avLst>
          </a:prstGeom>
          <a:solidFill>
            <a:srgbClr val="00B4D8">
              <a:alpha val="4000"/>
            </a:srgbClr>
          </a:solidFill>
          <a:ln w="12700">
            <a:solidFill>
              <a:srgbClr val="00B4D8">
                <a:alpha val="45000"/>
              </a:srgbClr>
            </a:solidFill>
            <a:prstDash val="dash"/>
          </a:ln>
        </p:spPr>
      </p:sp>
      <p:sp>
        <p:nvSpPr>
          <p:cNvPr id="11" name="Text 9"/>
          <p:cNvSpPr/>
          <p:nvPr/>
        </p:nvSpPr>
        <p:spPr>
          <a:xfrm>
            <a:off x="4069080" y="2103120"/>
            <a:ext cx="4846320" cy="274320"/>
          </a:xfrm>
          <a:prstGeom prst="rect">
            <a:avLst/>
          </a:prstGeom>
          <a:noFill/>
          <a:ln/>
        </p:spPr>
        <p:txBody>
          <a:bodyPr wrap="square" rtlCol="0" anchor="ctr"/>
          <a:lstStyle/>
          <a:p>
            <a:pPr algn="ctr" indent="0" marL="0">
              <a:buNone/>
            </a:pPr>
            <a:r>
              <a:rPr lang="en-US" sz="1200" b="1" dirty="0">
                <a:solidFill>
                  <a:srgbClr val="00B4D8">
                    <a:alpha val="65000"/>
                  </a:srgbClr>
                </a:solidFill>
                <a:latin typeface="Calibri" pitchFamily="34" charset="0"/>
                <a:ea typeface="Calibri" pitchFamily="34" charset="-122"/>
                <a:cs typeface="Calibri" pitchFamily="34" charset="-120"/>
              </a:rPr>
              <a:t>Demo Video — Blind-Spot Hints</a:t>
            </a:r>
            <a:endParaRPr lang="en-US" sz="1200" dirty="0"/>
          </a:p>
        </p:txBody>
      </p:sp>
      <p:sp>
        <p:nvSpPr>
          <p:cNvPr id="12" name="Text 10"/>
          <p:cNvSpPr/>
          <p:nvPr/>
        </p:nvSpPr>
        <p:spPr>
          <a:xfrm>
            <a:off x="4069080" y="2423160"/>
            <a:ext cx="4846320" cy="201168"/>
          </a:xfrm>
          <a:prstGeom prst="rect">
            <a:avLst/>
          </a:prstGeom>
          <a:noFill/>
          <a:ln/>
        </p:spPr>
        <p:txBody>
          <a:bodyPr wrap="square" rtlCol="0" anchor="ctr"/>
          <a:lstStyle/>
          <a:p>
            <a:pPr algn="ctr" indent="0" marL="0">
              <a:buNone/>
            </a:pPr>
            <a:r>
              <a:rPr lang="en-US" sz="900" dirty="0">
                <a:solidFill>
                  <a:srgbClr val="00B4D8">
                    <a:alpha val="40000"/>
                  </a:srgbClr>
                </a:solidFill>
                <a:latin typeface="Calibri" pitchFamily="34" charset="0"/>
                <a:ea typeface="Calibri" pitchFamily="34" charset="-122"/>
                <a:cs typeface="Calibri" pitchFamily="34" charset="-120"/>
              </a:rPr>
              <a:t>Replace with demo video file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sp>
      <p:sp>
        <p:nvSpPr>
          <p:cNvPr id="3" name="Text 1"/>
          <p:cNvSpPr/>
          <p:nvPr/>
        </p:nvSpPr>
        <p:spPr>
          <a:xfrm>
            <a:off x="182880" y="329184"/>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2 · PROPOSED SOLUTION</a:t>
            </a:r>
            <a:endParaRPr lang="en-US" sz="900" dirty="0"/>
          </a:p>
        </p:txBody>
      </p:sp>
      <p:sp>
        <p:nvSpPr>
          <p:cNvPr id="4" name="Text 2"/>
          <p:cNvSpPr/>
          <p:nvPr/>
        </p:nvSpPr>
        <p:spPr>
          <a:xfrm>
            <a:off x="182880" y="676656"/>
            <a:ext cx="3429000" cy="475488"/>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Visible Area</a:t>
            </a:r>
            <a:endParaRPr lang="en-US" sz="2600" dirty="0"/>
          </a:p>
        </p:txBody>
      </p:sp>
      <p:sp>
        <p:nvSpPr>
          <p:cNvPr id="5" name="Text 3"/>
          <p:cNvSpPr/>
          <p:nvPr/>
        </p:nvSpPr>
        <p:spPr>
          <a:xfrm>
            <a:off x="182880" y="1133856"/>
            <a:ext cx="3429000" cy="256032"/>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Text Enhancement — triggered by gaze hold</a:t>
            </a:r>
            <a:endParaRPr lang="en-US" sz="1100" dirty="0"/>
          </a:p>
        </p:txBody>
      </p:sp>
      <p:sp>
        <p:nvSpPr>
          <p:cNvPr id="6" name="Shape 4"/>
          <p:cNvSpPr/>
          <p:nvPr/>
        </p:nvSpPr>
        <p:spPr>
          <a:xfrm>
            <a:off x="182880" y="1499616"/>
            <a:ext cx="3429000" cy="749808"/>
          </a:xfrm>
          <a:prstGeom prst="roundRect">
            <a:avLst>
              <a:gd name="adj" fmla="val 12195"/>
            </a:avLst>
          </a:prstGeom>
          <a:solidFill>
            <a:srgbClr val="FFFFFF">
              <a:alpha val="6000"/>
            </a:srgbClr>
          </a:solidFill>
          <a:ln w="12700">
            <a:solidFill>
              <a:srgbClr val="00B4D8">
                <a:alpha val="50000"/>
              </a:srgbClr>
            </a:solidFill>
            <a:prstDash val="solid"/>
          </a:ln>
        </p:spPr>
      </p:sp>
      <p:sp>
        <p:nvSpPr>
          <p:cNvPr id="7" name="Shape 5"/>
          <p:cNvSpPr/>
          <p:nvPr/>
        </p:nvSpPr>
        <p:spPr>
          <a:xfrm>
            <a:off x="182880" y="1499616"/>
            <a:ext cx="36576" cy="749808"/>
          </a:xfrm>
          <a:prstGeom prst="rect">
            <a:avLst/>
          </a:prstGeom>
          <a:solidFill>
            <a:srgbClr val="00B4D8">
              <a:alpha val="50000"/>
            </a:srgbClr>
          </a:solidFill>
          <a:ln w="12700">
            <a:solidFill>
              <a:srgbClr val="00B4D8"/>
            </a:solidFill>
            <a:prstDash val="solid"/>
          </a:ln>
        </p:spPr>
      </p:sp>
      <p:sp>
        <p:nvSpPr>
          <p:cNvPr id="8" name="Text 6"/>
          <p:cNvSpPr/>
          <p:nvPr/>
        </p:nvSpPr>
        <p:spPr>
          <a:xfrm>
            <a:off x="292608" y="1591056"/>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Bold &amp; Darken</a:t>
            </a:r>
            <a:endParaRPr lang="en-US" sz="1300" dirty="0"/>
          </a:p>
        </p:txBody>
      </p:sp>
      <p:sp>
        <p:nvSpPr>
          <p:cNvPr id="9" name="Text 7"/>
          <p:cNvSpPr/>
          <p:nvPr/>
        </p:nvSpPr>
        <p:spPr>
          <a:xfrm>
            <a:off x="292608" y="1883664"/>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Heavier weight + darkened text on the hovered paragraph</a:t>
            </a:r>
            <a:endParaRPr lang="en-US" sz="950" dirty="0"/>
          </a:p>
        </p:txBody>
      </p:sp>
      <p:sp>
        <p:nvSpPr>
          <p:cNvPr id="10" name="Shape 8"/>
          <p:cNvSpPr/>
          <p:nvPr/>
        </p:nvSpPr>
        <p:spPr>
          <a:xfrm>
            <a:off x="182880" y="2414016"/>
            <a:ext cx="3429000" cy="749808"/>
          </a:xfrm>
          <a:prstGeom prst="roundRect">
            <a:avLst>
              <a:gd name="adj" fmla="val 12195"/>
            </a:avLst>
          </a:prstGeom>
          <a:solidFill>
            <a:srgbClr val="FFFFFF">
              <a:alpha val="6000"/>
            </a:srgbClr>
          </a:solidFill>
          <a:ln w="12700">
            <a:solidFill>
              <a:srgbClr val="00B4D8">
                <a:alpha val="50000"/>
              </a:srgbClr>
            </a:solidFill>
            <a:prstDash val="solid"/>
          </a:ln>
        </p:spPr>
      </p:sp>
      <p:sp>
        <p:nvSpPr>
          <p:cNvPr id="11" name="Shape 9"/>
          <p:cNvSpPr/>
          <p:nvPr/>
        </p:nvSpPr>
        <p:spPr>
          <a:xfrm>
            <a:off x="182880" y="2414016"/>
            <a:ext cx="36576" cy="749808"/>
          </a:xfrm>
          <a:prstGeom prst="rect">
            <a:avLst/>
          </a:prstGeom>
          <a:solidFill>
            <a:srgbClr val="00B4D8">
              <a:alpha val="50000"/>
            </a:srgbClr>
          </a:solidFill>
          <a:ln w="12700">
            <a:solidFill>
              <a:srgbClr val="00B4D8"/>
            </a:solidFill>
            <a:prstDash val="solid"/>
          </a:ln>
        </p:spPr>
      </p:sp>
      <p:sp>
        <p:nvSpPr>
          <p:cNvPr id="12" name="Text 10"/>
          <p:cNvSpPr/>
          <p:nvPr/>
        </p:nvSpPr>
        <p:spPr>
          <a:xfrm>
            <a:off x="292608" y="2505456"/>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Font Enlargement</a:t>
            </a:r>
            <a:endParaRPr lang="en-US" sz="1300" dirty="0"/>
          </a:p>
        </p:txBody>
      </p:sp>
      <p:sp>
        <p:nvSpPr>
          <p:cNvPr id="13" name="Text 11"/>
          <p:cNvSpPr/>
          <p:nvPr/>
        </p:nvSpPr>
        <p:spPr>
          <a:xfrm>
            <a:off x="292608" y="2798064"/>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Adjustable 1.0×–3.0× via popup slider — live preview</a:t>
            </a:r>
            <a:endParaRPr lang="en-US" sz="950" dirty="0"/>
          </a:p>
        </p:txBody>
      </p:sp>
      <p:sp>
        <p:nvSpPr>
          <p:cNvPr id="14" name="Shape 12"/>
          <p:cNvSpPr/>
          <p:nvPr/>
        </p:nvSpPr>
        <p:spPr>
          <a:xfrm>
            <a:off x="182880" y="3328416"/>
            <a:ext cx="3429000" cy="749808"/>
          </a:xfrm>
          <a:prstGeom prst="roundRect">
            <a:avLst>
              <a:gd name="adj" fmla="val 12195"/>
            </a:avLst>
          </a:prstGeom>
          <a:solidFill>
            <a:srgbClr val="FFFFFF">
              <a:alpha val="6000"/>
            </a:srgbClr>
          </a:solidFill>
          <a:ln w="12700">
            <a:solidFill>
              <a:srgbClr val="00B4D8">
                <a:alpha val="50000"/>
              </a:srgbClr>
            </a:solidFill>
            <a:prstDash val="solid"/>
          </a:ln>
        </p:spPr>
      </p:sp>
      <p:sp>
        <p:nvSpPr>
          <p:cNvPr id="15" name="Shape 13"/>
          <p:cNvSpPr/>
          <p:nvPr/>
        </p:nvSpPr>
        <p:spPr>
          <a:xfrm>
            <a:off x="182880" y="3328416"/>
            <a:ext cx="36576" cy="749808"/>
          </a:xfrm>
          <a:prstGeom prst="rect">
            <a:avLst/>
          </a:prstGeom>
          <a:solidFill>
            <a:srgbClr val="00B4D8">
              <a:alpha val="50000"/>
            </a:srgbClr>
          </a:solidFill>
          <a:ln w="12700">
            <a:solidFill>
              <a:srgbClr val="00B4D8"/>
            </a:solidFill>
            <a:prstDash val="solid"/>
          </a:ln>
        </p:spPr>
      </p:sp>
      <p:sp>
        <p:nvSpPr>
          <p:cNvPr id="16" name="Text 14"/>
          <p:cNvSpPr/>
          <p:nvPr/>
        </p:nvSpPr>
        <p:spPr>
          <a:xfrm>
            <a:off x="292608" y="3419856"/>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 Contrast Themes</a:t>
            </a:r>
            <a:pPr indent="0" marL="0">
              <a:buNone/>
            </a:pPr>
            <a:r>
              <a:rPr lang="en-US" sz="950" b="1" dirty="0">
                <a:solidFill>
                  <a:srgbClr val="06D6A0"/>
                </a:solidFill>
                <a:latin typeface="Calibri" pitchFamily="34" charset="0"/>
                <a:ea typeface="Calibri" pitchFamily="34" charset="-122"/>
                <a:cs typeface="Calibri" pitchFamily="34" charset="-120"/>
              </a:rPr>
              <a:t>  ✓ 5.0 / 5</a:t>
            </a:r>
            <a:endParaRPr lang="en-US" sz="1300" dirty="0"/>
          </a:p>
        </p:txBody>
      </p:sp>
      <p:sp>
        <p:nvSpPr>
          <p:cNvPr id="17" name="Text 15"/>
          <p:cNvSpPr/>
          <p:nvPr/>
        </p:nvSpPr>
        <p:spPr>
          <a:xfrm>
            <a:off x="292608" y="3712464"/>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5 themes — Nightsky, Aquatic, Desert, Dusk, Off</a:t>
            </a:r>
            <a:endParaRPr lang="en-US" sz="950" dirty="0"/>
          </a:p>
        </p:txBody>
      </p:sp>
      <p:sp>
        <p:nvSpPr>
          <p:cNvPr id="18" name="Shape 16"/>
          <p:cNvSpPr/>
          <p:nvPr/>
        </p:nvSpPr>
        <p:spPr>
          <a:xfrm>
            <a:off x="4069080" y="475488"/>
            <a:ext cx="4846320" cy="4206240"/>
          </a:xfrm>
          <a:prstGeom prst="roundRect">
            <a:avLst>
              <a:gd name="adj" fmla="val 4348"/>
            </a:avLst>
          </a:prstGeom>
          <a:solidFill>
            <a:srgbClr val="00B4D8">
              <a:alpha val="4000"/>
            </a:srgbClr>
          </a:solidFill>
          <a:ln w="12700">
            <a:solidFill>
              <a:srgbClr val="00B4D8">
                <a:alpha val="45000"/>
              </a:srgbClr>
            </a:solidFill>
            <a:prstDash val="dash"/>
          </a:ln>
        </p:spPr>
      </p:sp>
      <p:sp>
        <p:nvSpPr>
          <p:cNvPr id="19" name="Text 17"/>
          <p:cNvSpPr/>
          <p:nvPr/>
        </p:nvSpPr>
        <p:spPr>
          <a:xfrm>
            <a:off x="4069080" y="2103120"/>
            <a:ext cx="4846320" cy="274320"/>
          </a:xfrm>
          <a:prstGeom prst="rect">
            <a:avLst/>
          </a:prstGeom>
          <a:noFill/>
          <a:ln/>
        </p:spPr>
        <p:txBody>
          <a:bodyPr wrap="square" rtlCol="0" anchor="ctr"/>
          <a:lstStyle/>
          <a:p>
            <a:pPr algn="ctr" indent="0" marL="0">
              <a:buNone/>
            </a:pPr>
            <a:r>
              <a:rPr lang="en-US" sz="1200" b="1" dirty="0">
                <a:solidFill>
                  <a:srgbClr val="00B4D8">
                    <a:alpha val="65000"/>
                  </a:srgbClr>
                </a:solidFill>
                <a:latin typeface="Calibri" pitchFamily="34" charset="0"/>
                <a:ea typeface="Calibri" pitchFamily="34" charset="-122"/>
                <a:cs typeface="Calibri" pitchFamily="34" charset="-120"/>
              </a:rPr>
              <a:t>Screenshot / GIF — Text Enhancement</a:t>
            </a:r>
            <a:endParaRPr lang="en-US" sz="1200" dirty="0"/>
          </a:p>
        </p:txBody>
      </p:sp>
      <p:sp>
        <p:nvSpPr>
          <p:cNvPr id="20" name="Text 18"/>
          <p:cNvSpPr/>
          <p:nvPr/>
        </p:nvSpPr>
        <p:spPr>
          <a:xfrm>
            <a:off x="4069080" y="2423160"/>
            <a:ext cx="4846320" cy="201168"/>
          </a:xfrm>
          <a:prstGeom prst="rect">
            <a:avLst/>
          </a:prstGeom>
          <a:noFill/>
          <a:ln/>
        </p:spPr>
        <p:txBody>
          <a:bodyPr wrap="square" rtlCol="0" anchor="ctr"/>
          <a:lstStyle/>
          <a:p>
            <a:pPr algn="ctr" indent="0" marL="0">
              <a:buNone/>
            </a:pPr>
            <a:r>
              <a:rPr lang="en-US" sz="900" dirty="0">
                <a:solidFill>
                  <a:srgbClr val="00B4D8">
                    <a:alpha val="40000"/>
                  </a:srgbClr>
                </a:solidFill>
                <a:latin typeface="Calibri" pitchFamily="34" charset="0"/>
                <a:ea typeface="Calibri" pitchFamily="34" charset="-122"/>
                <a:cs typeface="Calibri" pitchFamily="34" charset="-120"/>
              </a:rPr>
              <a:t>Replace with screenshot or animated GIF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sp>
      <p:sp>
        <p:nvSpPr>
          <p:cNvPr id="3" name="Text 1"/>
          <p:cNvSpPr/>
          <p:nvPr/>
        </p:nvSpPr>
        <p:spPr>
          <a:xfrm>
            <a:off x="182880" y="329184"/>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2 · PROPOSED SOLUTION</a:t>
            </a:r>
            <a:endParaRPr lang="en-US" sz="900" dirty="0"/>
          </a:p>
        </p:txBody>
      </p:sp>
      <p:sp>
        <p:nvSpPr>
          <p:cNvPr id="4" name="Text 2"/>
          <p:cNvSpPr/>
          <p:nvPr/>
        </p:nvSpPr>
        <p:spPr>
          <a:xfrm>
            <a:off x="182880" y="676656"/>
            <a:ext cx="3429000" cy="475488"/>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Visible Area</a:t>
            </a:r>
            <a:endParaRPr lang="en-US" sz="2600" dirty="0"/>
          </a:p>
        </p:txBody>
      </p:sp>
      <p:sp>
        <p:nvSpPr>
          <p:cNvPr id="5" name="Text 3"/>
          <p:cNvSpPr/>
          <p:nvPr/>
        </p:nvSpPr>
        <p:spPr>
          <a:xfrm>
            <a:off x="182880" y="1133856"/>
            <a:ext cx="3429000" cy="256032"/>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AI Paragraph Summary</a:t>
            </a:r>
            <a:endParaRPr lang="en-US" sz="1100" dirty="0"/>
          </a:p>
        </p:txBody>
      </p:sp>
      <p:sp>
        <p:nvSpPr>
          <p:cNvPr id="6" name="Shape 4"/>
          <p:cNvSpPr/>
          <p:nvPr/>
        </p:nvSpPr>
        <p:spPr>
          <a:xfrm>
            <a:off x="182880" y="1481328"/>
            <a:ext cx="3429000" cy="713232"/>
          </a:xfrm>
          <a:prstGeom prst="roundRect">
            <a:avLst>
              <a:gd name="adj" fmla="val 12821"/>
            </a:avLst>
          </a:prstGeom>
          <a:solidFill>
            <a:srgbClr val="00B4D8">
              <a:alpha val="12000"/>
            </a:srgbClr>
          </a:solidFill>
          <a:ln w="12700">
            <a:solidFill>
              <a:srgbClr val="00B4D8">
                <a:alpha val="90000"/>
              </a:srgbClr>
            </a:solidFill>
            <a:prstDash val="solid"/>
          </a:ln>
        </p:spPr>
      </p:sp>
      <p:sp>
        <p:nvSpPr>
          <p:cNvPr id="7" name="Shape 5"/>
          <p:cNvSpPr/>
          <p:nvPr/>
        </p:nvSpPr>
        <p:spPr>
          <a:xfrm>
            <a:off x="182880" y="1481328"/>
            <a:ext cx="36576" cy="713232"/>
          </a:xfrm>
          <a:prstGeom prst="rect">
            <a:avLst/>
          </a:prstGeom>
          <a:solidFill>
            <a:srgbClr val="00B4D8"/>
          </a:solidFill>
          <a:ln w="12700">
            <a:solidFill>
              <a:srgbClr val="00B4D8"/>
            </a:solidFill>
            <a:prstDash val="solid"/>
          </a:ln>
        </p:spPr>
      </p:sp>
      <p:sp>
        <p:nvSpPr>
          <p:cNvPr id="8" name="Text 6"/>
          <p:cNvSpPr/>
          <p:nvPr/>
        </p:nvSpPr>
        <p:spPr>
          <a:xfrm>
            <a:off x="292608" y="1554480"/>
            <a:ext cx="3246120" cy="274320"/>
          </a:xfrm>
          <a:prstGeom prst="rect">
            <a:avLst/>
          </a:prstGeom>
          <a:noFill/>
          <a:ln/>
        </p:spPr>
        <p:txBody>
          <a:bodyPr wrap="square" rtlCol="0" anchor="ctr"/>
          <a:lstStyle/>
          <a:p>
            <a:pPr indent="0" marL="0">
              <a:buNone/>
            </a:pPr>
            <a:r>
              <a:rPr lang="en-US" sz="1300" b="1" dirty="0">
                <a:solidFill>
                  <a:srgbClr val="90E0EF"/>
                </a:solidFill>
                <a:latin typeface="Calibri" pitchFamily="34" charset="0"/>
                <a:ea typeface="Calibri" pitchFamily="34" charset="-122"/>
                <a:cs typeface="Calibri" pitchFamily="34" charset="-120"/>
              </a:rPr>
              <a:t>Qwen2.5-1.5B INT4</a:t>
            </a:r>
            <a:endParaRPr lang="en-US" sz="1300" dirty="0"/>
          </a:p>
        </p:txBody>
      </p:sp>
      <p:sp>
        <p:nvSpPr>
          <p:cNvPr id="9" name="Text 7"/>
          <p:cNvSpPr/>
          <p:nvPr/>
        </p:nvSpPr>
        <p:spPr>
          <a:xfrm>
            <a:off x="292608" y="1828800"/>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On-device · No cloud · No API fees · Privacy-first</a:t>
            </a:r>
            <a:endParaRPr lang="en-US" sz="950" dirty="0"/>
          </a:p>
        </p:txBody>
      </p:sp>
      <p:sp>
        <p:nvSpPr>
          <p:cNvPr id="10" name="Shape 8"/>
          <p:cNvSpPr/>
          <p:nvPr/>
        </p:nvSpPr>
        <p:spPr>
          <a:xfrm>
            <a:off x="182880" y="2286000"/>
            <a:ext cx="3429000" cy="713232"/>
          </a:xfrm>
          <a:prstGeom prst="roundRect">
            <a:avLst>
              <a:gd name="adj" fmla="val 12821"/>
            </a:avLst>
          </a:prstGeom>
          <a:solidFill>
            <a:srgbClr val="FFFFFF">
              <a:alpha val="6000"/>
            </a:srgbClr>
          </a:solidFill>
          <a:ln w="12700">
            <a:solidFill>
              <a:srgbClr val="00B4D8">
                <a:alpha val="50000"/>
              </a:srgbClr>
            </a:solidFill>
            <a:prstDash val="solid"/>
          </a:ln>
        </p:spPr>
      </p:sp>
      <p:sp>
        <p:nvSpPr>
          <p:cNvPr id="11" name="Shape 9"/>
          <p:cNvSpPr/>
          <p:nvPr/>
        </p:nvSpPr>
        <p:spPr>
          <a:xfrm>
            <a:off x="182880" y="2286000"/>
            <a:ext cx="36576" cy="713232"/>
          </a:xfrm>
          <a:prstGeom prst="rect">
            <a:avLst/>
          </a:prstGeom>
          <a:solidFill>
            <a:srgbClr val="00B4D8">
              <a:alpha val="50000"/>
            </a:srgbClr>
          </a:solidFill>
          <a:ln w="12700">
            <a:solidFill>
              <a:srgbClr val="00B4D8"/>
            </a:solidFill>
            <a:prstDash val="solid"/>
          </a:ln>
        </p:spPr>
      </p:sp>
      <p:sp>
        <p:nvSpPr>
          <p:cNvPr id="12" name="Text 10"/>
          <p:cNvSpPr/>
          <p:nvPr/>
        </p:nvSpPr>
        <p:spPr>
          <a:xfrm>
            <a:off x="292608" y="2359152"/>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GPU 0.85s · CPU 1.32s</a:t>
            </a:r>
            <a:endParaRPr lang="en-US" sz="1300" dirty="0"/>
          </a:p>
        </p:txBody>
      </p:sp>
      <p:sp>
        <p:nvSpPr>
          <p:cNvPr id="13" name="Text 11"/>
          <p:cNvSpPr/>
          <p:nvPr/>
        </p:nvSpPr>
        <p:spPr>
          <a:xfrm>
            <a:off x="292608" y="2633472"/>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Intel Panther Lake benchmark — meets &lt;1s target on GPU</a:t>
            </a:r>
            <a:endParaRPr lang="en-US" sz="950" dirty="0"/>
          </a:p>
        </p:txBody>
      </p:sp>
      <p:sp>
        <p:nvSpPr>
          <p:cNvPr id="14" name="Shape 12"/>
          <p:cNvSpPr/>
          <p:nvPr/>
        </p:nvSpPr>
        <p:spPr>
          <a:xfrm>
            <a:off x="182880" y="3090672"/>
            <a:ext cx="3429000" cy="713232"/>
          </a:xfrm>
          <a:prstGeom prst="roundRect">
            <a:avLst>
              <a:gd name="adj" fmla="val 12821"/>
            </a:avLst>
          </a:prstGeom>
          <a:solidFill>
            <a:srgbClr val="FFFFFF">
              <a:alpha val="6000"/>
            </a:srgbClr>
          </a:solidFill>
          <a:ln w="12700">
            <a:solidFill>
              <a:srgbClr val="00B4D8">
                <a:alpha val="50000"/>
              </a:srgbClr>
            </a:solidFill>
            <a:prstDash val="solid"/>
          </a:ln>
        </p:spPr>
      </p:sp>
      <p:sp>
        <p:nvSpPr>
          <p:cNvPr id="15" name="Shape 13"/>
          <p:cNvSpPr/>
          <p:nvPr/>
        </p:nvSpPr>
        <p:spPr>
          <a:xfrm>
            <a:off x="182880" y="3090672"/>
            <a:ext cx="36576" cy="713232"/>
          </a:xfrm>
          <a:prstGeom prst="rect">
            <a:avLst/>
          </a:prstGeom>
          <a:solidFill>
            <a:srgbClr val="00B4D8">
              <a:alpha val="50000"/>
            </a:srgbClr>
          </a:solidFill>
          <a:ln w="12700">
            <a:solidFill>
              <a:srgbClr val="00B4D8"/>
            </a:solidFill>
            <a:prstDash val="solid"/>
          </a:ln>
        </p:spPr>
      </p:sp>
      <p:sp>
        <p:nvSpPr>
          <p:cNvPr id="16" name="Text 14"/>
          <p:cNvSpPr/>
          <p:nvPr/>
        </p:nvSpPr>
        <p:spPr>
          <a:xfrm>
            <a:off x="292608" y="3163824"/>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Click-to-Reveal</a:t>
            </a:r>
            <a:endParaRPr lang="en-US" sz="1300" dirty="0"/>
          </a:p>
        </p:txBody>
      </p:sp>
      <p:sp>
        <p:nvSpPr>
          <p:cNvPr id="17" name="Text 15"/>
          <p:cNvSpPr/>
          <p:nvPr/>
        </p:nvSpPr>
        <p:spPr>
          <a:xfrm>
            <a:off x="292608" y="3438144"/>
            <a:ext cx="3246120" cy="310896"/>
          </a:xfrm>
          <a:prstGeom prst="rect">
            <a:avLst/>
          </a:prstGeom>
          <a:noFill/>
          <a:ln/>
        </p:spPr>
        <p:txBody>
          <a:bodyPr wrap="square" rtlCol="0" anchor="ctr"/>
          <a:lstStyle/>
          <a:p>
            <a:pPr indent="0" marL="0">
              <a:buNone/>
            </a:pPr>
            <a:r>
              <a:rPr lang="en-US" sz="950" dirty="0">
                <a:solidFill>
                  <a:srgbClr val="AAAAAA"/>
                </a:solidFill>
                <a:latin typeface="Calibri" pitchFamily="34" charset="0"/>
                <a:ea typeface="Calibri" pitchFamily="34" charset="-122"/>
                <a:cs typeface="Calibri" pitchFamily="34" charset="-120"/>
              </a:rPr>
              <a:t>Hover 1.5s → "點擊摘要" tag → click to replace text with bullet summary</a:t>
            </a:r>
            <a:endParaRPr lang="en-US" sz="950" dirty="0"/>
          </a:p>
        </p:txBody>
      </p:sp>
      <p:sp>
        <p:nvSpPr>
          <p:cNvPr id="18" name="Shape 16"/>
          <p:cNvSpPr/>
          <p:nvPr/>
        </p:nvSpPr>
        <p:spPr>
          <a:xfrm>
            <a:off x="182880" y="3895344"/>
            <a:ext cx="3429000" cy="694944"/>
          </a:xfrm>
          <a:prstGeom prst="roundRect">
            <a:avLst>
              <a:gd name="adj" fmla="val 13158"/>
            </a:avLst>
          </a:prstGeom>
          <a:solidFill>
            <a:srgbClr val="06D6A0">
              <a:alpha val="12000"/>
            </a:srgbClr>
          </a:solidFill>
          <a:ln w="12700">
            <a:solidFill>
              <a:srgbClr val="06D6A0">
                <a:alpha val="60000"/>
              </a:srgbClr>
            </a:solidFill>
            <a:prstDash val="solid"/>
          </a:ln>
        </p:spPr>
      </p:sp>
      <p:sp>
        <p:nvSpPr>
          <p:cNvPr id="19" name="Text 17"/>
          <p:cNvSpPr/>
          <p:nvPr/>
        </p:nvSpPr>
        <p:spPr>
          <a:xfrm>
            <a:off x="292608" y="3959352"/>
            <a:ext cx="3246120" cy="274320"/>
          </a:xfrm>
          <a:prstGeom prst="rect">
            <a:avLst/>
          </a:prstGeom>
          <a:noFill/>
          <a:ln/>
        </p:spPr>
        <p:txBody>
          <a:bodyPr wrap="square"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AI Summary validated — 4.3 / 5</a:t>
            </a:r>
            <a:endParaRPr lang="en-US" sz="1200" dirty="0"/>
          </a:p>
        </p:txBody>
      </p:sp>
      <p:sp>
        <p:nvSpPr>
          <p:cNvPr id="20" name="Text 18"/>
          <p:cNvSpPr/>
          <p:nvPr/>
        </p:nvSpPr>
        <p:spPr>
          <a:xfrm>
            <a:off x="292608" y="4233672"/>
            <a:ext cx="3246120" cy="274320"/>
          </a:xfrm>
          <a:prstGeom prst="rect">
            <a:avLst/>
          </a:prstGeom>
          <a:noFill/>
          <a:ln/>
        </p:spPr>
        <p:txBody>
          <a:bodyPr wrap="square" rtlCol="0" anchor="ctr"/>
          <a:lstStyle/>
          <a:p>
            <a:pPr indent="0" marL="0">
              <a:buNone/>
            </a:pPr>
            <a:r>
              <a:rPr lang="en-US" sz="900" dirty="0">
                <a:solidFill>
                  <a:srgbClr val="AAAAAA"/>
                </a:solidFill>
                <a:latin typeface="Calibri" pitchFamily="34" charset="0"/>
                <a:ea typeface="Calibri" pitchFamily="34" charset="-122"/>
                <a:cs typeface="Calibri" pitchFamily="34" charset="-120"/>
              </a:rPr>
              <a:t>Helps absorb content · Accurate key points · Faster comprehension</a:t>
            </a:r>
            <a:endParaRPr lang="en-US" sz="900" dirty="0"/>
          </a:p>
        </p:txBody>
      </p:sp>
      <p:sp>
        <p:nvSpPr>
          <p:cNvPr id="21" name="Shape 19"/>
          <p:cNvSpPr/>
          <p:nvPr/>
        </p:nvSpPr>
        <p:spPr>
          <a:xfrm>
            <a:off x="4069080" y="475488"/>
            <a:ext cx="4846320" cy="4206240"/>
          </a:xfrm>
          <a:prstGeom prst="roundRect">
            <a:avLst>
              <a:gd name="adj" fmla="val 4348"/>
            </a:avLst>
          </a:prstGeom>
          <a:solidFill>
            <a:srgbClr val="00B4D8">
              <a:alpha val="4000"/>
            </a:srgbClr>
          </a:solidFill>
          <a:ln w="12700">
            <a:solidFill>
              <a:srgbClr val="00B4D8">
                <a:alpha val="45000"/>
              </a:srgbClr>
            </a:solidFill>
            <a:prstDash val="dash"/>
          </a:ln>
        </p:spPr>
      </p:sp>
      <p:sp>
        <p:nvSpPr>
          <p:cNvPr id="22" name="Text 20"/>
          <p:cNvSpPr/>
          <p:nvPr/>
        </p:nvSpPr>
        <p:spPr>
          <a:xfrm>
            <a:off x="4069080" y="2103120"/>
            <a:ext cx="4846320" cy="274320"/>
          </a:xfrm>
          <a:prstGeom prst="rect">
            <a:avLst/>
          </a:prstGeom>
          <a:noFill/>
          <a:ln/>
        </p:spPr>
        <p:txBody>
          <a:bodyPr wrap="square" rtlCol="0" anchor="ctr"/>
          <a:lstStyle/>
          <a:p>
            <a:pPr algn="ctr" indent="0" marL="0">
              <a:buNone/>
            </a:pPr>
            <a:r>
              <a:rPr lang="en-US" sz="1200" b="1" dirty="0">
                <a:solidFill>
                  <a:srgbClr val="00B4D8">
                    <a:alpha val="65000"/>
                  </a:srgbClr>
                </a:solidFill>
                <a:latin typeface="Calibri" pitchFamily="34" charset="0"/>
                <a:ea typeface="Calibri" pitchFamily="34" charset="-122"/>
                <a:cs typeface="Calibri" pitchFamily="34" charset="-120"/>
              </a:rPr>
              <a:t>Demo Video — AI Summary</a:t>
            </a:r>
            <a:endParaRPr lang="en-US" sz="1200" dirty="0"/>
          </a:p>
        </p:txBody>
      </p:sp>
      <p:sp>
        <p:nvSpPr>
          <p:cNvPr id="23" name="Text 21"/>
          <p:cNvSpPr/>
          <p:nvPr/>
        </p:nvSpPr>
        <p:spPr>
          <a:xfrm>
            <a:off x="4069080" y="2423160"/>
            <a:ext cx="4846320" cy="201168"/>
          </a:xfrm>
          <a:prstGeom prst="rect">
            <a:avLst/>
          </a:prstGeom>
          <a:noFill/>
          <a:ln/>
        </p:spPr>
        <p:txBody>
          <a:bodyPr wrap="square" rtlCol="0" anchor="ctr"/>
          <a:lstStyle/>
          <a:p>
            <a:pPr algn="ctr" indent="0" marL="0">
              <a:buNone/>
            </a:pPr>
            <a:r>
              <a:rPr lang="en-US" sz="900" dirty="0">
                <a:solidFill>
                  <a:srgbClr val="00B4D8">
                    <a:alpha val="40000"/>
                  </a:srgbClr>
                </a:solidFill>
                <a:latin typeface="Calibri" pitchFamily="34" charset="0"/>
                <a:ea typeface="Calibri" pitchFamily="34" charset="-122"/>
                <a:cs typeface="Calibri" pitchFamily="34" charset="-120"/>
              </a:rPr>
              <a:t>Replace with demo video file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Text 0"/>
          <p:cNvSpPr/>
          <p:nvPr/>
        </p:nvSpPr>
        <p:spPr>
          <a:xfrm>
            <a:off x="3566160" y="1261872"/>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2 · PROPOSED SOLUTION</a:t>
            </a:r>
            <a:endParaRPr lang="en-US" sz="900" dirty="0"/>
          </a:p>
        </p:txBody>
      </p:sp>
      <p:sp>
        <p:nvSpPr>
          <p:cNvPr id="3" name="Text 1"/>
          <p:cNvSpPr/>
          <p:nvPr/>
        </p:nvSpPr>
        <p:spPr>
          <a:xfrm>
            <a:off x="457200" y="1591056"/>
            <a:ext cx="8229600" cy="128016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On-Device AI Stack</a:t>
            </a:r>
            <a:endParaRPr lang="en-US" sz="5200" dirty="0"/>
          </a:p>
        </p:txBody>
      </p:sp>
      <p:sp>
        <p:nvSpPr>
          <p:cNvPr id="4" name="Text 2"/>
          <p:cNvSpPr/>
          <p:nvPr/>
        </p:nvSpPr>
        <p:spPr>
          <a:xfrm>
            <a:off x="1371600" y="2944368"/>
            <a:ext cx="6400800" cy="365760"/>
          </a:xfrm>
          <a:prstGeom prst="rect">
            <a:avLst/>
          </a:prstGeom>
          <a:noFill/>
          <a:ln/>
        </p:spPr>
        <p:txBody>
          <a:bodyPr wrap="square" rtlCol="0" anchor="ctr"/>
          <a:lstStyle/>
          <a:p>
            <a:pPr algn="ctr" indent="0" marL="0">
              <a:buNone/>
            </a:pPr>
            <a:r>
              <a:rPr lang="en-US" sz="1400" dirty="0">
                <a:solidFill>
                  <a:srgbClr val="AAAAAA"/>
                </a:solidFill>
                <a:latin typeface="Calibri" pitchFamily="34" charset="0"/>
                <a:ea typeface="Calibri" pitchFamily="34" charset="-122"/>
                <a:cs typeface="Calibri" pitchFamily="34" charset="-120"/>
              </a:rPr>
              <a:t>All inference runs locally — no API, no cloud, no data leaves the laptop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F"/>
        </a:solidFill>
      </p:bgPr>
    </p:bg>
    <p:spTree>
      <p:nvGrpSpPr>
        <p:cNvPr id="1" name=""/>
        <p:cNvGrpSpPr/>
        <p:nvPr/>
      </p:nvGrpSpPr>
      <p:grpSpPr>
        <a:xfrm>
          <a:off x="0" y="0"/>
          <a:ext cx="0" cy="0"/>
          <a:chOff x="0" y="0"/>
          <a:chExt cx="0" cy="0"/>
        </a:xfrm>
      </p:grpSpPr>
      <p:sp>
        <p:nvSpPr>
          <p:cNvPr id="2" name="Text 0"/>
          <p:cNvSpPr/>
          <p:nvPr/>
        </p:nvSpPr>
        <p:spPr>
          <a:xfrm>
            <a:off x="3566160" y="237744"/>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3 · USER EXPERIENCE</a:t>
            </a:r>
            <a:endParaRPr lang="en-US" sz="900" dirty="0"/>
          </a:p>
        </p:txBody>
      </p:sp>
      <p:sp>
        <p:nvSpPr>
          <p:cNvPr id="3" name="Text 1"/>
          <p:cNvSpPr/>
          <p:nvPr/>
        </p:nvSpPr>
        <p:spPr>
          <a:xfrm>
            <a:off x="457200" y="548640"/>
            <a:ext cx="8229600" cy="658368"/>
          </a:xfrm>
          <a:prstGeom prst="rect">
            <a:avLst/>
          </a:prstGeom>
          <a:noFill/>
          <a:ln/>
        </p:spPr>
        <p:txBody>
          <a:bodyPr wrap="square" rtlCol="0" anchor="ctr"/>
          <a:lstStyle/>
          <a:p>
            <a:pPr algn="ctr" indent="0" marL="0">
              <a:buNone/>
            </a:pPr>
            <a:r>
              <a:rPr lang="en-US" sz="4000" b="1" dirty="0">
                <a:solidFill>
                  <a:srgbClr val="0D1F3C"/>
                </a:solidFill>
                <a:latin typeface="Cambria" pitchFamily="34" charset="0"/>
                <a:ea typeface="Cambria" pitchFamily="34" charset="-122"/>
                <a:cs typeface="Cambria" pitchFamily="34" charset="-120"/>
              </a:rPr>
              <a:t>Read Faster</a:t>
            </a:r>
            <a:endParaRPr lang="en-US" sz="4000" dirty="0"/>
          </a:p>
        </p:txBody>
      </p:sp>
      <p:sp>
        <p:nvSpPr>
          <p:cNvPr id="4" name="Text 2"/>
          <p:cNvSpPr/>
          <p:nvPr/>
        </p:nvSpPr>
        <p:spPr>
          <a:xfrm>
            <a:off x="457200" y="1170432"/>
            <a:ext cx="8229600" cy="256032"/>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Measured reading time across three conditions — same 300-word article, same user</a:t>
            </a:r>
            <a:endParaRPr lang="en-US" sz="1100" dirty="0"/>
          </a:p>
        </p:txBody>
      </p:sp>
      <p:graphicFrame>
        <p:nvGraphicFramePr>
          <p:cNvPr id="5" name="Chart 0" descr=""/>
          <p:cNvGraphicFramePr/>
          <p:nvPr/>
        </p:nvGraphicFramePr>
        <p:xfrm>
          <a:off x="640080" y="1508760"/>
          <a:ext cx="7863840" cy="331012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0D1F3C"/>
          </a:solidFill>
          <a:ln w="12700">
            <a:solidFill>
              <a:srgbClr val="0D1F3C"/>
            </a:solidFill>
            <a:prstDash val="solid"/>
          </a:ln>
        </p:spPr>
      </p:sp>
      <p:sp>
        <p:nvSpPr>
          <p:cNvPr id="3" name="Text 1"/>
          <p:cNvSpPr/>
          <p:nvPr/>
        </p:nvSpPr>
        <p:spPr>
          <a:xfrm>
            <a:off x="219456" y="219456"/>
            <a:ext cx="2011680" cy="256032"/>
          </a:xfrm>
          <a:prstGeom prst="roundRect">
            <a:avLst>
              <a:gd name="adj" fmla="val 178571"/>
            </a:avLst>
          </a:prstGeom>
          <a:solidFill>
            <a:srgbClr val="F6AE2D"/>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4 · VALUE &amp; IMPACT / CURB-CUT</a:t>
            </a:r>
            <a:endParaRPr lang="en-US" sz="900" dirty="0"/>
          </a:p>
        </p:txBody>
      </p:sp>
      <p:sp>
        <p:nvSpPr>
          <p:cNvPr id="4" name="Text 2"/>
          <p:cNvSpPr/>
          <p:nvPr/>
        </p:nvSpPr>
        <p:spPr>
          <a:xfrm>
            <a:off x="219456" y="548640"/>
            <a:ext cx="8686800" cy="512064"/>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Curb-Cut Effect — From 20% to Everyday Users</a:t>
            </a:r>
            <a:endParaRPr lang="en-US" sz="2200" dirty="0"/>
          </a:p>
        </p:txBody>
      </p:sp>
      <p:sp>
        <p:nvSpPr>
          <p:cNvPr id="5" name="Text 3"/>
          <p:cNvSpPr/>
          <p:nvPr/>
        </p:nvSpPr>
        <p:spPr>
          <a:xfrm>
            <a:off x="219456" y="1042416"/>
            <a:ext cx="8686800" cy="256032"/>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The same solution works for everyday users — not just vision-impaired</a:t>
            </a:r>
            <a:endParaRPr lang="en-US" sz="1100" dirty="0"/>
          </a:p>
        </p:txBody>
      </p:sp>
      <p:sp>
        <p:nvSpPr>
          <p:cNvPr id="6" name="Shape 4"/>
          <p:cNvSpPr/>
          <p:nvPr/>
        </p:nvSpPr>
        <p:spPr>
          <a:xfrm>
            <a:off x="182880" y="1481328"/>
            <a:ext cx="2103120" cy="3401568"/>
          </a:xfrm>
          <a:prstGeom prst="roundRect">
            <a:avLst>
              <a:gd name="adj" fmla="val 6522"/>
            </a:avLst>
          </a:prstGeom>
          <a:solidFill>
            <a:srgbClr val="F4F6FA"/>
          </a:solidFill>
          <a:ln w="12700">
            <a:solidFill>
              <a:srgbClr val="F4F6FA"/>
            </a:solidFill>
            <a:prstDash val="solid"/>
          </a:ln>
        </p:spPr>
      </p:sp>
      <p:sp>
        <p:nvSpPr>
          <p:cNvPr id="7" name="Shape 5"/>
          <p:cNvSpPr/>
          <p:nvPr/>
        </p:nvSpPr>
        <p:spPr>
          <a:xfrm>
            <a:off x="182880" y="1481328"/>
            <a:ext cx="2103120" cy="45720"/>
          </a:xfrm>
          <a:prstGeom prst="rect">
            <a:avLst/>
          </a:prstGeom>
          <a:solidFill>
            <a:srgbClr val="00B4D8"/>
          </a:solidFill>
          <a:ln w="12700">
            <a:solidFill>
              <a:srgbClr val="00B4D8"/>
            </a:solidFill>
            <a:prstDash val="solid"/>
          </a:ln>
        </p:spPr>
      </p:sp>
      <p:sp>
        <p:nvSpPr>
          <p:cNvPr id="8" name="Text 6"/>
          <p:cNvSpPr/>
          <p:nvPr/>
        </p:nvSpPr>
        <p:spPr>
          <a:xfrm>
            <a:off x="320040" y="1664208"/>
            <a:ext cx="1828800" cy="658368"/>
          </a:xfrm>
          <a:prstGeom prst="rect">
            <a:avLst/>
          </a:prstGeom>
          <a:noFill/>
          <a:ln/>
        </p:spPr>
        <p:txBody>
          <a:bodyPr wrap="square" rtlCol="0" anchor="ctr"/>
          <a:lstStyle/>
          <a:p>
            <a:pPr indent="0" marL="0">
              <a:buNone/>
            </a:pPr>
            <a:r>
              <a:rPr lang="en-US" sz="1500" b="1" dirty="0">
                <a:solidFill>
                  <a:srgbClr val="0D1F3C"/>
                </a:solidFill>
                <a:latin typeface="Cambria" pitchFamily="34" charset="0"/>
                <a:ea typeface="Cambria" pitchFamily="34" charset="-122"/>
                <a:cs typeface="Cambria" pitchFamily="34" charset="-120"/>
              </a:rPr>
              <a:t>Screen Glare &amp; Reflections</a:t>
            </a:r>
            <a:endParaRPr lang="en-US" sz="1500" dirty="0"/>
          </a:p>
        </p:txBody>
      </p:sp>
      <p:sp>
        <p:nvSpPr>
          <p:cNvPr id="9" name="Text 7"/>
          <p:cNvSpPr/>
          <p:nvPr/>
        </p:nvSpPr>
        <p:spPr>
          <a:xfrm>
            <a:off x="320040" y="2377440"/>
            <a:ext cx="1828800" cy="237744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Same visual experience as dim-vision users</a:t>
            </a:r>
            <a:endParaRPr lang="en-US" sz="1100" dirty="0"/>
          </a:p>
        </p:txBody>
      </p:sp>
      <p:sp>
        <p:nvSpPr>
          <p:cNvPr id="10" name="Shape 8"/>
          <p:cNvSpPr/>
          <p:nvPr/>
        </p:nvSpPr>
        <p:spPr>
          <a:xfrm>
            <a:off x="2395728" y="1481328"/>
            <a:ext cx="2103120" cy="3401568"/>
          </a:xfrm>
          <a:prstGeom prst="roundRect">
            <a:avLst>
              <a:gd name="adj" fmla="val 6522"/>
            </a:avLst>
          </a:prstGeom>
          <a:solidFill>
            <a:srgbClr val="F4F6FA"/>
          </a:solidFill>
          <a:ln w="12700">
            <a:solidFill>
              <a:srgbClr val="F4F6FA"/>
            </a:solidFill>
            <a:prstDash val="solid"/>
          </a:ln>
        </p:spPr>
      </p:sp>
      <p:sp>
        <p:nvSpPr>
          <p:cNvPr id="11" name="Shape 9"/>
          <p:cNvSpPr/>
          <p:nvPr/>
        </p:nvSpPr>
        <p:spPr>
          <a:xfrm>
            <a:off x="2395728" y="1481328"/>
            <a:ext cx="2103120" cy="45720"/>
          </a:xfrm>
          <a:prstGeom prst="rect">
            <a:avLst/>
          </a:prstGeom>
          <a:solidFill>
            <a:srgbClr val="00B4D8"/>
          </a:solidFill>
          <a:ln w="12700">
            <a:solidFill>
              <a:srgbClr val="00B4D8"/>
            </a:solidFill>
            <a:prstDash val="solid"/>
          </a:ln>
        </p:spPr>
      </p:sp>
      <p:sp>
        <p:nvSpPr>
          <p:cNvPr id="12" name="Text 10"/>
          <p:cNvSpPr/>
          <p:nvPr/>
        </p:nvSpPr>
        <p:spPr>
          <a:xfrm>
            <a:off x="2532888" y="1664208"/>
            <a:ext cx="1828800" cy="658368"/>
          </a:xfrm>
          <a:prstGeom prst="rect">
            <a:avLst/>
          </a:prstGeom>
          <a:noFill/>
          <a:ln/>
        </p:spPr>
        <p:txBody>
          <a:bodyPr wrap="square" rtlCol="0" anchor="ctr"/>
          <a:lstStyle/>
          <a:p>
            <a:pPr indent="0" marL="0">
              <a:buNone/>
            </a:pPr>
            <a:r>
              <a:rPr lang="en-US" sz="1500" b="1" dirty="0">
                <a:solidFill>
                  <a:srgbClr val="0D1F3C"/>
                </a:solidFill>
                <a:latin typeface="Cambria" pitchFamily="34" charset="0"/>
                <a:ea typeface="Cambria" pitchFamily="34" charset="-122"/>
                <a:cs typeface="Cambria" pitchFamily="34" charset="-120"/>
              </a:rPr>
              <a:t>Outdoor Bright Sunlight</a:t>
            </a:r>
            <a:endParaRPr lang="en-US" sz="1500" dirty="0"/>
          </a:p>
        </p:txBody>
      </p:sp>
      <p:sp>
        <p:nvSpPr>
          <p:cNvPr id="13" name="Text 11"/>
          <p:cNvSpPr/>
          <p:nvPr/>
        </p:nvSpPr>
        <p:spPr>
          <a:xfrm>
            <a:off x="2532888" y="2377440"/>
            <a:ext cx="1828800" cy="237744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Identical to the daily reality of foggy-vision users</a:t>
            </a:r>
            <a:endParaRPr lang="en-US" sz="1100" dirty="0"/>
          </a:p>
        </p:txBody>
      </p:sp>
      <p:sp>
        <p:nvSpPr>
          <p:cNvPr id="14" name="Shape 12"/>
          <p:cNvSpPr/>
          <p:nvPr/>
        </p:nvSpPr>
        <p:spPr>
          <a:xfrm>
            <a:off x="4608576" y="1481328"/>
            <a:ext cx="2103120" cy="3401568"/>
          </a:xfrm>
          <a:prstGeom prst="roundRect">
            <a:avLst>
              <a:gd name="adj" fmla="val 6522"/>
            </a:avLst>
          </a:prstGeom>
          <a:solidFill>
            <a:srgbClr val="F4F6FA"/>
          </a:solidFill>
          <a:ln w="12700">
            <a:solidFill>
              <a:srgbClr val="F4F6FA"/>
            </a:solidFill>
            <a:prstDash val="solid"/>
          </a:ln>
        </p:spPr>
      </p:sp>
      <p:sp>
        <p:nvSpPr>
          <p:cNvPr id="15" name="Shape 13"/>
          <p:cNvSpPr/>
          <p:nvPr/>
        </p:nvSpPr>
        <p:spPr>
          <a:xfrm>
            <a:off x="4608576" y="1481328"/>
            <a:ext cx="2103120" cy="45720"/>
          </a:xfrm>
          <a:prstGeom prst="rect">
            <a:avLst/>
          </a:prstGeom>
          <a:solidFill>
            <a:srgbClr val="00B4D8"/>
          </a:solidFill>
          <a:ln w="12700">
            <a:solidFill>
              <a:srgbClr val="00B4D8"/>
            </a:solidFill>
            <a:prstDash val="solid"/>
          </a:ln>
        </p:spPr>
      </p:sp>
      <p:sp>
        <p:nvSpPr>
          <p:cNvPr id="16" name="Text 14"/>
          <p:cNvSpPr/>
          <p:nvPr/>
        </p:nvSpPr>
        <p:spPr>
          <a:xfrm>
            <a:off x="4745736" y="1664208"/>
            <a:ext cx="1828800" cy="658368"/>
          </a:xfrm>
          <a:prstGeom prst="rect">
            <a:avLst/>
          </a:prstGeom>
          <a:noFill/>
          <a:ln/>
        </p:spPr>
        <p:txBody>
          <a:bodyPr wrap="square" rtlCol="0" anchor="ctr"/>
          <a:lstStyle/>
          <a:p>
            <a:pPr indent="0" marL="0">
              <a:buNone/>
            </a:pPr>
            <a:r>
              <a:rPr lang="en-US" sz="1500" b="1" dirty="0">
                <a:solidFill>
                  <a:srgbClr val="0D1F3C"/>
                </a:solidFill>
                <a:latin typeface="Cambria" pitchFamily="34" charset="0"/>
                <a:ea typeface="Cambria" pitchFamily="34" charset="-122"/>
                <a:cs typeface="Cambria" pitchFamily="34" charset="-120"/>
              </a:rPr>
              <a:t>Eye Strain from Long Screen Time</a:t>
            </a:r>
            <a:endParaRPr lang="en-US" sz="1500" dirty="0"/>
          </a:p>
        </p:txBody>
      </p:sp>
      <p:sp>
        <p:nvSpPr>
          <p:cNvPr id="17" name="Text 15"/>
          <p:cNvSpPr/>
          <p:nvPr/>
        </p:nvSpPr>
        <p:spPr>
          <a:xfrm>
            <a:off x="4745736" y="2377440"/>
            <a:ext cx="1828800" cy="237744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#1 pain point for 71% of impaired users — common for everyone after extended sessions</a:t>
            </a:r>
            <a:endParaRPr lang="en-US" sz="1100" dirty="0"/>
          </a:p>
        </p:txBody>
      </p:sp>
      <p:sp>
        <p:nvSpPr>
          <p:cNvPr id="18" name="Shape 16"/>
          <p:cNvSpPr/>
          <p:nvPr/>
        </p:nvSpPr>
        <p:spPr>
          <a:xfrm>
            <a:off x="6821424" y="1481328"/>
            <a:ext cx="2103120" cy="3401568"/>
          </a:xfrm>
          <a:prstGeom prst="roundRect">
            <a:avLst>
              <a:gd name="adj" fmla="val 6522"/>
            </a:avLst>
          </a:prstGeom>
          <a:solidFill>
            <a:srgbClr val="F4F6FA"/>
          </a:solidFill>
          <a:ln w="12700">
            <a:solidFill>
              <a:srgbClr val="F4F6FA"/>
            </a:solidFill>
            <a:prstDash val="solid"/>
          </a:ln>
        </p:spPr>
      </p:sp>
      <p:sp>
        <p:nvSpPr>
          <p:cNvPr id="19" name="Shape 17"/>
          <p:cNvSpPr/>
          <p:nvPr/>
        </p:nvSpPr>
        <p:spPr>
          <a:xfrm>
            <a:off x="6821424" y="1481328"/>
            <a:ext cx="2103120" cy="45720"/>
          </a:xfrm>
          <a:prstGeom prst="rect">
            <a:avLst/>
          </a:prstGeom>
          <a:solidFill>
            <a:srgbClr val="F6AE2D"/>
          </a:solidFill>
          <a:ln w="12700">
            <a:solidFill>
              <a:srgbClr val="00B4D8"/>
            </a:solidFill>
            <a:prstDash val="solid"/>
          </a:ln>
        </p:spPr>
      </p:sp>
      <p:sp>
        <p:nvSpPr>
          <p:cNvPr id="20" name="Text 18"/>
          <p:cNvSpPr/>
          <p:nvPr/>
        </p:nvSpPr>
        <p:spPr>
          <a:xfrm>
            <a:off x="6958584" y="1664208"/>
            <a:ext cx="1828800" cy="658368"/>
          </a:xfrm>
          <a:prstGeom prst="rect">
            <a:avLst/>
          </a:prstGeom>
          <a:noFill/>
          <a:ln/>
        </p:spPr>
        <p:txBody>
          <a:bodyPr wrap="square" rtlCol="0" anchor="ctr"/>
          <a:lstStyle/>
          <a:p>
            <a:pPr indent="0" marL="0">
              <a:buNone/>
            </a:pPr>
            <a:r>
              <a:rPr lang="en-US" sz="1500" b="1" dirty="0">
                <a:solidFill>
                  <a:srgbClr val="0D1F3C"/>
                </a:solidFill>
                <a:latin typeface="Cambria" pitchFamily="34" charset="0"/>
                <a:ea typeface="Cambria" pitchFamily="34" charset="-122"/>
                <a:cs typeface="Cambria" pitchFamily="34" charset="-120"/>
              </a:rPr>
              <a:t>Busy Readers &amp; Skimmers</a:t>
            </a:r>
            <a:endParaRPr lang="en-US" sz="1500" dirty="0"/>
          </a:p>
        </p:txBody>
      </p:sp>
      <p:sp>
        <p:nvSpPr>
          <p:cNvPr id="21" name="Text 19"/>
          <p:cNvSpPr/>
          <p:nvPr/>
        </p:nvSpPr>
        <p:spPr>
          <a:xfrm>
            <a:off x="6958584" y="2377440"/>
            <a:ext cx="1828800" cy="237744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AI summary helps anyone quickly grasp paragraph meaning without reading every word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F"/>
        </a:solidFill>
      </p:bgPr>
    </p:bg>
    <p:spTree>
      <p:nvGrpSpPr>
        <p:cNvPr id="1" name=""/>
        <p:cNvGrpSpPr/>
        <p:nvPr/>
      </p:nvGrpSpPr>
      <p:grpSpPr>
        <a:xfrm>
          <a:off x="0" y="0"/>
          <a:ext cx="0" cy="0"/>
          <a:chOff x="0" y="0"/>
          <a:chExt cx="0" cy="0"/>
        </a:xfrm>
      </p:grpSpPr>
      <p:sp>
        <p:nvSpPr>
          <p:cNvPr id="2" name="Text 0"/>
          <p:cNvSpPr/>
          <p:nvPr/>
        </p:nvSpPr>
        <p:spPr>
          <a:xfrm>
            <a:off x="3566160" y="237744"/>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5 · FUTURE ROADMAP</a:t>
            </a:r>
            <a:endParaRPr lang="en-US" sz="900" dirty="0"/>
          </a:p>
        </p:txBody>
      </p:sp>
      <p:sp>
        <p:nvSpPr>
          <p:cNvPr id="3" name="Text 1"/>
          <p:cNvSpPr/>
          <p:nvPr/>
        </p:nvSpPr>
        <p:spPr>
          <a:xfrm>
            <a:off x="457200" y="566928"/>
            <a:ext cx="8229600" cy="548640"/>
          </a:xfrm>
          <a:prstGeom prst="rect">
            <a:avLst/>
          </a:prstGeom>
          <a:noFill/>
          <a:ln/>
        </p:spPr>
        <p:txBody>
          <a:bodyPr wrap="square" rtlCol="0" anchor="ctr"/>
          <a:lstStyle/>
          <a:p>
            <a:pPr algn="ctr" indent="0" marL="0">
              <a:buNone/>
            </a:pPr>
            <a:r>
              <a:rPr lang="en-US" sz="3200" b="1" dirty="0">
                <a:solidFill>
                  <a:srgbClr val="0D1F3C"/>
                </a:solidFill>
                <a:latin typeface="Cambria" pitchFamily="34" charset="0"/>
                <a:ea typeface="Cambria" pitchFamily="34" charset="-122"/>
                <a:cs typeface="Cambria" pitchFamily="34" charset="-120"/>
              </a:rPr>
              <a:t>What Users Want Next</a:t>
            </a:r>
            <a:endParaRPr lang="en-US" sz="3200" dirty="0"/>
          </a:p>
        </p:txBody>
      </p:sp>
      <p:sp>
        <p:nvSpPr>
          <p:cNvPr id="4" name="Text 2"/>
          <p:cNvSpPr/>
          <p:nvPr/>
        </p:nvSpPr>
        <p:spPr>
          <a:xfrm>
            <a:off x="457200" y="1097280"/>
            <a:ext cx="8229600" cy="256032"/>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Wishlist from user testing — planned iterations beyond the PoC</a:t>
            </a:r>
            <a:endParaRPr lang="en-US" sz="1100" dirty="0"/>
          </a:p>
        </p:txBody>
      </p:sp>
      <p:sp>
        <p:nvSpPr>
          <p:cNvPr id="5" name="Shape 3"/>
          <p:cNvSpPr/>
          <p:nvPr/>
        </p:nvSpPr>
        <p:spPr>
          <a:xfrm>
            <a:off x="256032" y="1481328"/>
            <a:ext cx="4187952" cy="1572768"/>
          </a:xfrm>
          <a:prstGeom prst="roundRect">
            <a:avLst>
              <a:gd name="adj" fmla="val 8140"/>
            </a:avLst>
          </a:prstGeom>
          <a:solidFill>
            <a:srgbClr val="F6AE2D">
              <a:alpha val="10000"/>
            </a:srgbClr>
          </a:solidFill>
          <a:ln w="12700">
            <a:solidFill>
              <a:srgbClr val="C9922A">
                <a:alpha val="50000"/>
              </a:srgbClr>
            </a:solidFill>
            <a:prstDash val="solid"/>
          </a:ln>
        </p:spPr>
      </p:sp>
      <p:sp>
        <p:nvSpPr>
          <p:cNvPr id="6" name="Text 4"/>
          <p:cNvSpPr/>
          <p:nvPr/>
        </p:nvSpPr>
        <p:spPr>
          <a:xfrm>
            <a:off x="438912" y="1645920"/>
            <a:ext cx="3840480" cy="402336"/>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Personalised Feature Profiles</a:t>
            </a:r>
            <a:endParaRPr lang="en-US" sz="1600" dirty="0"/>
          </a:p>
        </p:txBody>
      </p:sp>
      <p:sp>
        <p:nvSpPr>
          <p:cNvPr id="7" name="Text 5"/>
          <p:cNvSpPr/>
          <p:nvPr/>
        </p:nvSpPr>
        <p:spPr>
          <a:xfrm>
            <a:off x="438912" y="2066544"/>
            <a:ext cx="3840480" cy="877824"/>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Save each user's preferred toggle states — no re-configuration on every session</a:t>
            </a:r>
            <a:endParaRPr lang="en-US" sz="1100" dirty="0"/>
          </a:p>
        </p:txBody>
      </p:sp>
      <p:sp>
        <p:nvSpPr>
          <p:cNvPr id="8" name="Shape 6"/>
          <p:cNvSpPr/>
          <p:nvPr/>
        </p:nvSpPr>
        <p:spPr>
          <a:xfrm>
            <a:off x="4645152" y="1481328"/>
            <a:ext cx="4187952" cy="1572768"/>
          </a:xfrm>
          <a:prstGeom prst="roundRect">
            <a:avLst>
              <a:gd name="adj" fmla="val 8140"/>
            </a:avLst>
          </a:prstGeom>
          <a:solidFill>
            <a:srgbClr val="F6AE2D">
              <a:alpha val="10000"/>
            </a:srgbClr>
          </a:solidFill>
          <a:ln w="12700">
            <a:solidFill>
              <a:srgbClr val="C9922A">
                <a:alpha val="50000"/>
              </a:srgbClr>
            </a:solidFill>
            <a:prstDash val="solid"/>
          </a:ln>
        </p:spPr>
      </p:sp>
      <p:sp>
        <p:nvSpPr>
          <p:cNvPr id="9" name="Text 7"/>
          <p:cNvSpPr/>
          <p:nvPr/>
        </p:nvSpPr>
        <p:spPr>
          <a:xfrm>
            <a:off x="4828032" y="1645920"/>
            <a:ext cx="3840480" cy="402336"/>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Model Selection</a:t>
            </a:r>
            <a:endParaRPr lang="en-US" sz="1600" dirty="0"/>
          </a:p>
        </p:txBody>
      </p:sp>
      <p:sp>
        <p:nvSpPr>
          <p:cNvPr id="10" name="Text 8"/>
          <p:cNvSpPr/>
          <p:nvPr/>
        </p:nvSpPr>
        <p:spPr>
          <a:xfrm>
            <a:off x="4828032" y="2066544"/>
            <a:ext cx="3840480" cy="877824"/>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Switch between models by language or task — larger for accuracy, smaller for speed</a:t>
            </a:r>
            <a:endParaRPr lang="en-US" sz="1100" dirty="0"/>
          </a:p>
        </p:txBody>
      </p:sp>
      <p:sp>
        <p:nvSpPr>
          <p:cNvPr id="11" name="Shape 9"/>
          <p:cNvSpPr/>
          <p:nvPr/>
        </p:nvSpPr>
        <p:spPr>
          <a:xfrm>
            <a:off x="256032" y="3218688"/>
            <a:ext cx="4187952" cy="1572768"/>
          </a:xfrm>
          <a:prstGeom prst="roundRect">
            <a:avLst>
              <a:gd name="adj" fmla="val 8140"/>
            </a:avLst>
          </a:prstGeom>
          <a:solidFill>
            <a:srgbClr val="F6AE2D">
              <a:alpha val="10000"/>
            </a:srgbClr>
          </a:solidFill>
          <a:ln w="12700">
            <a:solidFill>
              <a:srgbClr val="C9922A">
                <a:alpha val="50000"/>
              </a:srgbClr>
            </a:solidFill>
            <a:prstDash val="solid"/>
          </a:ln>
        </p:spPr>
      </p:sp>
      <p:sp>
        <p:nvSpPr>
          <p:cNvPr id="12" name="Text 10"/>
          <p:cNvSpPr/>
          <p:nvPr/>
        </p:nvSpPr>
        <p:spPr>
          <a:xfrm>
            <a:off x="438912" y="3383280"/>
            <a:ext cx="3840480" cy="402336"/>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Translation &amp; Knowledge Extension</a:t>
            </a:r>
            <a:endParaRPr lang="en-US" sz="1600" dirty="0"/>
          </a:p>
        </p:txBody>
      </p:sp>
      <p:sp>
        <p:nvSpPr>
          <p:cNvPr id="13" name="Text 11"/>
          <p:cNvSpPr/>
          <p:nvPr/>
        </p:nvSpPr>
        <p:spPr>
          <a:xfrm>
            <a:off x="438912" y="3803904"/>
            <a:ext cx="3840480" cy="877824"/>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In-page translation and contextual information lookup without leaving the article</a:t>
            </a:r>
            <a:endParaRPr lang="en-US" sz="1100" dirty="0"/>
          </a:p>
        </p:txBody>
      </p:sp>
      <p:sp>
        <p:nvSpPr>
          <p:cNvPr id="14" name="Shape 12"/>
          <p:cNvSpPr/>
          <p:nvPr/>
        </p:nvSpPr>
        <p:spPr>
          <a:xfrm>
            <a:off x="4645152" y="3218688"/>
            <a:ext cx="4187952" cy="1572768"/>
          </a:xfrm>
          <a:prstGeom prst="roundRect">
            <a:avLst>
              <a:gd name="adj" fmla="val 8140"/>
            </a:avLst>
          </a:prstGeom>
          <a:solidFill>
            <a:srgbClr val="F6AE2D">
              <a:alpha val="10000"/>
            </a:srgbClr>
          </a:solidFill>
          <a:ln w="12700">
            <a:solidFill>
              <a:srgbClr val="C9922A">
                <a:alpha val="50000"/>
              </a:srgbClr>
            </a:solidFill>
            <a:prstDash val="solid"/>
          </a:ln>
        </p:spPr>
      </p:sp>
      <p:sp>
        <p:nvSpPr>
          <p:cNvPr id="15" name="Text 13"/>
          <p:cNvSpPr/>
          <p:nvPr/>
        </p:nvSpPr>
        <p:spPr>
          <a:xfrm>
            <a:off x="4828032" y="3383280"/>
            <a:ext cx="3840480" cy="402336"/>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Hardware-Accelerated Gaze</a:t>
            </a:r>
            <a:endParaRPr lang="en-US" sz="1600" dirty="0"/>
          </a:p>
        </p:txBody>
      </p:sp>
      <p:sp>
        <p:nvSpPr>
          <p:cNvPr id="16" name="Text 14"/>
          <p:cNvSpPr/>
          <p:nvPr/>
        </p:nvSpPr>
        <p:spPr>
          <a:xfrm>
            <a:off x="4828032" y="3803904"/>
            <a:ext cx="3840480" cy="877824"/>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On-chip gaze processing — only (x,y) coordinates reach the app, no raw video exposure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5FF"/>
        </a:solidFill>
      </p:bgPr>
    </p:bg>
    <p:spTree>
      <p:nvGrpSpPr>
        <p:cNvPr id="1" name=""/>
        <p:cNvGrpSpPr/>
        <p:nvPr/>
      </p:nvGrpSpPr>
      <p:grpSpPr>
        <a:xfrm>
          <a:off x="0" y="0"/>
          <a:ext cx="0" cy="0"/>
          <a:chOff x="0" y="0"/>
          <a:chExt cx="0" cy="0"/>
        </a:xfrm>
      </p:grpSpPr>
      <p:sp>
        <p:nvSpPr>
          <p:cNvPr id="2" name="Text 0"/>
          <p:cNvSpPr/>
          <p:nvPr/>
        </p:nvSpPr>
        <p:spPr>
          <a:xfrm>
            <a:off x="3383280" y="201168"/>
            <a:ext cx="2011680" cy="256032"/>
          </a:xfrm>
          <a:prstGeom prst="roundRect">
            <a:avLst>
              <a:gd name="adj" fmla="val 178571"/>
            </a:avLst>
          </a:prstGeom>
          <a:solidFill>
            <a:srgbClr val="00B4D8"/>
          </a:solidFill>
          <a:ln/>
        </p:spPr>
        <p:txBody>
          <a:bodyPr wrap="square" rtlCol="0" anchor="ctr"/>
          <a:lstStyle/>
          <a:p>
            <a:pPr algn="ctr" indent="0" marL="0">
              <a:buNone/>
            </a:pPr>
            <a:r>
              <a:rPr lang="en-US" sz="900" b="1" dirty="0">
                <a:solidFill>
                  <a:srgbClr val="0D1F3C"/>
                </a:solidFill>
                <a:latin typeface="Calibri" pitchFamily="34" charset="0"/>
                <a:ea typeface="Calibri" pitchFamily="34" charset="-122"/>
                <a:cs typeface="Calibri" pitchFamily="34" charset="-120"/>
              </a:rPr>
              <a:t>6 · POST-LAUNCH VALIDATION</a:t>
            </a:r>
            <a:endParaRPr lang="en-US" sz="900" dirty="0"/>
          </a:p>
        </p:txBody>
      </p:sp>
      <p:sp>
        <p:nvSpPr>
          <p:cNvPr id="3" name="Text 1"/>
          <p:cNvSpPr/>
          <p:nvPr/>
        </p:nvSpPr>
        <p:spPr>
          <a:xfrm>
            <a:off x="457200" y="530352"/>
            <a:ext cx="8229600" cy="530352"/>
          </a:xfrm>
          <a:prstGeom prst="rect">
            <a:avLst/>
          </a:prstGeom>
          <a:noFill/>
          <a:ln/>
        </p:spPr>
        <p:txBody>
          <a:bodyPr wrap="square" rtlCol="0" anchor="ctr"/>
          <a:lstStyle/>
          <a:p>
            <a:pPr algn="ctr" indent="0" marL="0">
              <a:buNone/>
            </a:pPr>
            <a:r>
              <a:rPr lang="en-US" sz="3000" b="1" dirty="0">
                <a:solidFill>
                  <a:srgbClr val="0D1F3C"/>
                </a:solidFill>
                <a:latin typeface="Cambria" pitchFamily="34" charset="0"/>
                <a:ea typeface="Cambria" pitchFamily="34" charset="-122"/>
                <a:cs typeface="Cambria" pitchFamily="34" charset="-120"/>
              </a:rPr>
              <a:t>Proving Real-World Impact</a:t>
            </a:r>
            <a:endParaRPr lang="en-US" sz="3000" dirty="0"/>
          </a:p>
        </p:txBody>
      </p:sp>
      <p:sp>
        <p:nvSpPr>
          <p:cNvPr id="4" name="Text 2"/>
          <p:cNvSpPr/>
          <p:nvPr/>
        </p:nvSpPr>
        <p:spPr>
          <a:xfrm>
            <a:off x="457200" y="1042416"/>
            <a:ext cx="8229600" cy="256032"/>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How we confirm the solution works after official HP shipment — measurable, time-bound, independent</a:t>
            </a:r>
            <a:endParaRPr lang="en-US" sz="1000" dirty="0"/>
          </a:p>
        </p:txBody>
      </p:sp>
      <p:sp>
        <p:nvSpPr>
          <p:cNvPr id="5" name="Shape 3"/>
          <p:cNvSpPr/>
          <p:nvPr/>
        </p:nvSpPr>
        <p:spPr>
          <a:xfrm>
            <a:off x="256032" y="1408176"/>
            <a:ext cx="4187952" cy="1664208"/>
          </a:xfrm>
          <a:prstGeom prst="roundRect">
            <a:avLst>
              <a:gd name="adj" fmla="val 7692"/>
            </a:avLst>
          </a:prstGeom>
          <a:solidFill>
            <a:srgbClr val="FFFFFF"/>
          </a:solidFill>
          <a:ln w="25400">
            <a:solidFill>
              <a:srgbClr val="00B4D8"/>
            </a:solidFill>
            <a:prstDash val="solid"/>
          </a:ln>
        </p:spPr>
      </p:sp>
      <p:sp>
        <p:nvSpPr>
          <p:cNvPr id="6" name="Shape 4"/>
          <p:cNvSpPr/>
          <p:nvPr/>
        </p:nvSpPr>
        <p:spPr>
          <a:xfrm>
            <a:off x="256032" y="1408176"/>
            <a:ext cx="54864" cy="1664208"/>
          </a:xfrm>
          <a:prstGeom prst="rect">
            <a:avLst/>
          </a:prstGeom>
          <a:solidFill>
            <a:srgbClr val="00B4D8"/>
          </a:solidFill>
          <a:ln w="12700">
            <a:solidFill>
              <a:srgbClr val="00B4D8"/>
            </a:solidFill>
            <a:prstDash val="solid"/>
          </a:ln>
        </p:spPr>
      </p:sp>
      <p:sp>
        <p:nvSpPr>
          <p:cNvPr id="7" name="Text 5"/>
          <p:cNvSpPr/>
          <p:nvPr/>
        </p:nvSpPr>
        <p:spPr>
          <a:xfrm>
            <a:off x="438912" y="1499616"/>
            <a:ext cx="3840480" cy="201168"/>
          </a:xfrm>
          <a:prstGeom prst="rect">
            <a:avLst/>
          </a:prstGeom>
          <a:noFill/>
          <a:ln/>
        </p:spPr>
        <p:txBody>
          <a:bodyPr wrap="square" rtlCol="0" anchor="ctr"/>
          <a:lstStyle/>
          <a:p>
            <a:pPr indent="0" marL="0">
              <a:buNone/>
            </a:pPr>
            <a:r>
              <a:rPr lang="en-US" sz="750" b="1" spc="120" kern="0" dirty="0">
                <a:solidFill>
                  <a:srgbClr val="00B4D8"/>
                </a:solidFill>
                <a:latin typeface="Calibri" pitchFamily="34" charset="0"/>
                <a:ea typeface="Calibri" pitchFamily="34" charset="-122"/>
                <a:cs typeface="Calibri" pitchFamily="34" charset="-120"/>
              </a:rPr>
              <a:t>MONTH 1–6 · ADOPTION STUDY</a:t>
            </a:r>
            <a:endParaRPr lang="en-US" sz="750" dirty="0"/>
          </a:p>
        </p:txBody>
      </p:sp>
      <p:sp>
        <p:nvSpPr>
          <p:cNvPr id="8" name="Text 6"/>
          <p:cNvSpPr/>
          <p:nvPr/>
        </p:nvSpPr>
        <p:spPr>
          <a:xfrm>
            <a:off x="438912" y="1719072"/>
            <a:ext cx="3840480" cy="384048"/>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Usage Retention</a:t>
            </a:r>
            <a:endParaRPr lang="en-US" sz="1600" dirty="0"/>
          </a:p>
        </p:txBody>
      </p:sp>
      <p:sp>
        <p:nvSpPr>
          <p:cNvPr id="9" name="Text 7"/>
          <p:cNvSpPr/>
          <p:nvPr/>
        </p:nvSpPr>
        <p:spPr>
          <a:xfrm>
            <a:off x="438912" y="2103120"/>
            <a:ext cx="3840480" cy="89611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Track weekly active use among registered users — target &gt;65% WAU at 6 months, compared to current 41% baseline for opt-in accessibility tools</a:t>
            </a:r>
            <a:endParaRPr lang="en-US" sz="1000" dirty="0"/>
          </a:p>
        </p:txBody>
      </p:sp>
      <p:sp>
        <p:nvSpPr>
          <p:cNvPr id="10" name="Shape 8"/>
          <p:cNvSpPr/>
          <p:nvPr/>
        </p:nvSpPr>
        <p:spPr>
          <a:xfrm>
            <a:off x="4645152" y="1408176"/>
            <a:ext cx="4187952" cy="1664208"/>
          </a:xfrm>
          <a:prstGeom prst="roundRect">
            <a:avLst>
              <a:gd name="adj" fmla="val 7692"/>
            </a:avLst>
          </a:prstGeom>
          <a:solidFill>
            <a:srgbClr val="FFFFFF"/>
          </a:solidFill>
          <a:ln w="25400">
            <a:solidFill>
              <a:srgbClr val="06D6A0"/>
            </a:solidFill>
            <a:prstDash val="solid"/>
          </a:ln>
        </p:spPr>
      </p:sp>
      <p:sp>
        <p:nvSpPr>
          <p:cNvPr id="11" name="Shape 9"/>
          <p:cNvSpPr/>
          <p:nvPr/>
        </p:nvSpPr>
        <p:spPr>
          <a:xfrm>
            <a:off x="4645152" y="1408176"/>
            <a:ext cx="54864" cy="1664208"/>
          </a:xfrm>
          <a:prstGeom prst="rect">
            <a:avLst/>
          </a:prstGeom>
          <a:solidFill>
            <a:srgbClr val="06D6A0"/>
          </a:solidFill>
          <a:ln w="12700">
            <a:solidFill>
              <a:srgbClr val="06D6A0"/>
            </a:solidFill>
            <a:prstDash val="solid"/>
          </a:ln>
        </p:spPr>
      </p:sp>
      <p:sp>
        <p:nvSpPr>
          <p:cNvPr id="12" name="Text 10"/>
          <p:cNvSpPr/>
          <p:nvPr/>
        </p:nvSpPr>
        <p:spPr>
          <a:xfrm>
            <a:off x="4828032" y="1499616"/>
            <a:ext cx="3840480" cy="201168"/>
          </a:xfrm>
          <a:prstGeom prst="rect">
            <a:avLst/>
          </a:prstGeom>
          <a:noFill/>
          <a:ln/>
        </p:spPr>
        <p:txBody>
          <a:bodyPr wrap="square" rtlCol="0" anchor="ctr"/>
          <a:lstStyle/>
          <a:p>
            <a:pPr indent="0" marL="0">
              <a:buNone/>
            </a:pPr>
            <a:r>
              <a:rPr lang="en-US" sz="750" b="1" spc="120" kern="0" dirty="0">
                <a:solidFill>
                  <a:srgbClr val="06D6A0"/>
                </a:solidFill>
                <a:latin typeface="Calibri" pitchFamily="34" charset="0"/>
                <a:ea typeface="Calibri" pitchFamily="34" charset="-122"/>
                <a:cs typeface="Calibri" pitchFamily="34" charset="-120"/>
              </a:rPr>
              <a:t>MONTH 3 · CONTROLLED STUDY</a:t>
            </a:r>
            <a:endParaRPr lang="en-US" sz="750" dirty="0"/>
          </a:p>
        </p:txBody>
      </p:sp>
      <p:sp>
        <p:nvSpPr>
          <p:cNvPr id="13" name="Text 11"/>
          <p:cNvSpPr/>
          <p:nvPr/>
        </p:nvSpPr>
        <p:spPr>
          <a:xfrm>
            <a:off x="4828032" y="1719072"/>
            <a:ext cx="3840480" cy="384048"/>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Reading Speed Benchmark</a:t>
            </a:r>
            <a:endParaRPr lang="en-US" sz="1600" dirty="0"/>
          </a:p>
        </p:txBody>
      </p:sp>
      <p:sp>
        <p:nvSpPr>
          <p:cNvPr id="14" name="Text 12"/>
          <p:cNvSpPr/>
          <p:nvPr/>
        </p:nvSpPr>
        <p:spPr>
          <a:xfrm>
            <a:off x="4828032" y="2103120"/>
            <a:ext cx="3840480" cy="89611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Repeat the 3-condition reading test with n=50 users (vision-impaired &amp; general) — target: replicate ≥50% time improvement with AI Summary enabled</a:t>
            </a:r>
            <a:endParaRPr lang="en-US" sz="1000" dirty="0"/>
          </a:p>
        </p:txBody>
      </p:sp>
      <p:sp>
        <p:nvSpPr>
          <p:cNvPr id="15" name="Shape 13"/>
          <p:cNvSpPr/>
          <p:nvPr/>
        </p:nvSpPr>
        <p:spPr>
          <a:xfrm>
            <a:off x="256032" y="3218688"/>
            <a:ext cx="4187952" cy="1664208"/>
          </a:xfrm>
          <a:prstGeom prst="roundRect">
            <a:avLst>
              <a:gd name="adj" fmla="val 7692"/>
            </a:avLst>
          </a:prstGeom>
          <a:solidFill>
            <a:srgbClr val="FFFFFF"/>
          </a:solidFill>
          <a:ln w="25400">
            <a:solidFill>
              <a:srgbClr val="F6AE2D"/>
            </a:solidFill>
            <a:prstDash val="solid"/>
          </a:ln>
        </p:spPr>
      </p:sp>
      <p:sp>
        <p:nvSpPr>
          <p:cNvPr id="16" name="Shape 14"/>
          <p:cNvSpPr/>
          <p:nvPr/>
        </p:nvSpPr>
        <p:spPr>
          <a:xfrm>
            <a:off x="256032" y="3218688"/>
            <a:ext cx="54864" cy="1664208"/>
          </a:xfrm>
          <a:prstGeom prst="rect">
            <a:avLst/>
          </a:prstGeom>
          <a:solidFill>
            <a:srgbClr val="F6AE2D"/>
          </a:solidFill>
          <a:ln w="12700">
            <a:solidFill>
              <a:srgbClr val="F6AE2D"/>
            </a:solidFill>
            <a:prstDash val="solid"/>
          </a:ln>
        </p:spPr>
      </p:sp>
      <p:sp>
        <p:nvSpPr>
          <p:cNvPr id="17" name="Text 15"/>
          <p:cNvSpPr/>
          <p:nvPr/>
        </p:nvSpPr>
        <p:spPr>
          <a:xfrm>
            <a:off x="438912" y="3310128"/>
            <a:ext cx="3840480" cy="201168"/>
          </a:xfrm>
          <a:prstGeom prst="rect">
            <a:avLst/>
          </a:prstGeom>
          <a:noFill/>
          <a:ln/>
        </p:spPr>
        <p:txBody>
          <a:bodyPr wrap="square" rtlCol="0" anchor="ctr"/>
          <a:lstStyle/>
          <a:p>
            <a:pPr indent="0" marL="0">
              <a:buNone/>
            </a:pPr>
            <a:r>
              <a:rPr lang="en-US" sz="750" b="1" spc="120" kern="0" dirty="0">
                <a:solidFill>
                  <a:srgbClr val="F6AE2D"/>
                </a:solidFill>
                <a:latin typeface="Calibri" pitchFamily="34" charset="0"/>
                <a:ea typeface="Calibri" pitchFamily="34" charset="-122"/>
                <a:cs typeface="Calibri" pitchFamily="34" charset="-120"/>
              </a:rPr>
              <a:t>MONTH 6 · CLINICAL PARTNERSHIP</a:t>
            </a:r>
            <a:endParaRPr lang="en-US" sz="750" dirty="0"/>
          </a:p>
        </p:txBody>
      </p:sp>
      <p:sp>
        <p:nvSpPr>
          <p:cNvPr id="18" name="Text 16"/>
          <p:cNvSpPr/>
          <p:nvPr/>
        </p:nvSpPr>
        <p:spPr>
          <a:xfrm>
            <a:off x="438912" y="3529584"/>
            <a:ext cx="3840480" cy="384048"/>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Accessibility Assessment</a:t>
            </a:r>
            <a:endParaRPr lang="en-US" sz="1600" dirty="0"/>
          </a:p>
        </p:txBody>
      </p:sp>
      <p:sp>
        <p:nvSpPr>
          <p:cNvPr id="19" name="Text 17"/>
          <p:cNvSpPr/>
          <p:nvPr/>
        </p:nvSpPr>
        <p:spPr>
          <a:xfrm>
            <a:off x="438912" y="3913632"/>
            <a:ext cx="3840480" cy="89611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Co-study with ophthalmology clinic — SUS usability score from n=20 glaucoma patients, target SUS ≥75 (Good), plus self-reported eye strain NPS</a:t>
            </a:r>
            <a:endParaRPr lang="en-US" sz="1000" dirty="0"/>
          </a:p>
        </p:txBody>
      </p:sp>
      <p:sp>
        <p:nvSpPr>
          <p:cNvPr id="20" name="Shape 18"/>
          <p:cNvSpPr/>
          <p:nvPr/>
        </p:nvSpPr>
        <p:spPr>
          <a:xfrm>
            <a:off x="4645152" y="3218688"/>
            <a:ext cx="4187952" cy="1664208"/>
          </a:xfrm>
          <a:prstGeom prst="roundRect">
            <a:avLst>
              <a:gd name="adj" fmla="val 7692"/>
            </a:avLst>
          </a:prstGeom>
          <a:solidFill>
            <a:srgbClr val="FFFFFF"/>
          </a:solidFill>
          <a:ln w="25400">
            <a:solidFill>
              <a:srgbClr val="0077B6"/>
            </a:solidFill>
            <a:prstDash val="solid"/>
          </a:ln>
        </p:spPr>
      </p:sp>
      <p:sp>
        <p:nvSpPr>
          <p:cNvPr id="21" name="Shape 19"/>
          <p:cNvSpPr/>
          <p:nvPr/>
        </p:nvSpPr>
        <p:spPr>
          <a:xfrm>
            <a:off x="4645152" y="3218688"/>
            <a:ext cx="54864" cy="1664208"/>
          </a:xfrm>
          <a:prstGeom prst="rect">
            <a:avLst/>
          </a:prstGeom>
          <a:solidFill>
            <a:srgbClr val="0077B6"/>
          </a:solidFill>
          <a:ln w="12700">
            <a:solidFill>
              <a:srgbClr val="0077B6"/>
            </a:solidFill>
            <a:prstDash val="solid"/>
          </a:ln>
        </p:spPr>
      </p:sp>
      <p:sp>
        <p:nvSpPr>
          <p:cNvPr id="22" name="Text 20"/>
          <p:cNvSpPr/>
          <p:nvPr/>
        </p:nvSpPr>
        <p:spPr>
          <a:xfrm>
            <a:off x="4828032" y="3310128"/>
            <a:ext cx="3840480" cy="201168"/>
          </a:xfrm>
          <a:prstGeom prst="rect">
            <a:avLst/>
          </a:prstGeom>
          <a:noFill/>
          <a:ln/>
        </p:spPr>
        <p:txBody>
          <a:bodyPr wrap="square" rtlCol="0" anchor="ctr"/>
          <a:lstStyle/>
          <a:p>
            <a:pPr indent="0" marL="0">
              <a:buNone/>
            </a:pPr>
            <a:r>
              <a:rPr lang="en-US" sz="750" b="1" spc="120" kern="0" dirty="0">
                <a:solidFill>
                  <a:srgbClr val="0077B6"/>
                </a:solidFill>
                <a:latin typeface="Calibri" pitchFamily="34" charset="0"/>
                <a:ea typeface="Calibri" pitchFamily="34" charset="-122"/>
                <a:cs typeface="Calibri" pitchFamily="34" charset="-120"/>
              </a:rPr>
              <a:t>ONGOING · OEM TELEMETRY</a:t>
            </a:r>
            <a:endParaRPr lang="en-US" sz="750" dirty="0"/>
          </a:p>
        </p:txBody>
      </p:sp>
      <p:sp>
        <p:nvSpPr>
          <p:cNvPr id="23" name="Text 21"/>
          <p:cNvSpPr/>
          <p:nvPr/>
        </p:nvSpPr>
        <p:spPr>
          <a:xfrm>
            <a:off x="4828032" y="3529584"/>
            <a:ext cx="3840480" cy="384048"/>
          </a:xfrm>
          <a:prstGeom prst="rect">
            <a:avLst/>
          </a:prstGeom>
          <a:noFill/>
          <a:ln/>
        </p:spPr>
        <p:txBody>
          <a:bodyPr wrap="square" rtlCol="0" anchor="ctr"/>
          <a:lstStyle/>
          <a:p>
            <a:pPr indent="0" marL="0">
              <a:buNone/>
            </a:pPr>
            <a:r>
              <a:rPr lang="en-US" sz="1600" b="1" dirty="0">
                <a:solidFill>
                  <a:srgbClr val="0D1F3C"/>
                </a:solidFill>
                <a:latin typeface="Cambria" pitchFamily="34" charset="0"/>
                <a:ea typeface="Cambria" pitchFamily="34" charset="-122"/>
                <a:cs typeface="Cambria" pitchFamily="34" charset="-120"/>
              </a:rPr>
              <a:t>Feature Usage Signal</a:t>
            </a:r>
            <a:endParaRPr lang="en-US" sz="1600" dirty="0"/>
          </a:p>
        </p:txBody>
      </p:sp>
      <p:sp>
        <p:nvSpPr>
          <p:cNvPr id="24" name="Text 22"/>
          <p:cNvSpPr/>
          <p:nvPr/>
        </p:nvSpPr>
        <p:spPr>
          <a:xfrm>
            <a:off x="4828032" y="3913632"/>
            <a:ext cx="3840480" cy="89611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Opt-in anonymised telemetry via HP Privacy Dashboard — identify which features drive retention vs. churn, informing the next hardware generation spec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2026-07-22T18:44:06Z</dcterms:created>
  <dcterms:modified xsi:type="dcterms:W3CDTF">2026-07-22T18:44:06Z</dcterms:modified>
</cp:coreProperties>
</file>