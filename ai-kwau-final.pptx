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1A3A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29350" y="1714500"/>
            <a:ext cx="1714500" cy="1714500"/>
          </a:xfrm>
          <a:prstGeom prst="ellipse">
            <a:avLst/>
          </a:prstGeom>
          <a:ln w="635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19850" y="1905000"/>
            <a:ext cx="1333500" cy="1333500"/>
          </a:xfrm>
          <a:prstGeom prst="ellipse">
            <a:avLst/>
          </a:prstGeom>
          <a:ln w="635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10350" y="2095500"/>
            <a:ext cx="952500" cy="952500"/>
          </a:xfrm>
          <a:prstGeom prst="ellipse">
            <a:avLst/>
          </a:prstGeom>
          <a:ln w="6350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24600" y="2228850"/>
            <a:ext cx="1524000" cy="685800"/>
          </a:xfrm>
          <a:prstGeom prst="ellipse">
            <a:avLst/>
          </a:prstGeom>
          <a:ln w="15875">
            <a:solidFill>
              <a:srgbClr val="00B4D8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19900" y="2305050"/>
            <a:ext cx="533400" cy="533400"/>
          </a:xfrm>
          <a:prstGeom prst="ellipse">
            <a:avLst/>
          </a:prstGeom>
          <a:solidFill>
            <a:srgbClr val="0077B6">
              <a:alpha val="20000"/>
            </a:srgbClr>
          </a:solidFill>
          <a:ln w="19050">
            <a:solidFill>
              <a:srgbClr val="00B4D8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2300" y="2457450"/>
            <a:ext cx="228600" cy="228600"/>
          </a:xfrm>
          <a:prstGeom prst="ellipse">
            <a:avLst/>
          </a:prstGeom>
          <a:solidFill>
            <a:srgbClr val="00B4D8">
              <a:alpha val="42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8500" y="2533650"/>
            <a:ext cx="76200" cy="762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400" y="514350"/>
            <a:ext cx="1857375" cy="228600"/>
          </a:xfrm>
          <a:prstGeom prst="roundRect">
            <a:avLst>
              <a:gd name="adj" fmla="val 80000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3400" y="514350"/>
            <a:ext cx="18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400" y="87630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pPr indent="0" marL="0">
              <a:buNone/>
            </a:pPr>
            <a:r>
              <a:rPr lang="en-US" sz="5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</a:t>
            </a:r>
            <a:pPr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Kwau</a:t>
            </a:r>
            <a:endParaRPr lang="en-US" sz="5100" dirty="0"/>
          </a:p>
        </p:txBody>
      </p:sp>
      <p:sp>
        <p:nvSpPr>
          <p:cNvPr id="13" name="Text 11"/>
          <p:cNvSpPr/>
          <p:nvPr/>
        </p:nvSpPr>
        <p:spPr>
          <a:xfrm>
            <a:off x="3295650" y="87630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愛看有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3400" y="1714500"/>
            <a:ext cx="4381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× AI — see clearly, understand instantly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3400" y="2133600"/>
            <a:ext cx="4191000" cy="1828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400" y="230505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33400" y="2514600"/>
            <a:ext cx="4381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3C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 Chen  ·  Ava Lu  ·  Thomas Chang  ·  Yorke Lee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1950" y="419100"/>
            <a:ext cx="1966912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1950" y="419100"/>
            <a:ext cx="1966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 Statement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1950" y="723900"/>
            <a:ext cx="2667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1950" y="1257300"/>
            <a:ext cx="2667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2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Vision-Impaired PC Users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1950" y="1600200"/>
            <a:ext cx="2457450" cy="876300"/>
          </a:xfrm>
          <a:prstGeom prst="roundRect">
            <a:avLst>
              <a:gd name="adj" fmla="val 12522"/>
            </a:avLst>
          </a:prstGeom>
          <a:solidFill>
            <a:srgbClr val="00B4D8">
              <a:alpha val="10000"/>
            </a:srgbClr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250" y="1666875"/>
            <a:ext cx="952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504950" y="1743075"/>
            <a:ext cx="12192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3C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any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3C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tool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1950" y="257175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26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n=17 · Avg PC experience 3.4 / 5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672840" y="304800"/>
            <a:ext cx="5375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DAILY PAIN POINTS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72840" y="533400"/>
            <a:ext cx="5375910" cy="495300"/>
          </a:xfrm>
          <a:prstGeom prst="roundRect">
            <a:avLst>
              <a:gd name="adj" fmla="val 18462"/>
            </a:avLst>
          </a:prstGeom>
          <a:solidFill>
            <a:srgbClr val="F4F6FA"/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2840" y="533400"/>
            <a:ext cx="47625" cy="4953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06190" y="533400"/>
            <a:ext cx="7429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71%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06290" y="533400"/>
            <a:ext cx="438531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strain from long screen time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72840" y="1143000"/>
            <a:ext cx="5375910" cy="495300"/>
          </a:xfrm>
          <a:prstGeom prst="roundRect">
            <a:avLst>
              <a:gd name="adj" fmla="val 18462"/>
            </a:avLst>
          </a:prstGeom>
          <a:solidFill>
            <a:srgbClr val="F4F6FA"/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2840" y="1143000"/>
            <a:ext cx="47625" cy="4953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06190" y="1143000"/>
            <a:ext cx="7429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65%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06290" y="1143000"/>
            <a:ext cx="438531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too small to read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72840" y="1752600"/>
            <a:ext cx="5375910" cy="495300"/>
          </a:xfrm>
          <a:prstGeom prst="roundRect">
            <a:avLst>
              <a:gd name="adj" fmla="val 18462"/>
            </a:avLst>
          </a:prstGeom>
          <a:solidFill>
            <a:srgbClr val="F4F6FA"/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2840" y="1752600"/>
            <a:ext cx="47625" cy="4953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06190" y="1752600"/>
            <a:ext cx="7429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06290" y="1752600"/>
            <a:ext cx="438531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screen contrast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72840" y="2362200"/>
            <a:ext cx="5375910" cy="495300"/>
          </a:xfrm>
          <a:prstGeom prst="roundRect">
            <a:avLst>
              <a:gd name="adj" fmla="val 18462"/>
            </a:avLst>
          </a:prstGeom>
          <a:solidFill>
            <a:srgbClr val="F4F6FA"/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72840" y="2362200"/>
            <a:ext cx="47625" cy="4953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06190" y="2362200"/>
            <a:ext cx="7429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06290" y="2362200"/>
            <a:ext cx="438531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hard to track and locate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72840" y="2971800"/>
            <a:ext cx="5375910" cy="495300"/>
          </a:xfrm>
          <a:prstGeom prst="roundRect">
            <a:avLst>
              <a:gd name="adj" fmla="val 18462"/>
            </a:avLst>
          </a:prstGeom>
          <a:solidFill>
            <a:srgbClr val="F4F6FA"/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72840" y="2971800"/>
            <a:ext cx="47625" cy="4953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06190" y="2971800"/>
            <a:ext cx="7429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18%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606290" y="2971800"/>
            <a:ext cx="438531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find buttons or links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209550"/>
            <a:ext cx="1966912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9100" y="209550"/>
            <a:ext cx="1966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Proposed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9100" y="495300"/>
            <a:ext cx="8286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Extension — Active Perception Loop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9100" y="971550"/>
            <a:ext cx="2362200" cy="3733800"/>
          </a:xfrm>
          <a:prstGeom prst="roundRect">
            <a:avLst>
              <a:gd name="adj" fmla="val 4645"/>
            </a:avLst>
          </a:prstGeom>
          <a:solidFill>
            <a:srgbClr val="FFFFFF"/>
          </a:solidFill>
          <a:ln w="9525">
            <a:solidFill>
              <a:srgbClr val="0077B6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2450" y="108585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 Sense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14350" y="1466850"/>
            <a:ext cx="2171700" cy="285750"/>
          </a:xfrm>
          <a:prstGeom prst="roundRect">
            <a:avLst>
              <a:gd name="adj" fmla="val 25600"/>
            </a:avLst>
          </a:prstGeom>
          <a:solidFill>
            <a:srgbClr val="0077B6">
              <a:alpha val="7000"/>
            </a:srgbClr>
          </a:solidFill>
          <a:ln w="9525">
            <a:solidFill>
              <a:srgbClr val="0077B6">
                <a:alpha val="3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14668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Eye Position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14350" y="1809750"/>
            <a:ext cx="2171700" cy="285750"/>
          </a:xfrm>
          <a:prstGeom prst="roundRect">
            <a:avLst>
              <a:gd name="adj" fmla="val 25600"/>
            </a:avLst>
          </a:prstGeom>
          <a:solidFill>
            <a:srgbClr val="0077B6">
              <a:alpha val="7000"/>
            </a:srgbClr>
          </a:solidFill>
          <a:ln w="9525">
            <a:solidFill>
              <a:srgbClr val="0077B6">
                <a:alpha val="3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550" y="18097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 Face Angle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4350" y="2152650"/>
            <a:ext cx="2171700" cy="285750"/>
          </a:xfrm>
          <a:prstGeom prst="roundRect">
            <a:avLst>
              <a:gd name="adj" fmla="val 25600"/>
            </a:avLst>
          </a:prstGeom>
          <a:solidFill>
            <a:srgbClr val="C9922A">
              <a:alpha val="7000"/>
            </a:srgbClr>
          </a:solidFill>
          <a:ln w="9525">
            <a:solidFill>
              <a:srgbClr val="C9922A">
                <a:alpha val="3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550" y="21526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Gaze Heatmap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4350" y="2495550"/>
            <a:ext cx="2171700" cy="285750"/>
          </a:xfrm>
          <a:prstGeom prst="roundRect">
            <a:avLst>
              <a:gd name="adj" fmla="val 25600"/>
            </a:avLst>
          </a:prstGeom>
          <a:solidFill>
            <a:srgbClr val="06D6A0">
              <a:alpha val="7000"/>
            </a:srgbClr>
          </a:solidFill>
          <a:ln w="9525">
            <a:solidFill>
              <a:srgbClr val="06D6A0">
                <a:alpha val="3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0550" y="24955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Mouse Movement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01303" y="2465070"/>
            <a:ext cx="933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914650" y="971550"/>
            <a:ext cx="2762250" cy="3733800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0077B6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8000" y="1085850"/>
            <a:ext cx="2495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Decide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009900" y="1466850"/>
            <a:ext cx="2571750" cy="647700"/>
          </a:xfrm>
          <a:prstGeom prst="roundRect">
            <a:avLst>
              <a:gd name="adj" fmla="val 12706"/>
            </a:avLst>
          </a:prstGeom>
          <a:solidFill>
            <a:srgbClr val="00B4D8">
              <a:alpha val="8000"/>
            </a:srgbClr>
          </a:solidFill>
          <a:ln w="9525">
            <a:solidFill>
              <a:srgbClr val="00B4D8">
                <a:alpha val="2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86100" y="1524000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Real-time Signal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86100" y="1714500"/>
            <a:ext cx="2495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threshold trigger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Auto-adjusted by outcome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09900" y="2190750"/>
            <a:ext cx="2571750" cy="647700"/>
          </a:xfrm>
          <a:prstGeom prst="roundRect">
            <a:avLst>
              <a:gd name="adj" fmla="val 12706"/>
            </a:avLst>
          </a:prstGeom>
          <a:solidFill>
            <a:srgbClr val="C9922A">
              <a:alpha val="10000"/>
            </a:srgbClr>
          </a:solidFill>
          <a:ln w="9525">
            <a:solidFill>
              <a:srgbClr val="C9922A">
                <a:alpha val="3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86100" y="2247900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Pattern Learning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086100" y="2438400"/>
            <a:ext cx="2495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zones on visual map → path fork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96903" y="2465070"/>
            <a:ext cx="933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810250" y="971550"/>
            <a:ext cx="2914650" cy="37338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9525">
            <a:solidFill>
              <a:srgbClr val="0077B6">
                <a:alpha val="2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085850"/>
            <a:ext cx="26479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 Act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905500" y="1466850"/>
            <a:ext cx="2724150" cy="552450"/>
          </a:xfrm>
          <a:prstGeom prst="roundRect">
            <a:avLst>
              <a:gd name="adj" fmla="val 14897"/>
            </a:avLst>
          </a:prstGeom>
          <a:solidFill>
            <a:srgbClr val="0077B6">
              <a:alpha val="8000"/>
            </a:srgbClr>
          </a:solidFill>
          <a:ln w="9525">
            <a:solidFill>
              <a:srgbClr val="0077B6">
                <a:alpha val="3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1700" y="1524000"/>
            <a:ext cx="2647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Visible Area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81700" y="1714500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text enhancement · AI Summary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05500" y="2095500"/>
            <a:ext cx="2724150" cy="552450"/>
          </a:xfrm>
          <a:prstGeom prst="roundRect">
            <a:avLst>
              <a:gd name="adj" fmla="val 14897"/>
            </a:avLst>
          </a:prstGeom>
          <a:solidFill>
            <a:srgbClr val="C9922A">
              <a:alpha val="8000"/>
            </a:srgbClr>
          </a:solidFill>
          <a:ln w="9525">
            <a:solidFill>
              <a:srgbClr val="C9922A">
                <a:alpha val="32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81700" y="2152650"/>
            <a:ext cx="2647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Blind Area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981700" y="2343150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Focus Attraction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05500" y="2724150"/>
            <a:ext cx="2724150" cy="552450"/>
          </a:xfrm>
          <a:prstGeom prst="roundRect">
            <a:avLst>
              <a:gd name="adj" fmla="val 14897"/>
            </a:avLst>
          </a:prstGeom>
          <a:solidFill>
            <a:srgbClr val="06D6A0">
              <a:alpha val="8000"/>
            </a:srgbClr>
          </a:solidFill>
          <a:ln w="9525">
            <a:solidFill>
              <a:srgbClr val="06D6A0">
                <a:alpha val="32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1700" y="2781300"/>
            <a:ext cx="2647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Mouse Cursor Enhance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81700" y="2971800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Pointer amplification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9100" y="4781550"/>
            <a:ext cx="8305800" cy="285750"/>
          </a:xfrm>
          <a:prstGeom prst="roundRect">
            <a:avLst>
              <a:gd name="adj" fmla="val 32000"/>
            </a:avLst>
          </a:prstGeom>
          <a:solidFill>
            <a:srgbClr val="0077B6">
              <a:alpha val="5000"/>
            </a:srgbClr>
          </a:solidFill>
          <a:ln w="9525">
            <a:solidFill>
              <a:srgbClr val="0077B6">
                <a:alpha val="2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2450" y="4781550"/>
            <a:ext cx="1238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Why browser?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885950" y="4781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69%+ respondents confirmed browser use (n=16)  ·  News · Email · Shopping · Video · Calls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209550"/>
            <a:ext cx="1966912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9100" y="209550"/>
            <a:ext cx="1966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Proposed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9100" y="495300"/>
            <a:ext cx="828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Decision Fork — Visible vs Blind Areas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9100" y="8382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Ways AI Helps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19100" y="1104900"/>
            <a:ext cx="4105275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0077B6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4350" y="1181100"/>
            <a:ext cx="3914775" cy="381000"/>
          </a:xfrm>
          <a:prstGeom prst="roundRect">
            <a:avLst>
              <a:gd name="adj" fmla="val 24000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0" y="1181100"/>
            <a:ext cx="3819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  Visible Area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600" y="1390650"/>
            <a:ext cx="3819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Progressively triggered by hold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14350" y="163830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FFFFFF"/>
          </a:solidFill>
          <a:ln w="9525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4350" y="1638300"/>
            <a:ext cx="28575" cy="381000"/>
          </a:xfrm>
          <a:prstGeom prst="rect">
            <a:avLst/>
          </a:prstGeom>
          <a:solidFill>
            <a:srgbClr val="00B4D8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" y="163830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0100" y="163830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&amp; Darken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0100" y="182880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+ Bold text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876675" y="1733550"/>
            <a:ext cx="55245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2000"/>
            </a:srgbClr>
          </a:solidFill>
          <a:ln w="9525">
            <a:solidFill>
              <a:srgbClr val="0077B6">
                <a:alpha val="3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6675" y="1733550"/>
            <a:ext cx="552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14350" y="207645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FFFFFF"/>
          </a:solidFill>
          <a:ln w="9525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4350" y="2076450"/>
            <a:ext cx="28575" cy="381000"/>
          </a:xfrm>
          <a:prstGeom prst="rect">
            <a:avLst/>
          </a:prstGeom>
          <a:solidFill>
            <a:srgbClr val="00B4D8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" y="207645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0100" y="207645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Enlargement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0100" y="226695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font size (1.0×–3.0×)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876675" y="2171700"/>
            <a:ext cx="55245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2000"/>
            </a:srgbClr>
          </a:solidFill>
          <a:ln w="9525">
            <a:solidFill>
              <a:srgbClr val="0077B6">
                <a:alpha val="3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76675" y="2171700"/>
            <a:ext cx="552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14350" y="251460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FFFFFF"/>
          </a:solidFill>
          <a:ln w="9525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4350" y="2514600"/>
            <a:ext cx="28575" cy="381000"/>
          </a:xfrm>
          <a:prstGeom prst="rect">
            <a:avLst/>
          </a:prstGeom>
          <a:solidFill>
            <a:srgbClr val="00B4D8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" y="251460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" y="251460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0100" y="270510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 theme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876675" y="2609850"/>
            <a:ext cx="55245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2000"/>
            </a:srgbClr>
          </a:solidFill>
          <a:ln w="9525">
            <a:solidFill>
              <a:srgbClr val="0077B6">
                <a:alpha val="3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76675" y="2609850"/>
            <a:ext cx="552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14350" y="295275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00B4D8">
              <a:alpha val="5000"/>
            </a:srgbClr>
          </a:solidFill>
          <a:ln w="9525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4350" y="2952750"/>
            <a:ext cx="28575" cy="381000"/>
          </a:xfrm>
          <a:prstGeom prst="rect">
            <a:avLst/>
          </a:prstGeom>
          <a:solidFill>
            <a:srgbClr val="00B4D8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1500" y="295275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00100" y="295275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0100" y="314325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Qwen2.5-1.5B INT4 · On-device · GPU 0.85s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876675" y="3048000"/>
            <a:ext cx="55245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2000"/>
            </a:srgbClr>
          </a:solidFill>
          <a:ln w="9525">
            <a:solidFill>
              <a:srgbClr val="0077B6">
                <a:alpha val="3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76675" y="3048000"/>
            <a:ext cx="552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543425" y="1104900"/>
            <a:ext cx="18288" cy="3905250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19625" y="1104900"/>
            <a:ext cx="4105275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C9922A">
                <a:alpha val="2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14875" y="1181100"/>
            <a:ext cx="3914775" cy="381000"/>
          </a:xfrm>
          <a:prstGeom prst="roundRect">
            <a:avLst>
              <a:gd name="adj" fmla="val 24000"/>
            </a:avLst>
          </a:prstGeom>
          <a:solidFill>
            <a:srgbClr val="C9922A">
              <a:alpha val="15000"/>
            </a:srgbClr>
          </a:solidFill>
          <a:ln w="9525">
            <a:solidFill>
              <a:srgbClr val="F6AE2D">
                <a:alpha val="4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10125" y="1181100"/>
            <a:ext cx="3819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9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 Blind Area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810125" y="1390650"/>
            <a:ext cx="3819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Unvisited area → AI switches mode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714875" y="163830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C9922A">
              <a:alpha val="7000"/>
            </a:srgbClr>
          </a:solidFill>
          <a:ln w="9525">
            <a:solidFill>
              <a:srgbClr val="C9922A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14875" y="1638300"/>
            <a:ext cx="28575" cy="381000"/>
          </a:xfrm>
          <a:prstGeom prst="rect">
            <a:avLst/>
          </a:prstGeom>
          <a:solidFill>
            <a:srgbClr val="C9922A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72025" y="163830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00625" y="163830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GMM Heatmap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00625" y="182880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Mixture Model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886700" y="1733550"/>
            <a:ext cx="723900" cy="190500"/>
          </a:xfrm>
          <a:prstGeom prst="roundRect">
            <a:avLst>
              <a:gd name="adj" fmla="val 48000"/>
            </a:avLst>
          </a:prstGeom>
          <a:solidFill>
            <a:srgbClr val="C9922A">
              <a:alpha val="12000"/>
            </a:srgbClr>
          </a:solidFill>
          <a:ln w="9525">
            <a:solidFill>
              <a:srgbClr val="C9922A">
                <a:alpha val="38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86700" y="173355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4714875" y="207645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C9922A">
              <a:alpha val="7000"/>
            </a:srgbClr>
          </a:solidFill>
          <a:ln w="9525">
            <a:solidFill>
              <a:srgbClr val="C9922A">
                <a:alpha val="3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14875" y="2076450"/>
            <a:ext cx="28575" cy="381000"/>
          </a:xfrm>
          <a:prstGeom prst="rect">
            <a:avLst/>
          </a:prstGeom>
          <a:solidFill>
            <a:srgbClr val="C9922A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72025" y="207645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000625" y="207645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Dot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00625" y="226695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indicator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7886700" y="2171700"/>
            <a:ext cx="723900" cy="190500"/>
          </a:xfrm>
          <a:prstGeom prst="roundRect">
            <a:avLst>
              <a:gd name="adj" fmla="val 48000"/>
            </a:avLst>
          </a:prstGeom>
          <a:solidFill>
            <a:srgbClr val="C9922A">
              <a:alpha val="12000"/>
            </a:srgbClr>
          </a:solidFill>
          <a:ln w="9525">
            <a:solidFill>
              <a:srgbClr val="C9922A">
                <a:alpha val="38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86700" y="217170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edge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714875" y="2514600"/>
            <a:ext cx="3914775" cy="381000"/>
          </a:xfrm>
          <a:prstGeom prst="roundRect">
            <a:avLst>
              <a:gd name="adj" fmla="val 16800"/>
            </a:avLst>
          </a:prstGeom>
          <a:solidFill>
            <a:srgbClr val="C9922A">
              <a:alpha val="7000"/>
            </a:srgbClr>
          </a:solidFill>
          <a:ln w="9525">
            <a:solidFill>
              <a:srgbClr val="C9922A">
                <a:alpha val="3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14875" y="2514600"/>
            <a:ext cx="28575" cy="381000"/>
          </a:xfrm>
          <a:prstGeom prst="rect">
            <a:avLst/>
          </a:prstGeom>
          <a:solidFill>
            <a:srgbClr val="C9922A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72025" y="2514600"/>
            <a:ext cx="209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00625" y="251460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Attraction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000625" y="2705100"/>
            <a:ext cx="29622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Mutually exclusive with contrast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886700" y="2609850"/>
            <a:ext cx="723900" cy="190500"/>
          </a:xfrm>
          <a:prstGeom prst="roundRect">
            <a:avLst>
              <a:gd name="adj" fmla="val 48000"/>
            </a:avLst>
          </a:prstGeom>
          <a:solidFill>
            <a:srgbClr val="C9922A">
              <a:alpha val="12000"/>
            </a:srgbClr>
          </a:solidFill>
          <a:ln w="9525">
            <a:solidFill>
              <a:srgbClr val="C9922A">
                <a:alpha val="38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86700" y="260985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209550"/>
            <a:ext cx="1966912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9100" y="209550"/>
            <a:ext cx="1966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Proposed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9100" y="4953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9100" y="876300"/>
            <a:ext cx="8286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inference runs locally — no API, no cloud, no data leaves the laptop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9100" y="1143000"/>
            <a:ext cx="3333750" cy="2076450"/>
          </a:xfrm>
          <a:prstGeom prst="roundRect">
            <a:avLst>
              <a:gd name="adj" fmla="val 5284"/>
            </a:avLst>
          </a:prstGeom>
          <a:solidFill>
            <a:srgbClr val="0077B6">
              <a:alpha val="5000"/>
            </a:srgbClr>
          </a:solidFill>
          <a:ln w="9525">
            <a:solidFill>
              <a:srgbClr val="0077B6">
                <a:alpha val="2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2450" y="1238250"/>
            <a:ext cx="3067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Browser World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4350" y="15049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6000"/>
            </a:srgbClr>
          </a:solidFill>
          <a:ln w="9525">
            <a:solidFill>
              <a:srgbClr val="0077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550" y="15049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5350" y="15049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 Tracking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5350" y="17145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hover · Webcam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14350" y="20002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6000"/>
            </a:srgbClr>
          </a:solidFill>
          <a:ln w="9525">
            <a:solidFill>
              <a:srgbClr val="0077B6">
                <a:alpha val="2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0550" y="20002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95350" y="20002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Enhancement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95350" y="22098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enhancement · AI Summary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4350" y="24955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6000"/>
            </a:srgbClr>
          </a:solidFill>
          <a:ln w="9525">
            <a:solidFill>
              <a:srgbClr val="0077B6">
                <a:alpha val="22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0550" y="24955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5350" y="24955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95350" y="27051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port routing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52850" y="1662113"/>
            <a:ext cx="85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752850" y="2028825"/>
            <a:ext cx="857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752850" y="2638044"/>
            <a:ext cx="857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stdin / stdout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10100" y="1143000"/>
            <a:ext cx="3333750" cy="2076450"/>
          </a:xfrm>
          <a:prstGeom prst="roundRect">
            <a:avLst>
              <a:gd name="adj" fmla="val 5284"/>
            </a:avLst>
          </a:prstGeom>
          <a:solidFill>
            <a:srgbClr val="C9922A">
              <a:alpha val="7000"/>
            </a:srgbClr>
          </a:solidFill>
          <a:ln w="9525">
            <a:solidFill>
              <a:srgbClr val="C9922A">
                <a:alpha val="3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43450" y="1238250"/>
            <a:ext cx="3067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OS World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5350" y="15049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C9922A">
              <a:alpha val="8000"/>
            </a:srgbClr>
          </a:solidFill>
          <a:ln w="9525">
            <a:solidFill>
              <a:srgbClr val="C9922A">
                <a:alpha val="26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1550" y="15049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86350" y="15049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86350" y="17145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PyInstaller · Windows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5350" y="20002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C9922A">
              <a:alpha val="8000"/>
            </a:srgbClr>
          </a:solidFill>
          <a:ln w="9525">
            <a:solidFill>
              <a:srgbClr val="C9922A">
                <a:alpha val="2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1550" y="20002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86350" y="20002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OpenVINO GenAI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86350" y="22098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Runtime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05350" y="2495550"/>
            <a:ext cx="3143250" cy="419100"/>
          </a:xfrm>
          <a:prstGeom prst="roundRect">
            <a:avLst>
              <a:gd name="adj" fmla="val 17455"/>
            </a:avLst>
          </a:prstGeom>
          <a:solidFill>
            <a:srgbClr val="C9922A">
              <a:alpha val="8000"/>
            </a:srgbClr>
          </a:solidFill>
          <a:ln w="9525">
            <a:solidFill>
              <a:srgbClr val="C9922A">
                <a:alpha val="26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81550" y="2495550"/>
            <a:ext cx="266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86350" y="2495550"/>
            <a:ext cx="2686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Qwen2.5-1.5B INT4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86350" y="2705100"/>
            <a:ext cx="2686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 Model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595437" y="3352800"/>
            <a:ext cx="1857375" cy="438150"/>
          </a:xfrm>
          <a:prstGeom prst="roundRect">
            <a:avLst>
              <a:gd name="adj" fmla="val 20870"/>
            </a:avLst>
          </a:prstGeom>
          <a:solidFill>
            <a:srgbClr val="00B4D8">
              <a:alpha val="14000"/>
            </a:srgbClr>
          </a:solidFill>
          <a:ln w="9525">
            <a:solidFill>
              <a:srgbClr val="00B4D8">
                <a:alpha val="32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95437" y="3381375"/>
            <a:ext cx="18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595437" y="3600450"/>
            <a:ext cx="18573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· 71 tok/s ⭐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643313" y="3352800"/>
            <a:ext cx="1857375" cy="438150"/>
          </a:xfrm>
          <a:prstGeom prst="roundRect">
            <a:avLst>
              <a:gd name="adj" fmla="val 20870"/>
            </a:avLst>
          </a:prstGeom>
          <a:solidFill>
            <a:srgbClr val="000000">
              <a:alpha val="4000"/>
            </a:srgbClr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43313" y="3381375"/>
            <a:ext cx="18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1.32s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3643313" y="3600450"/>
            <a:ext cx="18573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45 tok/s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691188" y="3352800"/>
            <a:ext cx="1857375" cy="438150"/>
          </a:xfrm>
          <a:prstGeom prst="roundRect">
            <a:avLst>
              <a:gd name="adj" fmla="val 20870"/>
            </a:avLst>
          </a:prstGeom>
          <a:solidFill>
            <a:srgbClr val="000000">
              <a:alpha val="4000"/>
            </a:srgbClr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91188" y="3381375"/>
            <a:ext cx="18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1.62s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691188" y="3600450"/>
            <a:ext cx="18573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 · 37 tok/s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0" y="3848100"/>
            <a:ext cx="914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Environment · KentoI (Intel Panther Lake)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209550"/>
            <a:ext cx="2209800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9100" y="2095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User Experience Flow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9100" y="495300"/>
            <a:ext cx="8286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Map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25830" y="1028700"/>
            <a:ext cx="647700" cy="6477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5830" y="10287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9100" y="1790700"/>
            <a:ext cx="16611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Pre-installed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9100" y="2152650"/>
            <a:ext cx="16611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at boot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setup needed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73530" y="123825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586990" y="1028700"/>
            <a:ext cx="647700" cy="6477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6990" y="10287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80260" y="1790700"/>
            <a:ext cx="16611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Setup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80260" y="2152650"/>
            <a:ext cx="16611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25-point gaze calibration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once · ~60 seconds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34690" y="123825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248150" y="1028700"/>
            <a:ext cx="647700" cy="6477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48150" y="10287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41420" y="1790700"/>
            <a:ext cx="16611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Normally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41420" y="2152650"/>
            <a:ext cx="16611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silently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habit change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5850" y="123825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09310" y="1028700"/>
            <a:ext cx="647700" cy="6477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AE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09310" y="10287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02580" y="1790700"/>
            <a:ext cx="16611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 Holds 1.5s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02580" y="2152650"/>
            <a:ext cx="16611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enhancements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appears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57010" y="123825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570470" y="1028700"/>
            <a:ext cx="647700" cy="6477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0470" y="10287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063740" y="1790700"/>
            <a:ext cx="16611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Faster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63740" y="2152650"/>
            <a:ext cx="16611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aids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6B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90500"/>
            <a:ext cx="2762250" cy="228600"/>
          </a:xfrm>
          <a:prstGeom prst="roundRect">
            <a:avLst>
              <a:gd name="adj" fmla="val 60000"/>
            </a:avLst>
          </a:prstGeom>
          <a:solidFill>
            <a:srgbClr val="F6AE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0500"/>
            <a:ext cx="2762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Value &amp; Impact / Curb-Cut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6250"/>
            <a:ext cx="8191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Curb-Cut Effect — From 20% to Everyday Users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762000"/>
            <a:ext cx="819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solution works for everyday users — not just vision-impaired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4800" y="1009650"/>
            <a:ext cx="2047875" cy="4000500"/>
          </a:xfrm>
          <a:prstGeom prst="roundRect">
            <a:avLst>
              <a:gd name="adj" fmla="val 5358"/>
            </a:avLst>
          </a:prstGeom>
          <a:solidFill>
            <a:srgbClr val="F4F6FA"/>
          </a:solidFill>
          <a:ln w="9525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4800" y="1009650"/>
            <a:ext cx="2047875" cy="381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150" y="1143000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38150" y="1466850"/>
            <a:ext cx="1781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Glare &amp; Reflections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150" y="2114550"/>
            <a:ext cx="1781175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visual experience as dim-vision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66975" y="1009650"/>
            <a:ext cx="2047875" cy="4000500"/>
          </a:xfrm>
          <a:prstGeom prst="roundRect">
            <a:avLst>
              <a:gd name="adj" fmla="val 5358"/>
            </a:avLst>
          </a:prstGeom>
          <a:solidFill>
            <a:srgbClr val="F4F6FA"/>
          </a:solidFill>
          <a:ln w="9525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6975" y="1009650"/>
            <a:ext cx="2047875" cy="381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0325" y="1143000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🌞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00325" y="1466850"/>
            <a:ext cx="1781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Outdoor Bright Sunlight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00325" y="2114550"/>
            <a:ext cx="1781175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the daily reality of foggy-vision users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29150" y="1009650"/>
            <a:ext cx="2047875" cy="4000500"/>
          </a:xfrm>
          <a:prstGeom prst="roundRect">
            <a:avLst>
              <a:gd name="adj" fmla="val 5358"/>
            </a:avLst>
          </a:prstGeom>
          <a:solidFill>
            <a:srgbClr val="F4F6FA"/>
          </a:solidFill>
          <a:ln w="9525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9150" y="1009650"/>
            <a:ext cx="2047875" cy="381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62500" y="1143000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😵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762500" y="1466850"/>
            <a:ext cx="1781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Strain from Long Screen Time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62500" y="2114550"/>
            <a:ext cx="1781175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pain point for 71% of impaired users — common for everyone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1325" y="1009650"/>
            <a:ext cx="2047875" cy="4000500"/>
          </a:xfrm>
          <a:prstGeom prst="roundRect">
            <a:avLst>
              <a:gd name="adj" fmla="val 5358"/>
            </a:avLst>
          </a:prstGeom>
          <a:solidFill>
            <a:srgbClr val="F4F6FA"/>
          </a:solidFill>
          <a:ln w="9525">
            <a:solidFill>
              <a:srgbClr val="F6AE2D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91325" y="1009650"/>
            <a:ext cx="2047875" cy="38100"/>
          </a:xfrm>
          <a:prstGeom prst="rect">
            <a:avLst/>
          </a:prstGeom>
          <a:solidFill>
            <a:srgbClr val="F6AE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24675" y="1143000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924675" y="1466850"/>
            <a:ext cx="1781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Busy Readers &amp; Skimmers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24675" y="2114550"/>
            <a:ext cx="1781175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helps anyone quickly grasp paragraph meaning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9550"/>
            <a:ext cx="1885950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9550"/>
            <a:ext cx="188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Competitor Study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8286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What Makes HP Different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1950" y="952500"/>
            <a:ext cx="4095750" cy="6096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300" y="952500"/>
            <a:ext cx="1666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Magnifier / Narrator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28850" y="952500"/>
            <a:ext cx="209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Manual-only, no visual field awareness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950" y="1638300"/>
            <a:ext cx="4095750" cy="6096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300" y="1638300"/>
            <a:ext cx="1666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High Contrast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28850" y="1638300"/>
            <a:ext cx="209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Disrupts mild-impairment users (our 20% target)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1950" y="2324100"/>
            <a:ext cx="4095750" cy="6096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300" y="2324100"/>
            <a:ext cx="1666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Eye Trackers (Tobii)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28850" y="2324100"/>
            <a:ext cx="209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hardware, gaming / medical market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1950" y="3009900"/>
            <a:ext cx="4095750" cy="6096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300" y="3009900"/>
            <a:ext cx="1666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AI Extensions (ChatGPT etc.)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28850" y="3009900"/>
            <a:ext cx="209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 — privacy risk, requires internet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29150" y="914400"/>
            <a:ext cx="4210050" cy="4095750"/>
          </a:xfrm>
          <a:prstGeom prst="rect">
            <a:avLst/>
          </a:prstGeom>
          <a:solidFill>
            <a:srgbClr val="0D1F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99060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Strengths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743450" y="1295400"/>
            <a:ext cx="3981450" cy="533400"/>
          </a:xfrm>
          <a:prstGeom prst="roundRect">
            <a:avLst>
              <a:gd name="adj" fmla="val 17143"/>
            </a:avLst>
          </a:prstGeom>
          <a:solidFill>
            <a:srgbClr val="00B4D8">
              <a:alpha val="17000"/>
            </a:srgbClr>
          </a:solidFill>
          <a:ln w="9525">
            <a:solidFill>
              <a:srgbClr val="00B4D8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43450" y="1295400"/>
            <a:ext cx="28575" cy="53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38700" y="1333500"/>
            <a:ext cx="38671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Sensing vs Passive Tools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38700" y="1543050"/>
            <a:ext cx="3867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2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wait — AI Kwau senses, decides, and acts proactively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81550" y="190500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48250" y="1905000"/>
            <a:ext cx="363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webcam: zero extra hardware cost with even more webcam capabilities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81550" y="234315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48250" y="2343150"/>
            <a:ext cx="363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AI: gaze + text data stays local, no API fees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81550" y="278130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48250" y="2781300"/>
            <a:ext cx="363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summary: unique — no other accessibility tool summarizes while enhancing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6625" y="266700"/>
            <a:ext cx="2190750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6625" y="266700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Functional Prototype Demo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0" y="6858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Video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028825" y="200025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8825" y="200025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Enhancement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762375" y="200025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62375" y="200025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Paragraph Summary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95925" y="200025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95925" y="200025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 Themes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28825" y="240030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8825" y="240030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/ Webcam Mode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62375" y="240030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2375" y="240030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Blind-Spot Highlights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95925" y="2400300"/>
            <a:ext cx="1619250" cy="304800"/>
          </a:xfrm>
          <a:prstGeom prst="roundRect">
            <a:avLst>
              <a:gd name="adj" fmla="val 60000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95925" y="2400300"/>
            <a:ext cx="161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Cursor Enhance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171450"/>
            <a:ext cx="2614613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1000" y="171450"/>
            <a:ext cx="2614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Validation &amp; User Testing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1000" y="457200"/>
            <a:ext cx="8286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&amp; Design Iteration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81000" y="838200"/>
            <a:ext cx="8286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user requests shipped — feedback directly shaped the product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1000" y="1066800"/>
            <a:ext cx="3429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953000" y="1066800"/>
            <a:ext cx="3429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✅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81000" y="125730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4350" y="12573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more than text highlight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0500" y="12573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76750" y="125730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Paragraph Summary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1000" y="173355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350" y="17335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badge was distracting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00500" y="17335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76750" y="173355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Click-to-reveal, replaces text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1000" y="220980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4350" y="22098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font size too small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00500" y="22098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76750" y="220980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Slider (1.0×–3.0×)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1000" y="268605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4350" y="26860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invisible in highlighted text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00500" y="26860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76750" y="268605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 Recolor per Theme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81000" y="316230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4350" y="31623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contrast, hard to read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00500" y="31623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76750" y="316230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 Themes (Windows style)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81000" y="363855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4350" y="36385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webcam, privacy concerns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00500" y="36385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76750" y="363855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Mouse-hover Mode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81000" y="4114800"/>
            <a:ext cx="8382000" cy="419100"/>
          </a:xfrm>
          <a:prstGeom prst="roundRect">
            <a:avLst>
              <a:gd name="adj" fmla="val 17455"/>
            </a:avLst>
          </a:prstGeom>
          <a:solidFill>
            <a:srgbClr val="0077B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4350" y="41148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 over which features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00500" y="41148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76750" y="4114800"/>
            <a:ext cx="4095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Feature Toggles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9550"/>
            <a:ext cx="1724025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9550"/>
            <a:ext cx="1724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Future 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8286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Want Next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876300"/>
            <a:ext cx="8286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from user testing — planned iterations beyond the PoC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04900"/>
            <a:ext cx="4038600" cy="1790700"/>
          </a:xfrm>
          <a:prstGeom prst="roundRect">
            <a:avLst>
              <a:gd name="adj" fmla="val 6128"/>
            </a:avLst>
          </a:prstGeom>
          <a:solidFill>
            <a:srgbClr val="F6AE2D">
              <a:alpha val="8000"/>
            </a:srgbClr>
          </a:solidFill>
          <a:ln w="9525">
            <a:solidFill>
              <a:srgbClr val="C9922A">
                <a:alpha val="2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7700" y="1219200"/>
            <a:ext cx="30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7700" y="1543050"/>
            <a:ext cx="365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Feature Profiles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700" y="1962150"/>
            <a:ext cx="36576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each user's preferred toggle states — no re-configuration on every session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48200" y="1104900"/>
            <a:ext cx="4038600" cy="1790700"/>
          </a:xfrm>
          <a:prstGeom prst="roundRect">
            <a:avLst>
              <a:gd name="adj" fmla="val 6128"/>
            </a:avLst>
          </a:prstGeom>
          <a:solidFill>
            <a:srgbClr val="F6AE2D">
              <a:alpha val="8000"/>
            </a:srgbClr>
          </a:solidFill>
          <a:ln w="9525">
            <a:solidFill>
              <a:srgbClr val="C9922A">
                <a:alpha val="28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8700" y="1219200"/>
            <a:ext cx="30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38700" y="1543050"/>
            <a:ext cx="365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38700" y="1962150"/>
            <a:ext cx="36576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models by language or task — larger for accuracy, smaller for speed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38600" cy="1790700"/>
          </a:xfrm>
          <a:prstGeom prst="roundRect">
            <a:avLst>
              <a:gd name="adj" fmla="val 6128"/>
            </a:avLst>
          </a:prstGeom>
          <a:solidFill>
            <a:srgbClr val="F6AE2D">
              <a:alpha val="8000"/>
            </a:srgbClr>
          </a:solidFill>
          <a:ln w="9525">
            <a:solidFill>
              <a:srgbClr val="C9922A">
                <a:alpha val="2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700" y="3086100"/>
            <a:ext cx="30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7700" y="3409950"/>
            <a:ext cx="365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&amp; Knowledge Extension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700" y="3829050"/>
            <a:ext cx="36576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In-page translation and contextual information lookup without leaving the article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48200" y="2971800"/>
            <a:ext cx="4038600" cy="1790700"/>
          </a:xfrm>
          <a:prstGeom prst="roundRect">
            <a:avLst>
              <a:gd name="adj" fmla="val 6128"/>
            </a:avLst>
          </a:prstGeom>
          <a:solidFill>
            <a:srgbClr val="F6AE2D">
              <a:alpha val="8000"/>
            </a:srgbClr>
          </a:solidFill>
          <a:ln w="9525">
            <a:solidFill>
              <a:srgbClr val="C9922A">
                <a:alpha val="2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8700" y="3086100"/>
            <a:ext cx="30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38700" y="3409950"/>
            <a:ext cx="365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Hardware-Accelerated Gaze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38700" y="3829050"/>
            <a:ext cx="36576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On-chip gaze processing — only (x,y) coordinates reach the app, no raw video exposure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171450"/>
            <a:ext cx="2371725" cy="228600"/>
          </a:xfrm>
          <a:prstGeom prst="roundRect">
            <a:avLst>
              <a:gd name="adj" fmla="val 6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9100" y="171450"/>
            <a:ext cx="2371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Success Metrics / KPIs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9100" y="438150"/>
            <a:ext cx="828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D1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— How We Measure Success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810250" y="895350"/>
            <a:ext cx="9144" cy="4095750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8650" y="895350"/>
            <a:ext cx="819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48250" y="895350"/>
            <a:ext cx="5905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≥ 4.0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04800" y="1066800"/>
            <a:ext cx="5334000" cy="47625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06D6A0">
                <a:alpha val="2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950" y="1066800"/>
            <a:ext cx="209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0550" y="1066800"/>
            <a:ext cx="895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Text too small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04950" y="1066800"/>
            <a:ext cx="15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676400" y="1066800"/>
            <a:ext cx="2057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Enlargement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71900" y="1285875"/>
            <a:ext cx="685800" cy="47625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71900" y="1285875"/>
            <a:ext cx="685800" cy="47625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5800" y="1066800"/>
            <a:ext cx="38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24425" y="1209675"/>
            <a:ext cx="381000" cy="190500"/>
          </a:xfrm>
          <a:prstGeom prst="roundRect">
            <a:avLst>
              <a:gd name="adj" fmla="val 48000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24425" y="120967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04800" y="1619250"/>
            <a:ext cx="5334000" cy="47625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06D6A0">
                <a:alpha val="2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950" y="1619250"/>
            <a:ext cx="209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0550" y="1619250"/>
            <a:ext cx="895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 Low contrast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504950" y="1619250"/>
            <a:ext cx="15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76400" y="1619250"/>
            <a:ext cx="2057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 Themes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771900" y="1838325"/>
            <a:ext cx="685800" cy="47625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71900" y="1838325"/>
            <a:ext cx="685800" cy="47625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95800" y="1619250"/>
            <a:ext cx="38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24425" y="1762125"/>
            <a:ext cx="381000" cy="190500"/>
          </a:xfrm>
          <a:prstGeom prst="roundRect">
            <a:avLst>
              <a:gd name="adj" fmla="val 48000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24425" y="17621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4800" y="2171700"/>
            <a:ext cx="5334000" cy="47625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06D6A0">
                <a:alpha val="28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950" y="2171700"/>
            <a:ext cx="209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90550" y="2171700"/>
            <a:ext cx="895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Eye strain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504950" y="2171700"/>
            <a:ext cx="15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676400" y="2171700"/>
            <a:ext cx="2057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Bold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771900" y="2390775"/>
            <a:ext cx="685800" cy="47625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71900" y="2390775"/>
            <a:ext cx="589788" cy="47625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5800" y="2171700"/>
            <a:ext cx="38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924425" y="2314575"/>
            <a:ext cx="381000" cy="190500"/>
          </a:xfrm>
          <a:prstGeom prst="roundRect">
            <a:avLst>
              <a:gd name="adj" fmla="val 48000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24425" y="231457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04800" y="2724150"/>
            <a:ext cx="5334000" cy="47625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0077B6">
                <a:alpha val="28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1950" y="2724150"/>
            <a:ext cx="209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90550" y="2724150"/>
            <a:ext cx="895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Cursor hard to find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04950" y="2724150"/>
            <a:ext cx="15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676400" y="2724150"/>
            <a:ext cx="2057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Enhancement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771900" y="2943225"/>
            <a:ext cx="685800" cy="47625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71900" y="2943225"/>
            <a:ext cx="548640" cy="47625"/>
          </a:xfrm>
          <a:prstGeom prst="rect">
            <a:avLst/>
          </a:prstGeom>
          <a:solidFill>
            <a:srgbClr val="0077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95800" y="2724150"/>
            <a:ext cx="38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924425" y="2867025"/>
            <a:ext cx="38100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5000"/>
            </a:srgbClr>
          </a:solidFill>
          <a:ln w="9525">
            <a:solidFill>
              <a:srgbClr val="0077B6">
                <a:alpha val="4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24425" y="28670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04800" y="3276600"/>
            <a:ext cx="5334000" cy="476250"/>
          </a:xfrm>
          <a:prstGeom prst="roundRect">
            <a:avLst>
              <a:gd name="adj" fmla="val 19200"/>
            </a:avLst>
          </a:prstGeom>
          <a:solidFill>
            <a:srgbClr val="FFFBF2"/>
          </a:solidFill>
          <a:ln w="9525">
            <a:solidFill>
              <a:srgbClr val="E07B00">
                <a:alpha val="32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1950" y="3276600"/>
            <a:ext cx="209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90550" y="3276600"/>
            <a:ext cx="895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Links hard to find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504950" y="3276600"/>
            <a:ext cx="15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676400" y="3276600"/>
            <a:ext cx="2057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Blind-Spot Highlights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71900" y="3495675"/>
            <a:ext cx="685800" cy="47625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71900" y="3495675"/>
            <a:ext cx="411480" cy="47625"/>
          </a:xfrm>
          <a:prstGeom prst="rect">
            <a:avLst/>
          </a:prstGeom>
          <a:solidFill>
            <a:srgbClr val="E07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95800" y="3276600"/>
            <a:ext cx="38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24425" y="3419475"/>
            <a:ext cx="381000" cy="190500"/>
          </a:xfrm>
          <a:prstGeom prst="roundRect">
            <a:avLst>
              <a:gd name="adj" fmla="val 48000"/>
            </a:avLst>
          </a:prstGeom>
          <a:solidFill>
            <a:srgbClr val="E07B00">
              <a:alpha val="12000"/>
            </a:srgbClr>
          </a:solidFill>
          <a:ln w="9525">
            <a:solidFill>
              <a:srgbClr val="E07B00">
                <a:alpha val="4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4425" y="341947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981700" y="933450"/>
            <a:ext cx="2933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SUMMARY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5981700" y="1123950"/>
            <a:ext cx="2933700" cy="438150"/>
          </a:xfrm>
          <a:prstGeom prst="roundRect">
            <a:avLst>
              <a:gd name="adj" fmla="val 16696"/>
            </a:avLst>
          </a:prstGeom>
          <a:solidFill>
            <a:srgbClr val="00B4D8">
              <a:alpha val="7000"/>
            </a:srgbClr>
          </a:solidFill>
          <a:ln w="9525">
            <a:solidFill>
              <a:srgbClr val="00B4D8">
                <a:alpha val="26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57900" y="1123950"/>
            <a:ext cx="2190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absorb content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267700" y="1323975"/>
            <a:ext cx="419100" cy="38100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67700" y="1323975"/>
            <a:ext cx="360426" cy="38100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86800" y="1123950"/>
            <a:ext cx="19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886825" y="1247775"/>
            <a:ext cx="323850" cy="190500"/>
          </a:xfrm>
          <a:prstGeom prst="roundRect">
            <a:avLst>
              <a:gd name="adj" fmla="val 48000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86825" y="1247775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981700" y="1600200"/>
            <a:ext cx="2933700" cy="438150"/>
          </a:xfrm>
          <a:prstGeom prst="roundRect">
            <a:avLst>
              <a:gd name="adj" fmla="val 16696"/>
            </a:avLst>
          </a:prstGeom>
          <a:solidFill>
            <a:srgbClr val="00B4D8">
              <a:alpha val="7000"/>
            </a:srgbClr>
          </a:solidFill>
          <a:ln w="9525">
            <a:solidFill>
              <a:srgbClr val="00B4D8">
                <a:alpha val="2600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057900" y="1600200"/>
            <a:ext cx="2190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key points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267700" y="1800225"/>
            <a:ext cx="419100" cy="38100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67700" y="1800225"/>
            <a:ext cx="335280" cy="38100"/>
          </a:xfrm>
          <a:prstGeom prst="rect">
            <a:avLst/>
          </a:prstGeom>
          <a:solidFill>
            <a:srgbClr val="0077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686800" y="1600200"/>
            <a:ext cx="19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8886825" y="1724025"/>
            <a:ext cx="323850" cy="190500"/>
          </a:xfrm>
          <a:prstGeom prst="roundRect">
            <a:avLst>
              <a:gd name="adj" fmla="val 48000"/>
            </a:avLst>
          </a:prstGeom>
          <a:solidFill>
            <a:srgbClr val="0077B6">
              <a:alpha val="15000"/>
            </a:srgbClr>
          </a:solidFill>
          <a:ln w="9525">
            <a:solidFill>
              <a:srgbClr val="0077B6">
                <a:alpha val="4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86825" y="1724025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981700" y="2076450"/>
            <a:ext cx="2933700" cy="438150"/>
          </a:xfrm>
          <a:prstGeom prst="roundRect">
            <a:avLst>
              <a:gd name="adj" fmla="val 16696"/>
            </a:avLst>
          </a:prstGeom>
          <a:solidFill>
            <a:srgbClr val="00B4D8">
              <a:alpha val="7000"/>
            </a:srgbClr>
          </a:solidFill>
          <a:ln w="9525">
            <a:solidFill>
              <a:srgbClr val="00B4D8">
                <a:alpha val="26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057900" y="2076450"/>
            <a:ext cx="21907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comprehension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267700" y="2276475"/>
            <a:ext cx="419100" cy="38100"/>
          </a:xfrm>
          <a:prstGeom prst="rect">
            <a:avLst/>
          </a:prstGeom>
          <a:solidFill>
            <a:srgbClr val="00000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267700" y="2276475"/>
            <a:ext cx="360426" cy="38100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686800" y="2076450"/>
            <a:ext cx="19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8886825" y="2200275"/>
            <a:ext cx="323850" cy="190500"/>
          </a:xfrm>
          <a:prstGeom prst="roundRect">
            <a:avLst>
              <a:gd name="adj" fmla="val 48000"/>
            </a:avLst>
          </a:prstGeom>
          <a:solidFill>
            <a:srgbClr val="06D6A0">
              <a:alpha val="15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86825" y="2200275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5981700" y="2571750"/>
            <a:ext cx="2933700" cy="914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81700" y="2686050"/>
            <a:ext cx="2933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INTENT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5981700" y="2876550"/>
            <a:ext cx="2933700" cy="571500"/>
          </a:xfrm>
          <a:prstGeom prst="roundRect">
            <a:avLst>
              <a:gd name="adj" fmla="val 19200"/>
            </a:avLst>
          </a:prstGeom>
          <a:solidFill>
            <a:srgbClr val="06D6A0">
              <a:alpha val="10000"/>
            </a:srgbClr>
          </a:solidFill>
          <a:ln w="9525">
            <a:solidFill>
              <a:srgbClr val="06D6A0">
                <a:alpha val="48000"/>
              </a:srgbClr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981700" y="2914650"/>
            <a:ext cx="2933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5</a:t>
            </a:r>
            <a:endParaRPr lang="en-US" sz="2700" dirty="0"/>
          </a:p>
        </p:txBody>
      </p:sp>
      <p:sp>
        <p:nvSpPr>
          <p:cNvPr id="84" name="Text 82"/>
          <p:cNvSpPr/>
          <p:nvPr/>
        </p:nvSpPr>
        <p:spPr>
          <a:xfrm>
            <a:off x="5981700" y="3257550"/>
            <a:ext cx="293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continue using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981700" y="3505200"/>
            <a:ext cx="2933700" cy="571500"/>
          </a:xfrm>
          <a:prstGeom prst="roundRect">
            <a:avLst>
              <a:gd name="adj" fmla="val 19200"/>
            </a:avLst>
          </a:prstGeom>
          <a:solidFill>
            <a:srgbClr val="06D6A0">
              <a:alpha val="10000"/>
            </a:srgbClr>
          </a:solidFill>
          <a:ln w="9525">
            <a:solidFill>
              <a:srgbClr val="06D6A0">
                <a:alpha val="48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981700" y="3543300"/>
            <a:ext cx="2933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D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5</a:t>
            </a:r>
            <a:endParaRPr lang="en-US" sz="2700" dirty="0"/>
          </a:p>
        </p:txBody>
      </p:sp>
      <p:sp>
        <p:nvSpPr>
          <p:cNvPr id="87" name="Text 85"/>
          <p:cNvSpPr/>
          <p:nvPr/>
        </p:nvSpPr>
        <p:spPr>
          <a:xfrm>
            <a:off x="5981700" y="3886200"/>
            <a:ext cx="293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recommend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419100"/>
            <a:ext cx="1238250" cy="228600"/>
          </a:xfrm>
          <a:prstGeom prst="roundRect">
            <a:avLst>
              <a:gd name="adj" fmla="val 80000"/>
            </a:avLst>
          </a:prstGeom>
          <a:solidFill>
            <a:srgbClr val="90E0EF">
              <a:alpha val="10000"/>
            </a:srgbClr>
          </a:solidFill>
          <a:ln w="9525">
            <a:solidFill>
              <a:srgbClr val="90E0EF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6250" y="419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76250" y="74295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Kwau</a:t>
            </a:r>
            <a:pPr indent="0" marL="0">
              <a:buNone/>
            </a:pPr>
            <a:r>
              <a:rPr lang="en-US" sz="1000" dirty="0">
                <a:solidFill>
                  <a:srgbClr val="626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愛看有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76250" y="1219200"/>
            <a:ext cx="4381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× AI — see clearly, understand instantly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6250" y="15240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2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2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20%, benefits 80%.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62500" y="361950"/>
            <a:ext cx="4095750" cy="533400"/>
          </a:xfrm>
          <a:prstGeom prst="roundRect">
            <a:avLst>
              <a:gd name="adj" fmla="val 1714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62500" y="361950"/>
            <a:ext cx="38100" cy="53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57750" y="361950"/>
            <a:ext cx="247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43500" y="361950"/>
            <a:ext cx="3657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</a:t>
            </a:r>
            <a:pPr indent="0" marL="0">
              <a:buNone/>
            </a:pPr>
            <a:r>
              <a:rPr lang="en-US" sz="13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pain points · 59% never used any assistive tool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62500" y="971550"/>
            <a:ext cx="4095750" cy="533400"/>
          </a:xfrm>
          <a:prstGeom prst="roundRect">
            <a:avLst>
              <a:gd name="adj" fmla="val 1714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62500" y="971550"/>
            <a:ext cx="38100" cy="53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7750" y="971550"/>
            <a:ext cx="247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3500" y="971550"/>
            <a:ext cx="3657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pPr indent="0" marL="0">
              <a:buNone/>
            </a:pPr>
            <a:r>
              <a:rPr lang="en-US" sz="13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Browser extension · gaze tracking · on-device AI · no habit change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62500" y="1581150"/>
            <a:ext cx="4095750" cy="533400"/>
          </a:xfrm>
          <a:prstGeom prst="roundRect">
            <a:avLst>
              <a:gd name="adj" fmla="val 1714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62500" y="1581150"/>
            <a:ext cx="38100" cy="53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57750" y="1581150"/>
            <a:ext cx="247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43500" y="1581150"/>
            <a:ext cx="3657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</a:t>
            </a:r>
            <a:pPr indent="0" marL="0">
              <a:buNone/>
            </a:pPr>
            <a:r>
              <a:rPr lang="en-US" sz="13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Curb-Cut Effect — from 20% to 80% of users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62500" y="2190750"/>
            <a:ext cx="4095750" cy="533400"/>
          </a:xfrm>
          <a:prstGeom prst="roundRect">
            <a:avLst>
              <a:gd name="adj" fmla="val 1714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62500" y="2190750"/>
            <a:ext cx="38100" cy="533400"/>
          </a:xfrm>
          <a:prstGeom prst="rect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57750" y="2190750"/>
            <a:ext cx="247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43500" y="2190750"/>
            <a:ext cx="3657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Edge:</a:t>
            </a:r>
            <a:pPr indent="0" marL="0">
              <a:buNone/>
            </a:pPr>
            <a:r>
              <a:rPr lang="en-US" sz="13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Built-in webcam · On-device AI · Active sensing · Privacy-first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62500" y="2800350"/>
            <a:ext cx="4095750" cy="533400"/>
          </a:xfrm>
          <a:prstGeom prst="roundRect">
            <a:avLst>
              <a:gd name="adj" fmla="val 1714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62500" y="2800350"/>
            <a:ext cx="38100" cy="533400"/>
          </a:xfrm>
          <a:prstGeom prst="rect">
            <a:avLst/>
          </a:prstGeom>
          <a:solidFill>
            <a:srgbClr val="06D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57750" y="2800350"/>
            <a:ext cx="247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43500" y="2800350"/>
            <a:ext cx="3657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Feedback:</a:t>
            </a:r>
            <a:pPr indent="0" marL="0">
              <a:buNone/>
            </a:pPr>
            <a:r>
              <a:rPr lang="en-US" sz="1300" dirty="0">
                <a:solidFill>
                  <a:srgbClr val="DA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4.7 / 5 would continue using · AI Summary rated 4.3 /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2026-07-21T08:00:59Z</dcterms:created>
  <dcterms:modified xsi:type="dcterms:W3CDTF">2026-07-21T08:00:59Z</dcterms:modified>
</cp:coreProperties>
</file>