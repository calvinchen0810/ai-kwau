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Reading Time (seconds)</c:v>
                </c:pt>
              </c:strCache>
            </c:strRef>
          </c:tx>
          <c:spPr>
            <a:solidFill>
              <a:srgbClr val="0077B6"/>
            </a:solidFill>
            <a:effectLst/>
          </c:spPr>
          <c:invertIfNegative val="0"/>
          <c:dLbls>
            <c:numFmt formatCode="#,##0" sourceLinked="0"/>
            <c:txPr>
              <a:bodyPr/>
              <a:lstStyle/>
              <a:p>
                <a:pPr>
                  <a:defRPr b="1" i="0" strike="noStrike" sz="1400" u="none">
                    <a:solidFill>
                      <a:srgbClr val="0D1F3C"/>
                    </a:solidFill>
                    <a:latin typeface="Arial"/>
                  </a:defRPr>
                </a:pPr>
              </a:p>
            </c:txPr>
            <c:showLegendKey val="0"/>
            <c:showVal val="1"/>
            <c:showCatName val="0"/>
            <c:showSerName val="0"/>
            <c:showPercent val="0"/>
            <c:showBubbleSize val="0"/>
            <c:showLeaderLines val="0"/>
          </c:dLbls>
          <c:dPt>
            <c:idx val="0"/>
            <c:invertIfNegative val="0"/>
            <c:bubble3D val="0"/>
            <c:spPr>
              <a:solidFill>
                <a:srgbClr val="0077B6"/>
              </a:solidFill>
              <a:effectLst/>
            </c:spPr>
          </c:dPt>
          <c:dPt>
            <c:idx val="1"/>
            <c:invertIfNegative val="0"/>
            <c:bubble3D val="0"/>
            <c:spPr>
              <a:solidFill>
                <a:srgbClr val="00B4D8"/>
              </a:solidFill>
              <a:effectLst/>
            </c:spPr>
          </c:dPt>
          <c:dPt>
            <c:idx val="2"/>
            <c:invertIfNegative val="0"/>
            <c:bubble3D val="0"/>
            <c:spPr>
              <a:solidFill>
                <a:srgbClr val="06D6A0"/>
              </a:solidFill>
              <a:effectLst/>
            </c:spPr>
          </c:dPt>
          <c:cat>
            <c:multiLvlStrRef>
              <c:f>Sheet1!$A$2:$A$4</c:f>
              <c:multiLvlStrCache>
                <c:ptCount val="3"/>
                <c:lvl>
                  <c:pt idx="0">
                    <c:v>Baseline</c:v>
                  </c:pt>
                  <c:pt idx="1">
                    <c:v>Bold + High Contrast</c:v>
                  </c:pt>
                  <c:pt idx="2">
                    <c:v>+ AI Summary</c:v>
                  </c:pt>
                </c:lvl>
              </c:multiLvlStrCache>
            </c:multiLvlStrRef>
          </c:cat>
          <c:val>
            <c:numRef>
              <c:f>Sheet1!$B$2:$B$4</c:f>
              <c:numCache>
                <c:formatCode>General</c:formatCode>
                <c:ptCount val="3"/>
                <c:pt idx="0">
                  <c:v>252</c:v>
                </c:pt>
                <c:pt idx="1">
                  <c:v>157</c:v>
                </c:pt>
                <c:pt idx="2">
                  <c:v>81</c:v>
                </c:pt>
              </c:numCache>
            </c:numRef>
          </c:val>
        </c:ser>
        <c:dLbls>
          <c:numFmt formatCode="#,##0" sourceLinked="0"/>
          <c:txPr>
            <a:bodyPr/>
            <a:lstStyle/>
            <a:p>
              <a:pPr>
                <a:defRPr b="1" i="0" strike="noStrike" sz="1400" u="none">
                  <a:solidFill>
                    <a:srgbClr val="0D1F3C"/>
                  </a:solidFill>
                  <a:latin typeface="Arial"/>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1" i="0" u="none" strike="noStrike">
                <a:solidFill>
                  <a:srgbClr val="0D1F3C"/>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47472"/>
            <a:ext cx="8138160" cy="182880"/>
          </a:xfrm>
          <a:prstGeom prst="rect">
            <a:avLst/>
          </a:prstGeom>
          <a:noFill/>
          <a:ln/>
        </p:spPr>
        <p:txBody>
          <a:bodyPr wrap="square" rtlCol="0" anchor="ctr"/>
          <a:lstStyle/>
          <a:p>
            <a:pPr indent="0" marL="0">
              <a:buNone/>
            </a:pPr>
            <a:r>
              <a:rPr lang="en-US" sz="800" b="1" spc="300" kern="0" dirty="0">
                <a:solidFill>
                  <a:srgbClr val="AAAAAA"/>
                </a:solidFill>
                <a:latin typeface="Calibri" pitchFamily="34" charset="0"/>
                <a:ea typeface="Calibri" pitchFamily="34" charset="-122"/>
                <a:cs typeface="Calibri" pitchFamily="34" charset="-120"/>
              </a:rPr>
              <a:t>TECHNOLOGY &amp; HEALTH</a:t>
            </a:r>
            <a:endParaRPr lang="en-US" sz="800" dirty="0"/>
          </a:p>
        </p:txBody>
      </p:sp>
      <p:sp>
        <p:nvSpPr>
          <p:cNvPr id="3" name="Text 1"/>
          <p:cNvSpPr/>
          <p:nvPr/>
        </p:nvSpPr>
        <p:spPr>
          <a:xfrm>
            <a:off x="502920" y="566928"/>
            <a:ext cx="8138160" cy="384048"/>
          </a:xfrm>
          <a:prstGeom prst="rect">
            <a:avLst/>
          </a:prstGeom>
          <a:noFill/>
          <a:ln/>
        </p:spPr>
        <p:txBody>
          <a:bodyPr wrap="square" rtlCol="0" anchor="ctr"/>
          <a:lstStyle/>
          <a:p>
            <a:pPr indent="0" marL="0">
              <a:buNone/>
            </a:pPr>
            <a:r>
              <a:rPr lang="en-US" sz="1400" b="1" dirty="0">
                <a:solidFill>
                  <a:srgbClr val="333333"/>
                </a:solidFill>
                <a:latin typeface="Georgia" pitchFamily="34" charset="0"/>
                <a:ea typeface="Georgia" pitchFamily="34" charset="-122"/>
                <a:cs typeface="Georgia" pitchFamily="34" charset="-120"/>
              </a:rPr>
              <a:t>Intel Panther Lake Brings On-Device AI to Accessibility Tools</a:t>
            </a:r>
            <a:endParaRPr lang="en-US" sz="1400" dirty="0"/>
          </a:p>
        </p:txBody>
      </p:sp>
      <p:sp>
        <p:nvSpPr>
          <p:cNvPr id="4" name="Text 2"/>
          <p:cNvSpPr/>
          <p:nvPr/>
        </p:nvSpPr>
        <p:spPr>
          <a:xfrm>
            <a:off x="502920" y="1024128"/>
            <a:ext cx="8138160" cy="658368"/>
          </a:xfrm>
          <a:prstGeom prst="rect">
            <a:avLst/>
          </a:prstGeom>
          <a:noFill/>
          <a:ln/>
        </p:spPr>
        <p:txBody>
          <a:bodyPr wrap="square" rtlCol="0" anchor="ctr"/>
          <a:lstStyle/>
          <a:p>
            <a:pPr indent="0" marL="0">
              <a:buNone/>
            </a:pPr>
            <a:r>
              <a:rPr lang="en-US" sz="900" dirty="0">
                <a:solidFill>
                  <a:srgbClr val="666666">
                    <a:alpha val="95000"/>
                  </a:srgbClr>
                </a:solidFill>
                <a:latin typeface="Georgia" pitchFamily="34" charset="0"/>
                <a:ea typeface="Georgia" pitchFamily="34" charset="-122"/>
                <a:cs typeface="Georgia" pitchFamily="34" charset="-120"/>
              </a:rPr>
              <a:t>The Panther Lake architecture delivers over 100 TOPS of NPU compute, enabling new categories of on-device AI applications that run entirely without network access. Engineers at leading PC manufacturers are already developing software that leverages this capability to provide real-time assistance.</a:t>
            </a:r>
            <a:endParaRPr lang="en-US" sz="900" dirty="0"/>
          </a:p>
        </p:txBody>
      </p:sp>
      <p:sp>
        <p:nvSpPr>
          <p:cNvPr id="5" name="Text 3"/>
          <p:cNvSpPr/>
          <p:nvPr/>
        </p:nvSpPr>
        <p:spPr>
          <a:xfrm>
            <a:off x="502920" y="1737360"/>
            <a:ext cx="8138160" cy="594360"/>
          </a:xfrm>
          <a:prstGeom prst="rect">
            <a:avLst/>
          </a:prstGeom>
          <a:noFill/>
          <a:ln/>
        </p:spPr>
        <p:txBody>
          <a:bodyPr wrap="square" rtlCol="0" anchor="ctr"/>
          <a:lstStyle/>
          <a:p>
            <a:pPr indent="0" marL="0">
              <a:buNone/>
            </a:pPr>
            <a:r>
              <a:rPr lang="en-US" sz="900" dirty="0">
                <a:solidFill>
                  <a:srgbClr val="666666">
                    <a:alpha val="95000"/>
                  </a:srgbClr>
                </a:solidFill>
                <a:latin typeface="Georgia" pitchFamily="34" charset="0"/>
                <a:ea typeface="Georgia" pitchFamily="34" charset="-122"/>
                <a:cs typeface="Georgia" pitchFamily="34" charset="-120"/>
              </a:rPr>
              <a:t>Accessibility tools that once required specialised hardware costing hundreds of dollars can now run natively on the integrated processor, removing cost barriers for the estimated 285 million people worldwide living with some form of visual impairment.</a:t>
            </a:r>
            <a:endParaRPr lang="en-US" sz="900" dirty="0"/>
          </a:p>
        </p:txBody>
      </p:sp>
      <p:sp>
        <p:nvSpPr>
          <p:cNvPr id="6" name="Text 4"/>
          <p:cNvSpPr/>
          <p:nvPr/>
        </p:nvSpPr>
        <p:spPr>
          <a:xfrm>
            <a:off x="502920" y="2377440"/>
            <a:ext cx="8138160" cy="594360"/>
          </a:xfrm>
          <a:prstGeom prst="rect">
            <a:avLst/>
          </a:prstGeom>
          <a:noFill/>
          <a:ln/>
        </p:spPr>
        <p:txBody>
          <a:bodyPr wrap="square" rtlCol="0" anchor="ctr"/>
          <a:lstStyle/>
          <a:p>
            <a:pPr indent="0" marL="0">
              <a:buNone/>
            </a:pPr>
            <a:r>
              <a:rPr lang="en-US" sz="900" dirty="0">
                <a:solidFill>
                  <a:srgbClr val="666666">
                    <a:alpha val="95000"/>
                  </a:srgbClr>
                </a:solidFill>
                <a:latin typeface="Georgia" pitchFamily="34" charset="0"/>
                <a:ea typeface="Georgia" pitchFamily="34" charset="-122"/>
                <a:cs typeface="Georgia" pitchFamily="34" charset="-120"/>
              </a:rPr>
              <a:t>The platform's inference engine supports quantised language models as compact as 1.5 billion parameters, small enough to fit entirely within system memory while delivering sub-second summarisation latency.</a:t>
            </a:r>
            <a:endParaRPr lang="en-US" sz="900" dirty="0"/>
          </a:p>
        </p:txBody>
      </p:sp>
      <p:sp>
        <p:nvSpPr>
          <p:cNvPr id="7" name="Shape 5"/>
          <p:cNvSpPr/>
          <p:nvPr/>
        </p:nvSpPr>
        <p:spPr>
          <a:xfrm>
            <a:off x="-457200" y="-457200"/>
            <a:ext cx="10058400" cy="6057900"/>
          </a:xfrm>
          <a:prstGeom prst="ellipse">
            <a:avLst/>
          </a:prstGeom>
          <a:solidFill>
            <a:srgbClr val="A0A0A0"/>
          </a:solidFill>
          <a:ln w="12700">
            <a:solidFill>
              <a:srgbClr val="A0A0A0"/>
            </a:solidFill>
            <a:prstDash val="solid"/>
          </a:ln>
        </p:spPr>
      </p:sp>
      <p:sp>
        <p:nvSpPr>
          <p:cNvPr id="8" name="Shape 6"/>
          <p:cNvSpPr/>
          <p:nvPr/>
        </p:nvSpPr>
        <p:spPr>
          <a:xfrm>
            <a:off x="2560320" y="822960"/>
            <a:ext cx="4023360" cy="3474720"/>
          </a:xfrm>
          <a:prstGeom prst="ellipse">
            <a:avLst/>
          </a:prstGeom>
          <a:solidFill>
            <a:srgbClr val="FFFFFF"/>
          </a:solidFill>
          <a:ln w="12700">
            <a:solidFill>
              <a:srgbClr val="FFFFFF"/>
            </a:solidFill>
            <a:prstDash val="solid"/>
          </a:ln>
        </p:spPr>
      </p:sp>
      <p:sp>
        <p:nvSpPr>
          <p:cNvPr id="9" name="Shape 7"/>
          <p:cNvSpPr/>
          <p:nvPr/>
        </p:nvSpPr>
        <p:spPr>
          <a:xfrm>
            <a:off x="1097280" y="91440"/>
            <a:ext cx="6949440" cy="4937760"/>
          </a:xfrm>
          <a:prstGeom prst="ellipse">
            <a:avLst/>
          </a:prstGeom>
          <a:solidFill>
            <a:srgbClr val="CCCCCC">
              <a:alpha val="60000"/>
            </a:srgbClr>
          </a:solidFill>
          <a:ln w="12700">
            <a:solidFill>
              <a:srgbClr val="CCCCCC"/>
            </a:solidFill>
            <a:prstDash val="solid"/>
          </a:ln>
        </p:spPr>
      </p:sp>
      <p:sp>
        <p:nvSpPr>
          <p:cNvPr id="10" name="Shape 8"/>
          <p:cNvSpPr/>
          <p:nvPr/>
        </p:nvSpPr>
        <p:spPr>
          <a:xfrm>
            <a:off x="91440" y="91440"/>
            <a:ext cx="2011680" cy="1097280"/>
          </a:xfrm>
          <a:prstGeom prst="ellipse">
            <a:avLst/>
          </a:prstGeom>
          <a:solidFill>
            <a:srgbClr val="B0B0B0">
              <a:alpha val="90000"/>
            </a:srgbClr>
          </a:solidFill>
          <a:ln w="12700">
            <a:solidFill>
              <a:srgbClr val="B0B0B0"/>
            </a:solidFill>
            <a:prstDash val="solid"/>
          </a:ln>
        </p:spPr>
      </p:sp>
      <p:sp>
        <p:nvSpPr>
          <p:cNvPr id="11" name="Shape 9"/>
          <p:cNvSpPr/>
          <p:nvPr/>
        </p:nvSpPr>
        <p:spPr>
          <a:xfrm>
            <a:off x="6858000" y="3657600"/>
            <a:ext cx="1828800" cy="1005840"/>
          </a:xfrm>
          <a:prstGeom prst="ellipse">
            <a:avLst/>
          </a:prstGeom>
          <a:solidFill>
            <a:srgbClr val="B0B0B0">
              <a:alpha val="90000"/>
            </a:srgbClr>
          </a:solidFill>
          <a:ln w="12700">
            <a:solidFill>
              <a:srgbClr val="B0B0B0"/>
            </a:solidFill>
            <a:prstDash val="solid"/>
          </a:ln>
        </p:spPr>
      </p:sp>
      <p:sp>
        <p:nvSpPr>
          <p:cNvPr id="12" name="Text 10"/>
          <p:cNvSpPr/>
          <p:nvPr/>
        </p:nvSpPr>
        <p:spPr>
          <a:xfrm>
            <a:off x="0" y="4828032"/>
            <a:ext cx="9144000" cy="182880"/>
          </a:xfrm>
          <a:prstGeom prst="rect">
            <a:avLst/>
          </a:prstGeom>
          <a:noFill/>
          <a:ln/>
        </p:spPr>
        <p:txBody>
          <a:bodyPr wrap="square" rtlCol="0" anchor="ctr"/>
          <a:lstStyle/>
          <a:p>
            <a:pPr algn="ctr" indent="0" marL="0">
              <a:buNone/>
            </a:pPr>
            <a:r>
              <a:rPr lang="en-US" sz="700" b="1" spc="300" kern="0" dirty="0">
                <a:solidFill>
                  <a:srgbClr val="888888"/>
                </a:solidFill>
                <a:latin typeface="Calibri" pitchFamily="34" charset="0"/>
                <a:ea typeface="Calibri" pitchFamily="34" charset="-122"/>
                <a:cs typeface="Calibri" pitchFamily="34" charset="-120"/>
              </a:rPr>
              <a:t>SIMULATED VIEW — GLAUCOMA</a:t>
            </a:r>
            <a:endParaRPr lang="en-US" sz="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D1F3C"/>
        </a:solidFill>
      </p:bgPr>
    </p:bg>
    <p:spTree>
      <p:nvGrpSpPr>
        <p:cNvPr id="1" name=""/>
        <p:cNvGrpSpPr/>
        <p:nvPr/>
      </p:nvGrpSpPr>
      <p:grpSpPr>
        <a:xfrm>
          <a:off x="0" y="0"/>
          <a:ext cx="0" cy="0"/>
          <a:chOff x="0" y="0"/>
          <a:chExt cx="0" cy="0"/>
        </a:xfrm>
      </p:grpSpPr>
      <p:sp>
        <p:nvSpPr>
          <p:cNvPr id="2" name="Text 0"/>
          <p:cNvSpPr/>
          <p:nvPr/>
        </p:nvSpPr>
        <p:spPr>
          <a:xfrm>
            <a:off x="512064" y="493776"/>
            <a:ext cx="4572000" cy="201168"/>
          </a:xfrm>
          <a:prstGeom prst="roundRect">
            <a:avLst>
              <a:gd name="adj" fmla="val 227273"/>
            </a:avLst>
          </a:prstGeom>
          <a:solidFill>
            <a:srgbClr val="00B4D8">
              <a:alpha val="12000"/>
            </a:srgbClr>
          </a:solidFill>
          <a:ln/>
        </p:spPr>
        <p:txBody>
          <a:bodyPr wrap="square" rtlCol="0" anchor="ctr"/>
          <a:lstStyle/>
          <a:p>
            <a:pPr algn="ctr" indent="0" marL="0">
              <a:buNone/>
            </a:pPr>
            <a:r>
              <a:rPr lang="en-US" sz="900" b="1" spc="200" kern="0" dirty="0">
                <a:solidFill>
                  <a:srgbClr val="00B4D8"/>
                </a:solidFill>
                <a:latin typeface="Calibri" pitchFamily="34" charset="0"/>
                <a:ea typeface="Calibri" pitchFamily="34" charset="-122"/>
                <a:cs typeface="Calibri" pitchFamily="34" charset="-120"/>
              </a:rPr>
              <a:t>FINAL PRESENTATION</a:t>
            </a:r>
            <a:endParaRPr lang="en-US" sz="900" dirty="0"/>
          </a:p>
        </p:txBody>
      </p:sp>
      <p:sp>
        <p:nvSpPr>
          <p:cNvPr id="3" name="Text 1"/>
          <p:cNvSpPr/>
          <p:nvPr/>
        </p:nvSpPr>
        <p:spPr>
          <a:xfrm>
            <a:off x="512064" y="804672"/>
            <a:ext cx="4572000" cy="868680"/>
          </a:xfrm>
          <a:prstGeom prst="rect">
            <a:avLst/>
          </a:prstGeom>
          <a:noFill/>
          <a:ln/>
        </p:spPr>
        <p:txBody>
          <a:bodyPr wrap="square" rtlCol="0" anchor="ctr"/>
          <a:lstStyle/>
          <a:p>
            <a:pPr indent="0" marL="0">
              <a:buNone/>
            </a:pPr>
            <a:r>
              <a:rPr lang="en-US" sz="5200" b="1" dirty="0">
                <a:solidFill>
                  <a:srgbClr val="FFFFFF"/>
                </a:solidFill>
                <a:latin typeface="Cambria" pitchFamily="34" charset="0"/>
                <a:ea typeface="Cambria" pitchFamily="34" charset="-122"/>
                <a:cs typeface="Cambria" pitchFamily="34" charset="-120"/>
              </a:rPr>
              <a:t>AI</a:t>
            </a:r>
            <a:pPr indent="0" marL="0">
              <a:buNone/>
            </a:pPr>
            <a:r>
              <a:rPr lang="en-US" sz="5200" b="1" dirty="0">
                <a:solidFill>
                  <a:srgbClr val="00B4D8"/>
                </a:solidFill>
                <a:latin typeface="Cambria" pitchFamily="34" charset="0"/>
                <a:ea typeface="Cambria" pitchFamily="34" charset="-122"/>
                <a:cs typeface="Cambria" pitchFamily="34" charset="-120"/>
              </a:rPr>
              <a:t>·</a:t>
            </a:r>
            <a:pPr indent="0" marL="0">
              <a:buNone/>
            </a:pPr>
            <a:r>
              <a:rPr lang="en-US" sz="5200" b="1" dirty="0">
                <a:solidFill>
                  <a:srgbClr val="FFFFFF"/>
                </a:solidFill>
                <a:latin typeface="Cambria" pitchFamily="34" charset="0"/>
                <a:ea typeface="Cambria" pitchFamily="34" charset="-122"/>
                <a:cs typeface="Cambria" pitchFamily="34" charset="-120"/>
              </a:rPr>
              <a:t>Kwau</a:t>
            </a:r>
            <a:endParaRPr lang="en-US" sz="5200" dirty="0"/>
          </a:p>
        </p:txBody>
      </p:sp>
      <p:sp>
        <p:nvSpPr>
          <p:cNvPr id="4" name="Text 2"/>
          <p:cNvSpPr/>
          <p:nvPr/>
        </p:nvSpPr>
        <p:spPr>
          <a:xfrm>
            <a:off x="512064" y="1627632"/>
            <a:ext cx="4572000" cy="274320"/>
          </a:xfrm>
          <a:prstGeom prst="rect">
            <a:avLst/>
          </a:prstGeom>
          <a:noFill/>
          <a:ln/>
        </p:spPr>
        <p:txBody>
          <a:bodyPr wrap="square" rtlCol="0" anchor="ctr"/>
          <a:lstStyle/>
          <a:p>
            <a:pPr indent="0" marL="0">
              <a:buNone/>
            </a:pPr>
            <a:r>
              <a:rPr lang="en-US" sz="1300" dirty="0">
                <a:solidFill>
                  <a:srgbClr val="90E0EF">
                    <a:alpha val="75000"/>
                  </a:srgbClr>
                </a:solidFill>
                <a:latin typeface="Calibri" pitchFamily="34" charset="0"/>
                <a:ea typeface="Calibri" pitchFamily="34" charset="-122"/>
                <a:cs typeface="Calibri" pitchFamily="34" charset="-120"/>
              </a:rPr>
              <a:t>愛看有</a:t>
            </a:r>
            <a:endParaRPr lang="en-US" sz="1300" dirty="0"/>
          </a:p>
        </p:txBody>
      </p:sp>
      <p:sp>
        <p:nvSpPr>
          <p:cNvPr id="5" name="Text 3"/>
          <p:cNvSpPr/>
          <p:nvPr/>
        </p:nvSpPr>
        <p:spPr>
          <a:xfrm>
            <a:off x="512064" y="1938528"/>
            <a:ext cx="4572000" cy="292608"/>
          </a:xfrm>
          <a:prstGeom prst="rect">
            <a:avLst/>
          </a:prstGeom>
          <a:noFill/>
          <a:ln/>
        </p:spPr>
        <p:txBody>
          <a:bodyPr wrap="square" rtlCol="0" anchor="ctr"/>
          <a:lstStyle/>
          <a:p>
            <a:pPr indent="0" marL="0">
              <a:buNone/>
            </a:pPr>
            <a:r>
              <a:rPr lang="en-US" sz="1200" dirty="0">
                <a:solidFill>
                  <a:srgbClr val="90E0EF"/>
                </a:solidFill>
                <a:latin typeface="Calibri" pitchFamily="34" charset="0"/>
                <a:ea typeface="Calibri" pitchFamily="34" charset="-122"/>
                <a:cs typeface="Calibri" pitchFamily="34" charset="-120"/>
              </a:rPr>
              <a:t>Webcam × AI — see clearly, understand instantly</a:t>
            </a:r>
            <a:endParaRPr lang="en-US" sz="1200" dirty="0"/>
          </a:p>
        </p:txBody>
      </p:sp>
      <p:sp>
        <p:nvSpPr>
          <p:cNvPr id="6" name="Shape 4"/>
          <p:cNvSpPr/>
          <p:nvPr/>
        </p:nvSpPr>
        <p:spPr>
          <a:xfrm>
            <a:off x="512064" y="2359152"/>
            <a:ext cx="4114800" cy="9144"/>
          </a:xfrm>
          <a:prstGeom prst="rect">
            <a:avLst/>
          </a:prstGeom>
          <a:solidFill>
            <a:srgbClr val="FFFFFF">
              <a:alpha val="10000"/>
            </a:srgbClr>
          </a:solidFill>
          <a:ln w="12700">
            <a:solidFill>
              <a:srgbClr val="FFFFFF"/>
            </a:solidFill>
            <a:prstDash val="solid"/>
          </a:ln>
        </p:spPr>
      </p:sp>
      <p:sp>
        <p:nvSpPr>
          <p:cNvPr id="7" name="Text 5"/>
          <p:cNvSpPr/>
          <p:nvPr/>
        </p:nvSpPr>
        <p:spPr>
          <a:xfrm>
            <a:off x="512064" y="2450592"/>
            <a:ext cx="4572000" cy="182880"/>
          </a:xfrm>
          <a:prstGeom prst="rect">
            <a:avLst/>
          </a:prstGeom>
          <a:noFill/>
          <a:ln/>
        </p:spPr>
        <p:txBody>
          <a:bodyPr wrap="square" rtlCol="0" anchor="ctr"/>
          <a:lstStyle/>
          <a:p>
            <a:pPr indent="0" marL="0">
              <a:buNone/>
            </a:pPr>
            <a:r>
              <a:rPr lang="en-US" sz="800" b="1" spc="200" kern="0" dirty="0">
                <a:solidFill>
                  <a:srgbClr val="90E0EF">
                    <a:alpha val="50000"/>
                  </a:srgbClr>
                </a:solidFill>
                <a:latin typeface="Calibri" pitchFamily="34" charset="0"/>
                <a:ea typeface="Calibri" pitchFamily="34" charset="-122"/>
                <a:cs typeface="Calibri" pitchFamily="34" charset="-120"/>
              </a:rPr>
              <a:t>TEAM</a:t>
            </a:r>
            <a:endParaRPr lang="en-US" sz="800" dirty="0"/>
          </a:p>
        </p:txBody>
      </p:sp>
      <p:sp>
        <p:nvSpPr>
          <p:cNvPr id="8" name="Text 6"/>
          <p:cNvSpPr/>
          <p:nvPr/>
        </p:nvSpPr>
        <p:spPr>
          <a:xfrm>
            <a:off x="512064" y="2651760"/>
            <a:ext cx="4572000" cy="256032"/>
          </a:xfrm>
          <a:prstGeom prst="rect">
            <a:avLst/>
          </a:prstGeom>
          <a:noFill/>
          <a:ln/>
        </p:spPr>
        <p:txBody>
          <a:bodyPr wrap="square" rtlCol="0" anchor="ctr"/>
          <a:lstStyle/>
          <a:p>
            <a:pPr indent="0" marL="0">
              <a:buNone/>
            </a:pPr>
            <a:r>
              <a:rPr lang="en-US" sz="1200" dirty="0">
                <a:solidFill>
                  <a:srgbClr val="BBBBBB"/>
                </a:solidFill>
                <a:latin typeface="Calibri" pitchFamily="34" charset="0"/>
                <a:ea typeface="Calibri" pitchFamily="34" charset="-122"/>
                <a:cs typeface="Calibri" pitchFamily="34" charset="-120"/>
              </a:rPr>
              <a:t>Calvin Chen  ·  Ava Lu  ·  Thomas Chang  ·  Yorke Lee</a:t>
            </a:r>
            <a:endParaRPr lang="en-US" sz="1200" dirty="0"/>
          </a:p>
        </p:txBody>
      </p:sp>
      <p:sp>
        <p:nvSpPr>
          <p:cNvPr id="9" name="Shape 7"/>
          <p:cNvSpPr/>
          <p:nvPr/>
        </p:nvSpPr>
        <p:spPr>
          <a:xfrm>
            <a:off x="5029200" y="0"/>
            <a:ext cx="4114800" cy="5143500"/>
          </a:xfrm>
          <a:prstGeom prst="rect">
            <a:avLst/>
          </a:prstGeom>
          <a:solidFill>
            <a:srgbClr val="0096C7">
              <a:alpha val="80000"/>
            </a:srgbClr>
          </a:solidFill>
          <a:ln w="12700">
            <a:solidFill>
              <a:srgbClr val="023E8A"/>
            </a:solidFill>
            <a:prstDash val="solid"/>
          </a:ln>
        </p:spPr>
      </p:sp>
      <p:sp>
        <p:nvSpPr>
          <p:cNvPr id="10" name="Shape 8"/>
          <p:cNvSpPr/>
          <p:nvPr/>
        </p:nvSpPr>
        <p:spPr>
          <a:xfrm>
            <a:off x="5623560" y="1106424"/>
            <a:ext cx="2926080" cy="2926080"/>
          </a:xfrm>
          <a:prstGeom prst="ellipse">
            <a:avLst/>
          </a:prstGeom>
          <a:solidFill>
            <a:srgbClr val="0D1F3C">
              <a:alpha val="15000"/>
            </a:srgbClr>
          </a:solidFill>
          <a:ln w="12700">
            <a:solidFill>
              <a:srgbClr val="00B4D8">
                <a:alpha val="30000"/>
              </a:srgbClr>
            </a:solidFill>
            <a:prstDash val="solid"/>
          </a:ln>
        </p:spPr>
      </p:sp>
      <p:sp>
        <p:nvSpPr>
          <p:cNvPr id="11" name="Shape 9"/>
          <p:cNvSpPr/>
          <p:nvPr/>
        </p:nvSpPr>
        <p:spPr>
          <a:xfrm>
            <a:off x="5943600" y="1426464"/>
            <a:ext cx="2286000" cy="2286000"/>
          </a:xfrm>
          <a:prstGeom prst="ellipse">
            <a:avLst/>
          </a:prstGeom>
          <a:solidFill>
            <a:srgbClr val="0D1F3C">
              <a:alpha val="20000"/>
            </a:srgbClr>
          </a:solidFill>
          <a:ln w="12700">
            <a:solidFill>
              <a:srgbClr val="00B4D8">
                <a:alpha val="30000"/>
              </a:srgbClr>
            </a:solidFill>
            <a:prstDash val="solid"/>
          </a:ln>
        </p:spPr>
      </p:sp>
      <p:sp>
        <p:nvSpPr>
          <p:cNvPr id="12" name="Shape 10"/>
          <p:cNvSpPr/>
          <p:nvPr/>
        </p:nvSpPr>
        <p:spPr>
          <a:xfrm>
            <a:off x="6263640" y="1746504"/>
            <a:ext cx="1645920" cy="1645920"/>
          </a:xfrm>
          <a:prstGeom prst="ellipse">
            <a:avLst/>
          </a:prstGeom>
          <a:solidFill>
            <a:srgbClr val="0D1F3C">
              <a:alpha val="28000"/>
            </a:srgbClr>
          </a:solidFill>
          <a:ln w="25400">
            <a:solidFill>
              <a:srgbClr val="00B4D8">
                <a:alpha val="50000"/>
              </a:srgbClr>
            </a:solidFill>
            <a:prstDash val="solid"/>
          </a:ln>
        </p:spPr>
      </p:sp>
      <p:sp>
        <p:nvSpPr>
          <p:cNvPr id="13" name="Shape 11"/>
          <p:cNvSpPr/>
          <p:nvPr/>
        </p:nvSpPr>
        <p:spPr>
          <a:xfrm>
            <a:off x="6583680" y="2066544"/>
            <a:ext cx="1005840" cy="1005840"/>
          </a:xfrm>
          <a:prstGeom prst="ellipse">
            <a:avLst/>
          </a:prstGeom>
          <a:solidFill>
            <a:srgbClr val="0D1F3C"/>
          </a:solidFill>
          <a:ln w="25400">
            <a:solidFill>
              <a:srgbClr val="00B4D8">
                <a:alpha val="80000"/>
              </a:srgbClr>
            </a:solidFill>
            <a:prstDash val="solid"/>
          </a:ln>
        </p:spPr>
      </p:sp>
      <p:sp>
        <p:nvSpPr>
          <p:cNvPr id="14" name="Shape 12"/>
          <p:cNvSpPr/>
          <p:nvPr/>
        </p:nvSpPr>
        <p:spPr>
          <a:xfrm>
            <a:off x="6885432" y="2368296"/>
            <a:ext cx="402336" cy="402336"/>
          </a:xfrm>
          <a:prstGeom prst="ellipse">
            <a:avLst/>
          </a:prstGeom>
          <a:solidFill>
            <a:srgbClr val="00B4D8"/>
          </a:solidFill>
          <a:ln w="25400">
            <a:solidFill>
              <a:srgbClr val="00B4D8">
                <a:alpha val="80000"/>
              </a:srgbClr>
            </a:solidFill>
            <a:prstDash val="solid"/>
          </a:ln>
        </p:spPr>
      </p:sp>
      <p:sp>
        <p:nvSpPr>
          <p:cNvPr id="15" name="Shape 13"/>
          <p:cNvSpPr/>
          <p:nvPr/>
        </p:nvSpPr>
        <p:spPr>
          <a:xfrm>
            <a:off x="5760720" y="2157984"/>
            <a:ext cx="2651760" cy="822960"/>
          </a:xfrm>
          <a:prstGeom prst="ellipse">
            <a:avLst/>
          </a:prstGeom>
          <a:solidFill>
            <a:srgbClr val="0D1F3C">
              <a:alpha val="0"/>
            </a:srgbClr>
          </a:solidFill>
          <a:ln w="25400">
            <a:solidFill>
              <a:srgbClr val="00B4D8">
                <a:alpha val="70000"/>
              </a:srgbClr>
            </a:solidFill>
            <a:prstDash val="solid"/>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3291840" cy="5143500"/>
          </a:xfrm>
          <a:prstGeom prst="rect">
            <a:avLst/>
          </a:prstGeom>
          <a:solidFill>
            <a:srgbClr val="0D1F3C"/>
          </a:solidFill>
          <a:ln w="12700">
            <a:solidFill>
              <a:srgbClr val="0D1F3C"/>
            </a:solidFill>
            <a:prstDash val="solid"/>
          </a:ln>
        </p:spPr>
      </p:sp>
      <p:sp>
        <p:nvSpPr>
          <p:cNvPr id="3" name="Text 1"/>
          <p:cNvSpPr/>
          <p:nvPr/>
        </p:nvSpPr>
        <p:spPr>
          <a:xfrm>
            <a:off x="164592" y="347472"/>
            <a:ext cx="2286000" cy="256032"/>
          </a:xfrm>
          <a:prstGeom prst="roundRect">
            <a:avLst>
              <a:gd name="adj" fmla="val 178571"/>
            </a:avLst>
          </a:prstGeom>
          <a:solidFill>
            <a:srgbClr val="00B4D8"/>
          </a:solidFill>
          <a:ln/>
        </p:spPr>
        <p:txBody>
          <a:bodyPr wrap="square" rtlCol="0" anchor="ctr"/>
          <a:lstStyle/>
          <a:p>
            <a:pPr algn="ctr" indent="0" marL="0">
              <a:buNone/>
            </a:pPr>
            <a:r>
              <a:rPr lang="en-US" sz="900" b="1" dirty="0">
                <a:solidFill>
                  <a:srgbClr val="0D1F3C"/>
                </a:solidFill>
                <a:latin typeface="Calibri" pitchFamily="34" charset="0"/>
                <a:ea typeface="Calibri" pitchFamily="34" charset="-122"/>
                <a:cs typeface="Calibri" pitchFamily="34" charset="-120"/>
              </a:rPr>
              <a:t>1 · PROBLEM STATEMENT</a:t>
            </a:r>
            <a:endParaRPr lang="en-US" sz="900" dirty="0"/>
          </a:p>
        </p:txBody>
      </p:sp>
      <p:sp>
        <p:nvSpPr>
          <p:cNvPr id="4" name="Text 2"/>
          <p:cNvSpPr/>
          <p:nvPr/>
        </p:nvSpPr>
        <p:spPr>
          <a:xfrm>
            <a:off x="164592" y="676656"/>
            <a:ext cx="2926080" cy="658368"/>
          </a:xfrm>
          <a:prstGeom prst="rect">
            <a:avLst/>
          </a:prstGeom>
          <a:noFill/>
          <a:ln/>
        </p:spPr>
        <p:txBody>
          <a:bodyPr wrap="square"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The 20%</a:t>
            </a:r>
            <a:endParaRPr lang="en-US" sz="3600" dirty="0"/>
          </a:p>
        </p:txBody>
      </p:sp>
      <p:sp>
        <p:nvSpPr>
          <p:cNvPr id="5" name="Text 3"/>
          <p:cNvSpPr/>
          <p:nvPr/>
        </p:nvSpPr>
        <p:spPr>
          <a:xfrm>
            <a:off x="164592" y="1298448"/>
            <a:ext cx="2926080" cy="256032"/>
          </a:xfrm>
          <a:prstGeom prst="rect">
            <a:avLst/>
          </a:prstGeom>
          <a:noFill/>
          <a:ln/>
        </p:spPr>
        <p:txBody>
          <a:bodyPr wrap="square" rtlCol="0" anchor="ctr"/>
          <a:lstStyle/>
          <a:p>
            <a:pPr indent="0" marL="0">
              <a:buNone/>
            </a:pPr>
            <a:r>
              <a:rPr lang="en-US" sz="1100" dirty="0">
                <a:solidFill>
                  <a:srgbClr val="AAAAAA"/>
                </a:solidFill>
                <a:latin typeface="Calibri" pitchFamily="34" charset="0"/>
                <a:ea typeface="Calibri" pitchFamily="34" charset="-122"/>
                <a:cs typeface="Calibri" pitchFamily="34" charset="-120"/>
              </a:rPr>
              <a:t>Vision-Impaired PC Users</a:t>
            </a:r>
            <a:endParaRPr lang="en-US" sz="1100" dirty="0"/>
          </a:p>
        </p:txBody>
      </p:sp>
      <p:sp>
        <p:nvSpPr>
          <p:cNvPr id="6" name="Text 4"/>
          <p:cNvSpPr/>
          <p:nvPr/>
        </p:nvSpPr>
        <p:spPr>
          <a:xfrm>
            <a:off x="164592" y="4892040"/>
            <a:ext cx="2962656" cy="182880"/>
          </a:xfrm>
          <a:prstGeom prst="rect">
            <a:avLst/>
          </a:prstGeom>
          <a:noFill/>
          <a:ln/>
        </p:spPr>
        <p:txBody>
          <a:bodyPr wrap="square" rtlCol="0" anchor="ctr"/>
          <a:lstStyle/>
          <a:p>
            <a:pPr indent="0" marL="0">
              <a:buNone/>
            </a:pPr>
            <a:r>
              <a:rPr lang="en-US" sz="800" dirty="0">
                <a:solidFill>
                  <a:srgbClr val="666666"/>
                </a:solidFill>
                <a:latin typeface="Calibri" pitchFamily="34" charset="0"/>
                <a:ea typeface="Calibri" pitchFamily="34" charset="-122"/>
                <a:cs typeface="Calibri" pitchFamily="34" charset="-120"/>
              </a:rPr>
              <a:t>Survey n=17 · Avg PC experience 3.4 / 5</a:t>
            </a:r>
            <a:endParaRPr lang="en-US" sz="800" dirty="0"/>
          </a:p>
        </p:txBody>
      </p:sp>
      <p:sp>
        <p:nvSpPr>
          <p:cNvPr id="7" name="Text 5"/>
          <p:cNvSpPr/>
          <p:nvPr/>
        </p:nvSpPr>
        <p:spPr>
          <a:xfrm>
            <a:off x="3429000" y="347472"/>
            <a:ext cx="5486400" cy="201168"/>
          </a:xfrm>
          <a:prstGeom prst="rect">
            <a:avLst/>
          </a:prstGeom>
          <a:noFill/>
          <a:ln/>
        </p:spPr>
        <p:txBody>
          <a:bodyPr wrap="square" rtlCol="0" anchor="ctr"/>
          <a:lstStyle/>
          <a:p>
            <a:pPr indent="0" marL="0">
              <a:buNone/>
            </a:pPr>
            <a:r>
              <a:rPr lang="en-US" sz="900" b="1" spc="200" kern="0" dirty="0">
                <a:solidFill>
                  <a:srgbClr val="0077B6"/>
                </a:solidFill>
                <a:latin typeface="Calibri" pitchFamily="34" charset="0"/>
                <a:ea typeface="Calibri" pitchFamily="34" charset="-122"/>
                <a:cs typeface="Calibri" pitchFamily="34" charset="-120"/>
              </a:rPr>
              <a:t>FIVE DAILY PAIN POINTS</a:t>
            </a:r>
            <a:endParaRPr lang="en-US" sz="900" dirty="0"/>
          </a:p>
        </p:txBody>
      </p:sp>
      <p:sp>
        <p:nvSpPr>
          <p:cNvPr id="8" name="Shape 6"/>
          <p:cNvSpPr/>
          <p:nvPr/>
        </p:nvSpPr>
        <p:spPr>
          <a:xfrm>
            <a:off x="3429000" y="640080"/>
            <a:ext cx="5486400" cy="658368"/>
          </a:xfrm>
          <a:prstGeom prst="roundRect">
            <a:avLst>
              <a:gd name="adj" fmla="val 16667"/>
            </a:avLst>
          </a:prstGeom>
          <a:solidFill>
            <a:srgbClr val="F4F6FA"/>
          </a:solidFill>
          <a:ln w="12700">
            <a:solidFill>
              <a:srgbClr val="F4F6FA"/>
            </a:solidFill>
            <a:prstDash val="solid"/>
          </a:ln>
        </p:spPr>
      </p:sp>
      <p:sp>
        <p:nvSpPr>
          <p:cNvPr id="9" name="Shape 7"/>
          <p:cNvSpPr/>
          <p:nvPr/>
        </p:nvSpPr>
        <p:spPr>
          <a:xfrm>
            <a:off x="3429000" y="640080"/>
            <a:ext cx="45720" cy="658368"/>
          </a:xfrm>
          <a:prstGeom prst="rect">
            <a:avLst/>
          </a:prstGeom>
          <a:solidFill>
            <a:srgbClr val="00B4D8"/>
          </a:solidFill>
          <a:ln w="12700">
            <a:solidFill>
              <a:srgbClr val="00B4D8"/>
            </a:solidFill>
            <a:prstDash val="solid"/>
          </a:ln>
        </p:spPr>
      </p:sp>
      <p:sp>
        <p:nvSpPr>
          <p:cNvPr id="10" name="Text 8"/>
          <p:cNvSpPr/>
          <p:nvPr/>
        </p:nvSpPr>
        <p:spPr>
          <a:xfrm>
            <a:off x="3520440" y="749808"/>
            <a:ext cx="914400" cy="438912"/>
          </a:xfrm>
          <a:prstGeom prst="rect">
            <a:avLst/>
          </a:prstGeom>
          <a:noFill/>
          <a:ln/>
        </p:spPr>
        <p:txBody>
          <a:bodyPr wrap="square" rtlCol="0" anchor="ctr"/>
          <a:lstStyle/>
          <a:p>
            <a:pPr indent="0" marL="0">
              <a:buNone/>
            </a:pPr>
            <a:r>
              <a:rPr lang="en-US" sz="2000" b="1" dirty="0">
                <a:solidFill>
                  <a:srgbClr val="00B4D8"/>
                </a:solidFill>
                <a:latin typeface="Cambria" pitchFamily="34" charset="0"/>
                <a:ea typeface="Cambria" pitchFamily="34" charset="-122"/>
                <a:cs typeface="Cambria" pitchFamily="34" charset="-120"/>
              </a:rPr>
              <a:t>71%</a:t>
            </a:r>
            <a:endParaRPr lang="en-US" sz="2000" dirty="0"/>
          </a:p>
        </p:txBody>
      </p:sp>
      <p:sp>
        <p:nvSpPr>
          <p:cNvPr id="11" name="Text 9"/>
          <p:cNvSpPr/>
          <p:nvPr/>
        </p:nvSpPr>
        <p:spPr>
          <a:xfrm>
            <a:off x="4498848" y="786384"/>
            <a:ext cx="4297680" cy="365760"/>
          </a:xfrm>
          <a:prstGeom prst="rect">
            <a:avLst/>
          </a:prstGeom>
          <a:noFill/>
          <a:ln/>
        </p:spPr>
        <p:txBody>
          <a:bodyPr wrap="square" rtlCol="0" anchor="ctr"/>
          <a:lstStyle/>
          <a:p>
            <a:pPr indent="0" marL="0">
              <a:buNone/>
            </a:pPr>
            <a:r>
              <a:rPr lang="en-US" sz="1400" b="1" dirty="0">
                <a:solidFill>
                  <a:srgbClr val="0D1F3C"/>
                </a:solidFill>
                <a:latin typeface="Cambria" pitchFamily="34" charset="0"/>
                <a:ea typeface="Cambria" pitchFamily="34" charset="-122"/>
                <a:cs typeface="Cambria" pitchFamily="34" charset="-120"/>
              </a:rPr>
              <a:t>Eye strain from long screen time</a:t>
            </a:r>
            <a:endParaRPr lang="en-US" sz="1400" dirty="0"/>
          </a:p>
        </p:txBody>
      </p:sp>
      <p:sp>
        <p:nvSpPr>
          <p:cNvPr id="12" name="Shape 10"/>
          <p:cNvSpPr/>
          <p:nvPr/>
        </p:nvSpPr>
        <p:spPr>
          <a:xfrm>
            <a:off x="3429000" y="1444752"/>
            <a:ext cx="5486400" cy="658368"/>
          </a:xfrm>
          <a:prstGeom prst="roundRect">
            <a:avLst>
              <a:gd name="adj" fmla="val 16667"/>
            </a:avLst>
          </a:prstGeom>
          <a:solidFill>
            <a:srgbClr val="F4F6FA"/>
          </a:solidFill>
          <a:ln w="12700">
            <a:solidFill>
              <a:srgbClr val="F4F6FA"/>
            </a:solidFill>
            <a:prstDash val="solid"/>
          </a:ln>
        </p:spPr>
      </p:sp>
      <p:sp>
        <p:nvSpPr>
          <p:cNvPr id="13" name="Shape 11"/>
          <p:cNvSpPr/>
          <p:nvPr/>
        </p:nvSpPr>
        <p:spPr>
          <a:xfrm>
            <a:off x="3429000" y="1444752"/>
            <a:ext cx="45720" cy="658368"/>
          </a:xfrm>
          <a:prstGeom prst="rect">
            <a:avLst/>
          </a:prstGeom>
          <a:solidFill>
            <a:srgbClr val="00B4D8"/>
          </a:solidFill>
          <a:ln w="12700">
            <a:solidFill>
              <a:srgbClr val="00B4D8"/>
            </a:solidFill>
            <a:prstDash val="solid"/>
          </a:ln>
        </p:spPr>
      </p:sp>
      <p:sp>
        <p:nvSpPr>
          <p:cNvPr id="14" name="Text 12"/>
          <p:cNvSpPr/>
          <p:nvPr/>
        </p:nvSpPr>
        <p:spPr>
          <a:xfrm>
            <a:off x="3520440" y="1554480"/>
            <a:ext cx="914400" cy="438912"/>
          </a:xfrm>
          <a:prstGeom prst="rect">
            <a:avLst/>
          </a:prstGeom>
          <a:noFill/>
          <a:ln/>
        </p:spPr>
        <p:txBody>
          <a:bodyPr wrap="square" rtlCol="0" anchor="ctr"/>
          <a:lstStyle/>
          <a:p>
            <a:pPr indent="0" marL="0">
              <a:buNone/>
            </a:pPr>
            <a:r>
              <a:rPr lang="en-US" sz="2000" b="1" dirty="0">
                <a:solidFill>
                  <a:srgbClr val="00B4D8"/>
                </a:solidFill>
                <a:latin typeface="Cambria" pitchFamily="34" charset="0"/>
                <a:ea typeface="Cambria" pitchFamily="34" charset="-122"/>
                <a:cs typeface="Cambria" pitchFamily="34" charset="-120"/>
              </a:rPr>
              <a:t>65%</a:t>
            </a:r>
            <a:endParaRPr lang="en-US" sz="2000" dirty="0"/>
          </a:p>
        </p:txBody>
      </p:sp>
      <p:sp>
        <p:nvSpPr>
          <p:cNvPr id="15" name="Text 13"/>
          <p:cNvSpPr/>
          <p:nvPr/>
        </p:nvSpPr>
        <p:spPr>
          <a:xfrm>
            <a:off x="4498848" y="1591056"/>
            <a:ext cx="4297680" cy="365760"/>
          </a:xfrm>
          <a:prstGeom prst="rect">
            <a:avLst/>
          </a:prstGeom>
          <a:noFill/>
          <a:ln/>
        </p:spPr>
        <p:txBody>
          <a:bodyPr wrap="square" rtlCol="0" anchor="ctr"/>
          <a:lstStyle/>
          <a:p>
            <a:pPr indent="0" marL="0">
              <a:buNone/>
            </a:pPr>
            <a:r>
              <a:rPr lang="en-US" sz="1400" b="1" dirty="0">
                <a:solidFill>
                  <a:srgbClr val="0D1F3C"/>
                </a:solidFill>
                <a:latin typeface="Cambria" pitchFamily="34" charset="0"/>
                <a:ea typeface="Cambria" pitchFamily="34" charset="-122"/>
                <a:cs typeface="Cambria" pitchFamily="34" charset="-120"/>
              </a:rPr>
              <a:t>Text too small to read</a:t>
            </a:r>
            <a:endParaRPr lang="en-US" sz="1400" dirty="0"/>
          </a:p>
        </p:txBody>
      </p:sp>
      <p:sp>
        <p:nvSpPr>
          <p:cNvPr id="16" name="Shape 14"/>
          <p:cNvSpPr/>
          <p:nvPr/>
        </p:nvSpPr>
        <p:spPr>
          <a:xfrm>
            <a:off x="3429000" y="2249424"/>
            <a:ext cx="5486400" cy="658368"/>
          </a:xfrm>
          <a:prstGeom prst="roundRect">
            <a:avLst>
              <a:gd name="adj" fmla="val 16667"/>
            </a:avLst>
          </a:prstGeom>
          <a:solidFill>
            <a:srgbClr val="F4F6FA"/>
          </a:solidFill>
          <a:ln w="12700">
            <a:solidFill>
              <a:srgbClr val="F4F6FA"/>
            </a:solidFill>
            <a:prstDash val="solid"/>
          </a:ln>
        </p:spPr>
      </p:sp>
      <p:sp>
        <p:nvSpPr>
          <p:cNvPr id="17" name="Shape 15"/>
          <p:cNvSpPr/>
          <p:nvPr/>
        </p:nvSpPr>
        <p:spPr>
          <a:xfrm>
            <a:off x="3429000" y="2249424"/>
            <a:ext cx="45720" cy="658368"/>
          </a:xfrm>
          <a:prstGeom prst="rect">
            <a:avLst/>
          </a:prstGeom>
          <a:solidFill>
            <a:srgbClr val="00B4D8"/>
          </a:solidFill>
          <a:ln w="12700">
            <a:solidFill>
              <a:srgbClr val="00B4D8"/>
            </a:solidFill>
            <a:prstDash val="solid"/>
          </a:ln>
        </p:spPr>
      </p:sp>
      <p:sp>
        <p:nvSpPr>
          <p:cNvPr id="18" name="Text 16"/>
          <p:cNvSpPr/>
          <p:nvPr/>
        </p:nvSpPr>
        <p:spPr>
          <a:xfrm>
            <a:off x="3520440" y="2359152"/>
            <a:ext cx="914400" cy="438912"/>
          </a:xfrm>
          <a:prstGeom prst="rect">
            <a:avLst/>
          </a:prstGeom>
          <a:noFill/>
          <a:ln/>
        </p:spPr>
        <p:txBody>
          <a:bodyPr wrap="square" rtlCol="0" anchor="ctr"/>
          <a:lstStyle/>
          <a:p>
            <a:pPr indent="0" marL="0">
              <a:buNone/>
            </a:pPr>
            <a:r>
              <a:rPr lang="en-US" sz="2000" b="1" dirty="0">
                <a:solidFill>
                  <a:srgbClr val="00B4D8"/>
                </a:solidFill>
                <a:latin typeface="Cambria" pitchFamily="34" charset="0"/>
                <a:ea typeface="Cambria" pitchFamily="34" charset="-122"/>
                <a:cs typeface="Cambria" pitchFamily="34" charset="-120"/>
              </a:rPr>
              <a:t>47%</a:t>
            </a:r>
            <a:endParaRPr lang="en-US" sz="2000" dirty="0"/>
          </a:p>
        </p:txBody>
      </p:sp>
      <p:sp>
        <p:nvSpPr>
          <p:cNvPr id="19" name="Text 17"/>
          <p:cNvSpPr/>
          <p:nvPr/>
        </p:nvSpPr>
        <p:spPr>
          <a:xfrm>
            <a:off x="4498848" y="2395728"/>
            <a:ext cx="4297680" cy="365760"/>
          </a:xfrm>
          <a:prstGeom prst="rect">
            <a:avLst/>
          </a:prstGeom>
          <a:noFill/>
          <a:ln/>
        </p:spPr>
        <p:txBody>
          <a:bodyPr wrap="square" rtlCol="0" anchor="ctr"/>
          <a:lstStyle/>
          <a:p>
            <a:pPr indent="0" marL="0">
              <a:buNone/>
            </a:pPr>
            <a:r>
              <a:rPr lang="en-US" sz="1400" b="1" dirty="0">
                <a:solidFill>
                  <a:srgbClr val="0D1F3C"/>
                </a:solidFill>
                <a:latin typeface="Cambria" pitchFamily="34" charset="0"/>
                <a:ea typeface="Cambria" pitchFamily="34" charset="-122"/>
                <a:cs typeface="Cambria" pitchFamily="34" charset="-120"/>
              </a:rPr>
              <a:t>Low screen contrast</a:t>
            </a:r>
            <a:endParaRPr lang="en-US" sz="1400" dirty="0"/>
          </a:p>
        </p:txBody>
      </p:sp>
      <p:sp>
        <p:nvSpPr>
          <p:cNvPr id="20" name="Shape 18"/>
          <p:cNvSpPr/>
          <p:nvPr/>
        </p:nvSpPr>
        <p:spPr>
          <a:xfrm>
            <a:off x="3429000" y="3054096"/>
            <a:ext cx="5486400" cy="658368"/>
          </a:xfrm>
          <a:prstGeom prst="roundRect">
            <a:avLst>
              <a:gd name="adj" fmla="val 16667"/>
            </a:avLst>
          </a:prstGeom>
          <a:solidFill>
            <a:srgbClr val="F4F6FA"/>
          </a:solidFill>
          <a:ln w="12700">
            <a:solidFill>
              <a:srgbClr val="F4F6FA"/>
            </a:solidFill>
            <a:prstDash val="solid"/>
          </a:ln>
        </p:spPr>
      </p:sp>
      <p:sp>
        <p:nvSpPr>
          <p:cNvPr id="21" name="Shape 19"/>
          <p:cNvSpPr/>
          <p:nvPr/>
        </p:nvSpPr>
        <p:spPr>
          <a:xfrm>
            <a:off x="3429000" y="3054096"/>
            <a:ext cx="45720" cy="658368"/>
          </a:xfrm>
          <a:prstGeom prst="rect">
            <a:avLst/>
          </a:prstGeom>
          <a:solidFill>
            <a:srgbClr val="00B4D8"/>
          </a:solidFill>
          <a:ln w="12700">
            <a:solidFill>
              <a:srgbClr val="00B4D8"/>
            </a:solidFill>
            <a:prstDash val="solid"/>
          </a:ln>
        </p:spPr>
      </p:sp>
      <p:sp>
        <p:nvSpPr>
          <p:cNvPr id="22" name="Text 20"/>
          <p:cNvSpPr/>
          <p:nvPr/>
        </p:nvSpPr>
        <p:spPr>
          <a:xfrm>
            <a:off x="3520440" y="3163824"/>
            <a:ext cx="914400" cy="438912"/>
          </a:xfrm>
          <a:prstGeom prst="rect">
            <a:avLst/>
          </a:prstGeom>
          <a:noFill/>
          <a:ln/>
        </p:spPr>
        <p:txBody>
          <a:bodyPr wrap="square" rtlCol="0" anchor="ctr"/>
          <a:lstStyle/>
          <a:p>
            <a:pPr indent="0" marL="0">
              <a:buNone/>
            </a:pPr>
            <a:r>
              <a:rPr lang="en-US" sz="2000" b="1" dirty="0">
                <a:solidFill>
                  <a:srgbClr val="00B4D8"/>
                </a:solidFill>
                <a:latin typeface="Cambria" pitchFamily="34" charset="0"/>
                <a:ea typeface="Cambria" pitchFamily="34" charset="-122"/>
                <a:cs typeface="Cambria" pitchFamily="34" charset="-120"/>
              </a:rPr>
              <a:t>24%</a:t>
            </a:r>
            <a:endParaRPr lang="en-US" sz="2000" dirty="0"/>
          </a:p>
        </p:txBody>
      </p:sp>
      <p:sp>
        <p:nvSpPr>
          <p:cNvPr id="23" name="Text 21"/>
          <p:cNvSpPr/>
          <p:nvPr/>
        </p:nvSpPr>
        <p:spPr>
          <a:xfrm>
            <a:off x="4498848" y="3200400"/>
            <a:ext cx="4297680" cy="365760"/>
          </a:xfrm>
          <a:prstGeom prst="rect">
            <a:avLst/>
          </a:prstGeom>
          <a:noFill/>
          <a:ln/>
        </p:spPr>
        <p:txBody>
          <a:bodyPr wrap="square" rtlCol="0" anchor="ctr"/>
          <a:lstStyle/>
          <a:p>
            <a:pPr indent="0" marL="0">
              <a:buNone/>
            </a:pPr>
            <a:r>
              <a:rPr lang="en-US" sz="1400" b="1" dirty="0">
                <a:solidFill>
                  <a:srgbClr val="0D1F3C"/>
                </a:solidFill>
                <a:latin typeface="Cambria" pitchFamily="34" charset="0"/>
                <a:ea typeface="Cambria" pitchFamily="34" charset="-122"/>
                <a:cs typeface="Cambria" pitchFamily="34" charset="-120"/>
              </a:rPr>
              <a:t>Cursor hard to track and locate</a:t>
            </a:r>
            <a:endParaRPr lang="en-US" sz="1400" dirty="0"/>
          </a:p>
        </p:txBody>
      </p:sp>
      <p:sp>
        <p:nvSpPr>
          <p:cNvPr id="24" name="Shape 22"/>
          <p:cNvSpPr/>
          <p:nvPr/>
        </p:nvSpPr>
        <p:spPr>
          <a:xfrm>
            <a:off x="3429000" y="3858768"/>
            <a:ext cx="5486400" cy="658368"/>
          </a:xfrm>
          <a:prstGeom prst="roundRect">
            <a:avLst>
              <a:gd name="adj" fmla="val 16667"/>
            </a:avLst>
          </a:prstGeom>
          <a:solidFill>
            <a:srgbClr val="F4F6FA"/>
          </a:solidFill>
          <a:ln w="12700">
            <a:solidFill>
              <a:srgbClr val="F4F6FA"/>
            </a:solidFill>
            <a:prstDash val="solid"/>
          </a:ln>
        </p:spPr>
      </p:sp>
      <p:sp>
        <p:nvSpPr>
          <p:cNvPr id="25" name="Shape 23"/>
          <p:cNvSpPr/>
          <p:nvPr/>
        </p:nvSpPr>
        <p:spPr>
          <a:xfrm>
            <a:off x="3429000" y="3858768"/>
            <a:ext cx="45720" cy="658368"/>
          </a:xfrm>
          <a:prstGeom prst="rect">
            <a:avLst/>
          </a:prstGeom>
          <a:solidFill>
            <a:srgbClr val="00B4D8"/>
          </a:solidFill>
          <a:ln w="12700">
            <a:solidFill>
              <a:srgbClr val="00B4D8"/>
            </a:solidFill>
            <a:prstDash val="solid"/>
          </a:ln>
        </p:spPr>
      </p:sp>
      <p:sp>
        <p:nvSpPr>
          <p:cNvPr id="26" name="Text 24"/>
          <p:cNvSpPr/>
          <p:nvPr/>
        </p:nvSpPr>
        <p:spPr>
          <a:xfrm>
            <a:off x="3520440" y="3968496"/>
            <a:ext cx="914400" cy="438912"/>
          </a:xfrm>
          <a:prstGeom prst="rect">
            <a:avLst/>
          </a:prstGeom>
          <a:noFill/>
          <a:ln/>
        </p:spPr>
        <p:txBody>
          <a:bodyPr wrap="square" rtlCol="0" anchor="ctr"/>
          <a:lstStyle/>
          <a:p>
            <a:pPr indent="0" marL="0">
              <a:buNone/>
            </a:pPr>
            <a:r>
              <a:rPr lang="en-US" sz="2000" b="1" dirty="0">
                <a:solidFill>
                  <a:srgbClr val="00B4D8"/>
                </a:solidFill>
                <a:latin typeface="Cambria" pitchFamily="34" charset="0"/>
                <a:ea typeface="Cambria" pitchFamily="34" charset="-122"/>
                <a:cs typeface="Cambria" pitchFamily="34" charset="-120"/>
              </a:rPr>
              <a:t>18%</a:t>
            </a:r>
            <a:endParaRPr lang="en-US" sz="2000" dirty="0"/>
          </a:p>
        </p:txBody>
      </p:sp>
      <p:sp>
        <p:nvSpPr>
          <p:cNvPr id="27" name="Text 25"/>
          <p:cNvSpPr/>
          <p:nvPr/>
        </p:nvSpPr>
        <p:spPr>
          <a:xfrm>
            <a:off x="4498848" y="4005072"/>
            <a:ext cx="4297680" cy="365760"/>
          </a:xfrm>
          <a:prstGeom prst="rect">
            <a:avLst/>
          </a:prstGeom>
          <a:noFill/>
          <a:ln/>
        </p:spPr>
        <p:txBody>
          <a:bodyPr wrap="square" rtlCol="0" anchor="ctr"/>
          <a:lstStyle/>
          <a:p>
            <a:pPr indent="0" marL="0">
              <a:buNone/>
            </a:pPr>
            <a:r>
              <a:rPr lang="en-US" sz="1400" b="1" dirty="0">
                <a:solidFill>
                  <a:srgbClr val="0D1F3C"/>
                </a:solidFill>
                <a:latin typeface="Cambria" pitchFamily="34" charset="0"/>
                <a:ea typeface="Cambria" pitchFamily="34" charset="-122"/>
                <a:cs typeface="Cambria" pitchFamily="34" charset="-120"/>
              </a:rPr>
              <a:t>Can't find buttons or links</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D1F3C"/>
        </a:solidFill>
      </p:bgPr>
    </p:bg>
    <p:spTree>
      <p:nvGrpSpPr>
        <p:cNvPr id="1" name=""/>
        <p:cNvGrpSpPr/>
        <p:nvPr/>
      </p:nvGrpSpPr>
      <p:grpSpPr>
        <a:xfrm>
          <a:off x="0" y="0"/>
          <a:ext cx="0" cy="0"/>
          <a:chOff x="0" y="0"/>
          <a:chExt cx="0" cy="0"/>
        </a:xfrm>
      </p:grpSpPr>
      <p:sp>
        <p:nvSpPr>
          <p:cNvPr id="2" name="Text 0"/>
          <p:cNvSpPr/>
          <p:nvPr/>
        </p:nvSpPr>
        <p:spPr>
          <a:xfrm>
            <a:off x="3429000" y="292608"/>
            <a:ext cx="2286000" cy="256032"/>
          </a:xfrm>
          <a:prstGeom prst="roundRect">
            <a:avLst>
              <a:gd name="adj" fmla="val 178571"/>
            </a:avLst>
          </a:prstGeom>
          <a:solidFill>
            <a:srgbClr val="00B4D8"/>
          </a:solidFill>
          <a:ln/>
        </p:spPr>
        <p:txBody>
          <a:bodyPr wrap="square" rtlCol="0" anchor="ctr"/>
          <a:lstStyle/>
          <a:p>
            <a:pPr algn="ctr" indent="0" marL="0">
              <a:buNone/>
            </a:pPr>
            <a:r>
              <a:rPr lang="en-US" sz="900" b="1" dirty="0">
                <a:solidFill>
                  <a:srgbClr val="0D1F3C"/>
                </a:solidFill>
                <a:latin typeface="Calibri" pitchFamily="34" charset="0"/>
                <a:ea typeface="Calibri" pitchFamily="34" charset="-122"/>
                <a:cs typeface="Calibri" pitchFamily="34" charset="-120"/>
              </a:rPr>
              <a:t>1 · PROBLEM STATEMENT</a:t>
            </a:r>
            <a:endParaRPr lang="en-US" sz="900" dirty="0"/>
          </a:p>
        </p:txBody>
      </p:sp>
      <p:sp>
        <p:nvSpPr>
          <p:cNvPr id="3" name="Text 1"/>
          <p:cNvSpPr/>
          <p:nvPr/>
        </p:nvSpPr>
        <p:spPr>
          <a:xfrm>
            <a:off x="457200" y="658368"/>
            <a:ext cx="8229600" cy="1371600"/>
          </a:xfrm>
          <a:prstGeom prst="rect">
            <a:avLst/>
          </a:prstGeom>
          <a:noFill/>
          <a:ln/>
        </p:spPr>
        <p:txBody>
          <a:bodyPr wrap="square" rtlCol="0" anchor="ctr"/>
          <a:lstStyle/>
          <a:p>
            <a:pPr algn="ctr" indent="0" marL="0">
              <a:buNone/>
            </a:pPr>
            <a:r>
              <a:rPr lang="en-US" sz="9600" b="1" spc="-400" kern="0" dirty="0">
                <a:solidFill>
                  <a:srgbClr val="00B4D8"/>
                </a:solidFill>
                <a:latin typeface="Cambria" pitchFamily="34" charset="0"/>
                <a:ea typeface="Cambria" pitchFamily="34" charset="-122"/>
                <a:cs typeface="Cambria" pitchFamily="34" charset="-120"/>
              </a:rPr>
              <a:t>59%</a:t>
            </a:r>
            <a:endParaRPr lang="en-US" sz="9600" dirty="0"/>
          </a:p>
        </p:txBody>
      </p:sp>
      <p:sp>
        <p:nvSpPr>
          <p:cNvPr id="4" name="Text 2"/>
          <p:cNvSpPr/>
          <p:nvPr/>
        </p:nvSpPr>
        <p:spPr>
          <a:xfrm>
            <a:off x="457200" y="1938528"/>
            <a:ext cx="8229600" cy="365760"/>
          </a:xfrm>
          <a:prstGeom prst="rect">
            <a:avLst/>
          </a:prstGeom>
          <a:noFill/>
          <a:ln/>
        </p:spPr>
        <p:txBody>
          <a:bodyPr wrap="square" rtlCol="0" anchor="ctr"/>
          <a:lstStyle/>
          <a:p>
            <a:pPr algn="ctr" indent="0" marL="0">
              <a:buNone/>
            </a:pPr>
            <a:r>
              <a:rPr lang="en-US" sz="2000" dirty="0">
                <a:solidFill>
                  <a:srgbClr val="DDDDDD"/>
                </a:solidFill>
                <a:latin typeface="Calibri" pitchFamily="34" charset="0"/>
                <a:ea typeface="Calibri" pitchFamily="34" charset="-122"/>
                <a:cs typeface="Calibri" pitchFamily="34" charset="-120"/>
              </a:rPr>
              <a:t>never adopted an assistive tool</a:t>
            </a:r>
            <a:endParaRPr lang="en-US" sz="2000" dirty="0"/>
          </a:p>
        </p:txBody>
      </p:sp>
      <p:sp>
        <p:nvSpPr>
          <p:cNvPr id="5" name="Shape 3"/>
          <p:cNvSpPr/>
          <p:nvPr/>
        </p:nvSpPr>
        <p:spPr>
          <a:xfrm>
            <a:off x="2011680" y="2468880"/>
            <a:ext cx="5120640" cy="1993392"/>
          </a:xfrm>
          <a:prstGeom prst="roundRect">
            <a:avLst>
              <a:gd name="adj" fmla="val 6422"/>
            </a:avLst>
          </a:prstGeom>
          <a:solidFill>
            <a:srgbClr val="E74C3C">
              <a:alpha val="7000"/>
            </a:srgbClr>
          </a:solidFill>
          <a:ln w="12700">
            <a:solidFill>
              <a:srgbClr val="E74C3C">
                <a:alpha val="45000"/>
              </a:srgbClr>
            </a:solidFill>
            <a:prstDash val="solid"/>
          </a:ln>
        </p:spPr>
      </p:sp>
      <p:sp>
        <p:nvSpPr>
          <p:cNvPr id="6" name="Text 4"/>
          <p:cNvSpPr/>
          <p:nvPr/>
        </p:nvSpPr>
        <p:spPr>
          <a:xfrm>
            <a:off x="2194560" y="2578608"/>
            <a:ext cx="4754880" cy="201168"/>
          </a:xfrm>
          <a:prstGeom prst="rect">
            <a:avLst/>
          </a:prstGeom>
          <a:noFill/>
          <a:ln/>
        </p:spPr>
        <p:txBody>
          <a:bodyPr wrap="square" rtlCol="0" anchor="ctr"/>
          <a:lstStyle/>
          <a:p>
            <a:pPr algn="ctr" indent="0" marL="0">
              <a:buNone/>
            </a:pPr>
            <a:r>
              <a:rPr lang="en-US" sz="800" b="1" spc="100" kern="0" dirty="0">
                <a:solidFill>
                  <a:srgbClr val="E74C3C"/>
                </a:solidFill>
                <a:latin typeface="Calibri" pitchFamily="34" charset="0"/>
                <a:ea typeface="Calibri" pitchFamily="34" charset="-122"/>
                <a:cs typeface="Calibri" pitchFamily="34" charset="-120"/>
              </a:rPr>
              <a:t>WHY EXISTING TOOLS ARE ABANDONED</a:t>
            </a:r>
            <a:endParaRPr lang="en-US" sz="800" dirty="0"/>
          </a:p>
        </p:txBody>
      </p:sp>
      <p:sp>
        <p:nvSpPr>
          <p:cNvPr id="7" name="Text 5"/>
          <p:cNvSpPr/>
          <p:nvPr/>
        </p:nvSpPr>
        <p:spPr>
          <a:xfrm>
            <a:off x="2194560" y="2889504"/>
            <a:ext cx="4754880" cy="347472"/>
          </a:xfrm>
          <a:prstGeom prst="rect">
            <a:avLst/>
          </a:prstGeom>
          <a:noFill/>
          <a:ln/>
        </p:spPr>
        <p:txBody>
          <a:bodyPr wrap="square" rtlCol="0" anchor="ctr"/>
          <a:lstStyle/>
          <a:p>
            <a:pPr algn="ctr" indent="0" marL="0">
              <a:buNone/>
            </a:pPr>
            <a:r>
              <a:rPr lang="en-US" sz="1800" b="1" dirty="0">
                <a:solidFill>
                  <a:srgbClr val="F6AE2D"/>
                </a:solidFill>
                <a:latin typeface="Cambria" pitchFamily="34" charset="0"/>
                <a:ea typeface="Cambria" pitchFamily="34" charset="-122"/>
                <a:cs typeface="Cambria" pitchFamily="34" charset="-120"/>
              </a:rPr>
              <a:t>Always-on required</a:t>
            </a:r>
            <a:endParaRPr lang="en-US" sz="1800" dirty="0"/>
          </a:p>
        </p:txBody>
      </p:sp>
      <p:sp>
        <p:nvSpPr>
          <p:cNvPr id="8" name="Text 6"/>
          <p:cNvSpPr/>
          <p:nvPr/>
        </p:nvSpPr>
        <p:spPr>
          <a:xfrm>
            <a:off x="2194560" y="3328416"/>
            <a:ext cx="4754880" cy="347472"/>
          </a:xfrm>
          <a:prstGeom prst="rect">
            <a:avLst/>
          </a:prstGeom>
          <a:noFill/>
          <a:ln/>
        </p:spPr>
        <p:txBody>
          <a:bodyPr wrap="square" rtlCol="0" anchor="ctr"/>
          <a:lstStyle/>
          <a:p>
            <a:pPr algn="ctr" indent="0" marL="0">
              <a:buNone/>
            </a:pPr>
            <a:r>
              <a:rPr lang="en-US" sz="1800" b="1" dirty="0">
                <a:solidFill>
                  <a:srgbClr val="F6AE2D"/>
                </a:solidFill>
                <a:latin typeface="Cambria" pitchFamily="34" charset="0"/>
                <a:ea typeface="Cambria" pitchFamily="34" charset="-122"/>
                <a:cs typeface="Cambria" pitchFamily="34" charset="-120"/>
              </a:rPr>
              <a:t>Special hardware</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3840480" cy="5143500"/>
          </a:xfrm>
          <a:prstGeom prst="rect">
            <a:avLst/>
          </a:prstGeom>
          <a:solidFill>
            <a:srgbClr val="0D1F3C"/>
          </a:solidFill>
          <a:ln w="12700">
            <a:solidFill>
              <a:srgbClr val="0D1F3C"/>
            </a:solidFill>
            <a:prstDash val="solid"/>
          </a:ln>
        </p:spPr>
      </p:sp>
      <p:sp>
        <p:nvSpPr>
          <p:cNvPr id="3" name="Text 1"/>
          <p:cNvSpPr/>
          <p:nvPr/>
        </p:nvSpPr>
        <p:spPr>
          <a:xfrm>
            <a:off x="182880" y="329184"/>
            <a:ext cx="2286000" cy="256032"/>
          </a:xfrm>
          <a:prstGeom prst="roundRect">
            <a:avLst>
              <a:gd name="adj" fmla="val 178571"/>
            </a:avLst>
          </a:prstGeom>
          <a:solidFill>
            <a:srgbClr val="C9922A"/>
          </a:solid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 · PROPOSED SOLUTION</a:t>
            </a:r>
            <a:endParaRPr lang="en-US" sz="900" dirty="0"/>
          </a:p>
        </p:txBody>
      </p:sp>
      <p:sp>
        <p:nvSpPr>
          <p:cNvPr id="4" name="Text 2"/>
          <p:cNvSpPr/>
          <p:nvPr/>
        </p:nvSpPr>
        <p:spPr>
          <a:xfrm>
            <a:off x="182880" y="676656"/>
            <a:ext cx="3429000" cy="475488"/>
          </a:xfrm>
          <a:prstGeom prst="rect">
            <a:avLst/>
          </a:prstGeom>
          <a:noFill/>
          <a:ln/>
        </p:spPr>
        <p:txBody>
          <a:bodyPr wrap="square"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Blind Area</a:t>
            </a:r>
            <a:endParaRPr lang="en-US" sz="2600" dirty="0"/>
          </a:p>
        </p:txBody>
      </p:sp>
      <p:sp>
        <p:nvSpPr>
          <p:cNvPr id="5" name="Text 3"/>
          <p:cNvSpPr/>
          <p:nvPr/>
        </p:nvSpPr>
        <p:spPr>
          <a:xfrm>
            <a:off x="182880" y="1133856"/>
            <a:ext cx="3429000" cy="256032"/>
          </a:xfrm>
          <a:prstGeom prst="rect">
            <a:avLst/>
          </a:prstGeom>
          <a:noFill/>
          <a:ln/>
        </p:spPr>
        <p:txBody>
          <a:bodyPr wrap="square" rtlCol="0" anchor="ctr"/>
          <a:lstStyle/>
          <a:p>
            <a:pPr indent="0" marL="0">
              <a:buNone/>
            </a:pPr>
            <a:r>
              <a:rPr lang="en-US" sz="1100" dirty="0">
                <a:solidFill>
                  <a:srgbClr val="AAAAAA"/>
                </a:solidFill>
                <a:latin typeface="Calibri" pitchFamily="34" charset="0"/>
                <a:ea typeface="Calibri" pitchFamily="34" charset="-122"/>
                <a:cs typeface="Calibri" pitchFamily="34" charset="-120"/>
              </a:rPr>
              <a:t>Unvisited zones — AI detects &amp; guides</a:t>
            </a:r>
            <a:endParaRPr lang="en-US" sz="1100" dirty="0"/>
          </a:p>
        </p:txBody>
      </p:sp>
      <p:sp>
        <p:nvSpPr>
          <p:cNvPr id="6" name="Shape 4"/>
          <p:cNvSpPr/>
          <p:nvPr/>
        </p:nvSpPr>
        <p:spPr>
          <a:xfrm>
            <a:off x="182880" y="1499616"/>
            <a:ext cx="3429000" cy="566928"/>
          </a:xfrm>
          <a:prstGeom prst="roundRect">
            <a:avLst>
              <a:gd name="adj" fmla="val 16129"/>
            </a:avLst>
          </a:prstGeom>
          <a:solidFill>
            <a:srgbClr val="FFFFFF">
              <a:alpha val="6000"/>
            </a:srgbClr>
          </a:solidFill>
          <a:ln w="12700">
            <a:solidFill>
              <a:srgbClr val="C9922A">
                <a:alpha val="50000"/>
              </a:srgbClr>
            </a:solidFill>
            <a:prstDash val="solid"/>
          </a:ln>
        </p:spPr>
      </p:sp>
      <p:sp>
        <p:nvSpPr>
          <p:cNvPr id="7" name="Shape 5"/>
          <p:cNvSpPr/>
          <p:nvPr/>
        </p:nvSpPr>
        <p:spPr>
          <a:xfrm>
            <a:off x="182880" y="1499616"/>
            <a:ext cx="36576" cy="566928"/>
          </a:xfrm>
          <a:prstGeom prst="rect">
            <a:avLst/>
          </a:prstGeom>
          <a:solidFill>
            <a:srgbClr val="C9922A">
              <a:alpha val="50000"/>
            </a:srgbClr>
          </a:solidFill>
          <a:ln w="12700">
            <a:solidFill>
              <a:srgbClr val="00B4D8"/>
            </a:solidFill>
            <a:prstDash val="solid"/>
          </a:ln>
        </p:spPr>
      </p:sp>
      <p:sp>
        <p:nvSpPr>
          <p:cNvPr id="8" name="Text 6"/>
          <p:cNvSpPr/>
          <p:nvPr/>
        </p:nvSpPr>
        <p:spPr>
          <a:xfrm>
            <a:off x="347472" y="1655064"/>
            <a:ext cx="3191256" cy="256032"/>
          </a:xfrm>
          <a:prstGeom prst="rect">
            <a:avLst/>
          </a:prstGeom>
          <a:noFill/>
          <a:ln/>
        </p:spPr>
        <p:txBody>
          <a:bodyPr wrap="square"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Gaze Heatmap</a:t>
            </a:r>
            <a:endParaRPr lang="en-US" sz="1300" dirty="0"/>
          </a:p>
        </p:txBody>
      </p:sp>
      <p:sp>
        <p:nvSpPr>
          <p:cNvPr id="9" name="Shape 7"/>
          <p:cNvSpPr/>
          <p:nvPr/>
        </p:nvSpPr>
        <p:spPr>
          <a:xfrm>
            <a:off x="182880" y="2157984"/>
            <a:ext cx="3429000" cy="566928"/>
          </a:xfrm>
          <a:prstGeom prst="roundRect">
            <a:avLst>
              <a:gd name="adj" fmla="val 16129"/>
            </a:avLst>
          </a:prstGeom>
          <a:solidFill>
            <a:srgbClr val="FFFFFF">
              <a:alpha val="6000"/>
            </a:srgbClr>
          </a:solidFill>
          <a:ln w="12700">
            <a:solidFill>
              <a:srgbClr val="C9922A">
                <a:alpha val="50000"/>
              </a:srgbClr>
            </a:solidFill>
            <a:prstDash val="solid"/>
          </a:ln>
        </p:spPr>
      </p:sp>
      <p:sp>
        <p:nvSpPr>
          <p:cNvPr id="10" name="Shape 8"/>
          <p:cNvSpPr/>
          <p:nvPr/>
        </p:nvSpPr>
        <p:spPr>
          <a:xfrm>
            <a:off x="182880" y="2157984"/>
            <a:ext cx="36576" cy="566928"/>
          </a:xfrm>
          <a:prstGeom prst="rect">
            <a:avLst/>
          </a:prstGeom>
          <a:solidFill>
            <a:srgbClr val="C9922A">
              <a:alpha val="50000"/>
            </a:srgbClr>
          </a:solidFill>
          <a:ln w="12700">
            <a:solidFill>
              <a:srgbClr val="00B4D8"/>
            </a:solidFill>
            <a:prstDash val="solid"/>
          </a:ln>
        </p:spPr>
      </p:sp>
      <p:sp>
        <p:nvSpPr>
          <p:cNvPr id="11" name="Text 9"/>
          <p:cNvSpPr/>
          <p:nvPr/>
        </p:nvSpPr>
        <p:spPr>
          <a:xfrm>
            <a:off x="347472" y="2313432"/>
            <a:ext cx="3191256" cy="256032"/>
          </a:xfrm>
          <a:prstGeom prst="rect">
            <a:avLst/>
          </a:prstGeom>
          <a:noFill/>
          <a:ln/>
        </p:spPr>
        <p:txBody>
          <a:bodyPr wrap="square"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Blind Spot Detection</a:t>
            </a:r>
            <a:endParaRPr lang="en-US" sz="1300" dirty="0"/>
          </a:p>
        </p:txBody>
      </p:sp>
      <p:sp>
        <p:nvSpPr>
          <p:cNvPr id="12" name="Shape 10"/>
          <p:cNvSpPr/>
          <p:nvPr/>
        </p:nvSpPr>
        <p:spPr>
          <a:xfrm>
            <a:off x="4069080" y="475488"/>
            <a:ext cx="4846320" cy="4206240"/>
          </a:xfrm>
          <a:prstGeom prst="roundRect">
            <a:avLst>
              <a:gd name="adj" fmla="val 4348"/>
            </a:avLst>
          </a:prstGeom>
          <a:solidFill>
            <a:srgbClr val="00B4D8">
              <a:alpha val="4000"/>
            </a:srgbClr>
          </a:solidFill>
          <a:ln w="12700">
            <a:solidFill>
              <a:srgbClr val="00B4D8">
                <a:alpha val="45000"/>
              </a:srgbClr>
            </a:solidFill>
            <a:prstDash val="dash"/>
          </a:ln>
        </p:spPr>
      </p:sp>
      <p:sp>
        <p:nvSpPr>
          <p:cNvPr id="13" name="Text 11"/>
          <p:cNvSpPr/>
          <p:nvPr/>
        </p:nvSpPr>
        <p:spPr>
          <a:xfrm>
            <a:off x="4069080" y="2103120"/>
            <a:ext cx="4846320" cy="274320"/>
          </a:xfrm>
          <a:prstGeom prst="rect">
            <a:avLst/>
          </a:prstGeom>
          <a:noFill/>
          <a:ln/>
        </p:spPr>
        <p:txBody>
          <a:bodyPr wrap="square" rtlCol="0" anchor="ctr"/>
          <a:lstStyle/>
          <a:p>
            <a:pPr algn="ctr" indent="0" marL="0">
              <a:buNone/>
            </a:pPr>
            <a:r>
              <a:rPr lang="en-US" sz="1200" b="1" dirty="0">
                <a:solidFill>
                  <a:srgbClr val="00B4D8">
                    <a:alpha val="65000"/>
                  </a:srgbClr>
                </a:solidFill>
                <a:latin typeface="Calibri" pitchFamily="34" charset="0"/>
                <a:ea typeface="Calibri" pitchFamily="34" charset="-122"/>
                <a:cs typeface="Calibri" pitchFamily="34" charset="-120"/>
              </a:rPr>
              <a:t>Demo Video — Blind-Spot Hints</a:t>
            </a:r>
            <a:endParaRPr lang="en-US" sz="1200" dirty="0"/>
          </a:p>
        </p:txBody>
      </p:sp>
      <p:sp>
        <p:nvSpPr>
          <p:cNvPr id="14" name="Text 12"/>
          <p:cNvSpPr/>
          <p:nvPr/>
        </p:nvSpPr>
        <p:spPr>
          <a:xfrm>
            <a:off x="4069080" y="2423160"/>
            <a:ext cx="4846320" cy="201168"/>
          </a:xfrm>
          <a:prstGeom prst="rect">
            <a:avLst/>
          </a:prstGeom>
          <a:noFill/>
          <a:ln/>
        </p:spPr>
        <p:txBody>
          <a:bodyPr wrap="square" rtlCol="0" anchor="ctr"/>
          <a:lstStyle/>
          <a:p>
            <a:pPr algn="ctr" indent="0" marL="0">
              <a:buNone/>
            </a:pPr>
            <a:r>
              <a:rPr lang="en-US" sz="900" dirty="0">
                <a:solidFill>
                  <a:srgbClr val="00B4D8">
                    <a:alpha val="40000"/>
                  </a:srgbClr>
                </a:solidFill>
                <a:latin typeface="Calibri" pitchFamily="34" charset="0"/>
                <a:ea typeface="Calibri" pitchFamily="34" charset="-122"/>
                <a:cs typeface="Calibri" pitchFamily="34" charset="-120"/>
              </a:rPr>
              <a:t>Replace with demo video file</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3840480" cy="5143500"/>
          </a:xfrm>
          <a:prstGeom prst="rect">
            <a:avLst/>
          </a:prstGeom>
          <a:solidFill>
            <a:srgbClr val="0D1F3C"/>
          </a:solidFill>
          <a:ln w="12700">
            <a:solidFill>
              <a:srgbClr val="0D1F3C"/>
            </a:solidFill>
            <a:prstDash val="solid"/>
          </a:ln>
        </p:spPr>
      </p:sp>
      <p:sp>
        <p:nvSpPr>
          <p:cNvPr id="3" name="Text 1"/>
          <p:cNvSpPr/>
          <p:nvPr/>
        </p:nvSpPr>
        <p:spPr>
          <a:xfrm>
            <a:off x="182880" y="329184"/>
            <a:ext cx="2286000" cy="256032"/>
          </a:xfrm>
          <a:prstGeom prst="roundRect">
            <a:avLst>
              <a:gd name="adj" fmla="val 178571"/>
            </a:avLst>
          </a:prstGeom>
          <a:solidFill>
            <a:srgbClr val="00B4D8"/>
          </a:solidFill>
          <a:ln/>
        </p:spPr>
        <p:txBody>
          <a:bodyPr wrap="square" rtlCol="0" anchor="ctr"/>
          <a:lstStyle/>
          <a:p>
            <a:pPr algn="ctr" indent="0" marL="0">
              <a:buNone/>
            </a:pPr>
            <a:r>
              <a:rPr lang="en-US" sz="900" b="1" dirty="0">
                <a:solidFill>
                  <a:srgbClr val="0D1F3C"/>
                </a:solidFill>
                <a:latin typeface="Calibri" pitchFamily="34" charset="0"/>
                <a:ea typeface="Calibri" pitchFamily="34" charset="-122"/>
                <a:cs typeface="Calibri" pitchFamily="34" charset="-120"/>
              </a:rPr>
              <a:t>2 · PROPOSED SOLUTION</a:t>
            </a:r>
            <a:endParaRPr lang="en-US" sz="900" dirty="0"/>
          </a:p>
        </p:txBody>
      </p:sp>
      <p:sp>
        <p:nvSpPr>
          <p:cNvPr id="4" name="Text 2"/>
          <p:cNvSpPr/>
          <p:nvPr/>
        </p:nvSpPr>
        <p:spPr>
          <a:xfrm>
            <a:off x="182880" y="676656"/>
            <a:ext cx="3429000" cy="475488"/>
          </a:xfrm>
          <a:prstGeom prst="rect">
            <a:avLst/>
          </a:prstGeom>
          <a:noFill/>
          <a:ln/>
        </p:spPr>
        <p:txBody>
          <a:bodyPr wrap="square"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Visible Area</a:t>
            </a:r>
            <a:endParaRPr lang="en-US" sz="2600" dirty="0"/>
          </a:p>
        </p:txBody>
      </p:sp>
      <p:sp>
        <p:nvSpPr>
          <p:cNvPr id="5" name="Text 3"/>
          <p:cNvSpPr/>
          <p:nvPr/>
        </p:nvSpPr>
        <p:spPr>
          <a:xfrm>
            <a:off x="182880" y="1133856"/>
            <a:ext cx="3429000" cy="256032"/>
          </a:xfrm>
          <a:prstGeom prst="rect">
            <a:avLst/>
          </a:prstGeom>
          <a:noFill/>
          <a:ln/>
        </p:spPr>
        <p:txBody>
          <a:bodyPr wrap="square" rtlCol="0" anchor="ctr"/>
          <a:lstStyle/>
          <a:p>
            <a:pPr indent="0" marL="0">
              <a:buNone/>
            </a:pPr>
            <a:r>
              <a:rPr lang="en-US" sz="1100" dirty="0">
                <a:solidFill>
                  <a:srgbClr val="AAAAAA"/>
                </a:solidFill>
                <a:latin typeface="Calibri" pitchFamily="34" charset="0"/>
                <a:ea typeface="Calibri" pitchFamily="34" charset="-122"/>
                <a:cs typeface="Calibri" pitchFamily="34" charset="-120"/>
              </a:rPr>
              <a:t>Text Enhancement — triggered by gaze hold</a:t>
            </a:r>
            <a:endParaRPr lang="en-US" sz="1100" dirty="0"/>
          </a:p>
        </p:txBody>
      </p:sp>
      <p:sp>
        <p:nvSpPr>
          <p:cNvPr id="6" name="Shape 4"/>
          <p:cNvSpPr/>
          <p:nvPr/>
        </p:nvSpPr>
        <p:spPr>
          <a:xfrm>
            <a:off x="182880" y="1499616"/>
            <a:ext cx="3429000" cy="566928"/>
          </a:xfrm>
          <a:prstGeom prst="roundRect">
            <a:avLst>
              <a:gd name="adj" fmla="val 16129"/>
            </a:avLst>
          </a:prstGeom>
          <a:solidFill>
            <a:srgbClr val="FFFFFF">
              <a:alpha val="6000"/>
            </a:srgbClr>
          </a:solidFill>
          <a:ln w="12700">
            <a:solidFill>
              <a:srgbClr val="00B4D8">
                <a:alpha val="50000"/>
              </a:srgbClr>
            </a:solidFill>
            <a:prstDash val="solid"/>
          </a:ln>
        </p:spPr>
      </p:sp>
      <p:sp>
        <p:nvSpPr>
          <p:cNvPr id="7" name="Shape 5"/>
          <p:cNvSpPr/>
          <p:nvPr/>
        </p:nvSpPr>
        <p:spPr>
          <a:xfrm>
            <a:off x="182880" y="1499616"/>
            <a:ext cx="36576" cy="566928"/>
          </a:xfrm>
          <a:prstGeom prst="rect">
            <a:avLst/>
          </a:prstGeom>
          <a:solidFill>
            <a:srgbClr val="00B4D8">
              <a:alpha val="50000"/>
            </a:srgbClr>
          </a:solidFill>
          <a:ln w="12700">
            <a:solidFill>
              <a:srgbClr val="00B4D8"/>
            </a:solidFill>
            <a:prstDash val="solid"/>
          </a:ln>
        </p:spPr>
      </p:sp>
      <p:sp>
        <p:nvSpPr>
          <p:cNvPr id="8" name="Text 6"/>
          <p:cNvSpPr/>
          <p:nvPr/>
        </p:nvSpPr>
        <p:spPr>
          <a:xfrm>
            <a:off x="347472" y="1655064"/>
            <a:ext cx="3191256" cy="256032"/>
          </a:xfrm>
          <a:prstGeom prst="rect">
            <a:avLst/>
          </a:prstGeom>
          <a:noFill/>
          <a:ln/>
        </p:spPr>
        <p:txBody>
          <a:bodyPr wrap="square"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Bold &amp; Darken</a:t>
            </a:r>
            <a:endParaRPr lang="en-US" sz="1300" dirty="0"/>
          </a:p>
        </p:txBody>
      </p:sp>
      <p:sp>
        <p:nvSpPr>
          <p:cNvPr id="9" name="Shape 7"/>
          <p:cNvSpPr/>
          <p:nvPr/>
        </p:nvSpPr>
        <p:spPr>
          <a:xfrm>
            <a:off x="182880" y="2157984"/>
            <a:ext cx="3429000" cy="566928"/>
          </a:xfrm>
          <a:prstGeom prst="roundRect">
            <a:avLst>
              <a:gd name="adj" fmla="val 16129"/>
            </a:avLst>
          </a:prstGeom>
          <a:solidFill>
            <a:srgbClr val="FFFFFF">
              <a:alpha val="6000"/>
            </a:srgbClr>
          </a:solidFill>
          <a:ln w="12700">
            <a:solidFill>
              <a:srgbClr val="00B4D8">
                <a:alpha val="50000"/>
              </a:srgbClr>
            </a:solidFill>
            <a:prstDash val="solid"/>
          </a:ln>
        </p:spPr>
      </p:sp>
      <p:sp>
        <p:nvSpPr>
          <p:cNvPr id="10" name="Shape 8"/>
          <p:cNvSpPr/>
          <p:nvPr/>
        </p:nvSpPr>
        <p:spPr>
          <a:xfrm>
            <a:off x="182880" y="2157984"/>
            <a:ext cx="36576" cy="566928"/>
          </a:xfrm>
          <a:prstGeom prst="rect">
            <a:avLst/>
          </a:prstGeom>
          <a:solidFill>
            <a:srgbClr val="00B4D8">
              <a:alpha val="50000"/>
            </a:srgbClr>
          </a:solidFill>
          <a:ln w="12700">
            <a:solidFill>
              <a:srgbClr val="00B4D8"/>
            </a:solidFill>
            <a:prstDash val="solid"/>
          </a:ln>
        </p:spPr>
      </p:sp>
      <p:sp>
        <p:nvSpPr>
          <p:cNvPr id="11" name="Text 9"/>
          <p:cNvSpPr/>
          <p:nvPr/>
        </p:nvSpPr>
        <p:spPr>
          <a:xfrm>
            <a:off x="347472" y="2313432"/>
            <a:ext cx="3191256" cy="256032"/>
          </a:xfrm>
          <a:prstGeom prst="rect">
            <a:avLst/>
          </a:prstGeom>
          <a:noFill/>
          <a:ln/>
        </p:spPr>
        <p:txBody>
          <a:bodyPr wrap="square"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Font Enlargement</a:t>
            </a:r>
            <a:endParaRPr lang="en-US" sz="1300" dirty="0"/>
          </a:p>
        </p:txBody>
      </p:sp>
      <p:sp>
        <p:nvSpPr>
          <p:cNvPr id="12" name="Shape 10"/>
          <p:cNvSpPr/>
          <p:nvPr/>
        </p:nvSpPr>
        <p:spPr>
          <a:xfrm>
            <a:off x="182880" y="2816352"/>
            <a:ext cx="3429000" cy="566928"/>
          </a:xfrm>
          <a:prstGeom prst="roundRect">
            <a:avLst>
              <a:gd name="adj" fmla="val 16129"/>
            </a:avLst>
          </a:prstGeom>
          <a:solidFill>
            <a:srgbClr val="FFFFFF">
              <a:alpha val="6000"/>
            </a:srgbClr>
          </a:solidFill>
          <a:ln w="12700">
            <a:solidFill>
              <a:srgbClr val="00B4D8">
                <a:alpha val="50000"/>
              </a:srgbClr>
            </a:solidFill>
            <a:prstDash val="solid"/>
          </a:ln>
        </p:spPr>
      </p:sp>
      <p:sp>
        <p:nvSpPr>
          <p:cNvPr id="13" name="Shape 11"/>
          <p:cNvSpPr/>
          <p:nvPr/>
        </p:nvSpPr>
        <p:spPr>
          <a:xfrm>
            <a:off x="182880" y="2816352"/>
            <a:ext cx="36576" cy="566928"/>
          </a:xfrm>
          <a:prstGeom prst="rect">
            <a:avLst/>
          </a:prstGeom>
          <a:solidFill>
            <a:srgbClr val="00B4D8">
              <a:alpha val="50000"/>
            </a:srgbClr>
          </a:solidFill>
          <a:ln w="12700">
            <a:solidFill>
              <a:srgbClr val="00B4D8"/>
            </a:solidFill>
            <a:prstDash val="solid"/>
          </a:ln>
        </p:spPr>
      </p:sp>
      <p:sp>
        <p:nvSpPr>
          <p:cNvPr id="14" name="Text 12"/>
          <p:cNvSpPr/>
          <p:nvPr/>
        </p:nvSpPr>
        <p:spPr>
          <a:xfrm>
            <a:off x="347472" y="2971800"/>
            <a:ext cx="3191256" cy="256032"/>
          </a:xfrm>
          <a:prstGeom prst="rect">
            <a:avLst/>
          </a:prstGeom>
          <a:noFill/>
          <a:ln/>
        </p:spPr>
        <p:txBody>
          <a:bodyPr wrap="square"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High Contrast Themes</a:t>
            </a:r>
            <a:pPr indent="0" marL="0">
              <a:buNone/>
            </a:pPr>
            <a:r>
              <a:rPr lang="en-US" sz="900" b="1" dirty="0">
                <a:solidFill>
                  <a:srgbClr val="06D6A0"/>
                </a:solidFill>
                <a:latin typeface="Calibri" pitchFamily="34" charset="0"/>
                <a:ea typeface="Calibri" pitchFamily="34" charset="-122"/>
                <a:cs typeface="Calibri" pitchFamily="34" charset="-120"/>
              </a:rPr>
              <a:t>  User Feedback</a:t>
            </a:r>
            <a:endParaRPr lang="en-US" sz="1300" dirty="0"/>
          </a:p>
        </p:txBody>
      </p:sp>
      <p:sp>
        <p:nvSpPr>
          <p:cNvPr id="15" name="Shape 13"/>
          <p:cNvSpPr/>
          <p:nvPr/>
        </p:nvSpPr>
        <p:spPr>
          <a:xfrm>
            <a:off x="4069080" y="475488"/>
            <a:ext cx="4846320" cy="4206240"/>
          </a:xfrm>
          <a:prstGeom prst="roundRect">
            <a:avLst>
              <a:gd name="adj" fmla="val 4348"/>
            </a:avLst>
          </a:prstGeom>
          <a:solidFill>
            <a:srgbClr val="00B4D8">
              <a:alpha val="4000"/>
            </a:srgbClr>
          </a:solidFill>
          <a:ln w="12700">
            <a:solidFill>
              <a:srgbClr val="00B4D8">
                <a:alpha val="45000"/>
              </a:srgbClr>
            </a:solidFill>
            <a:prstDash val="dash"/>
          </a:ln>
        </p:spPr>
      </p:sp>
      <p:sp>
        <p:nvSpPr>
          <p:cNvPr id="16" name="Text 14"/>
          <p:cNvSpPr/>
          <p:nvPr/>
        </p:nvSpPr>
        <p:spPr>
          <a:xfrm>
            <a:off x="4069080" y="2103120"/>
            <a:ext cx="4846320" cy="274320"/>
          </a:xfrm>
          <a:prstGeom prst="rect">
            <a:avLst/>
          </a:prstGeom>
          <a:noFill/>
          <a:ln/>
        </p:spPr>
        <p:txBody>
          <a:bodyPr wrap="square" rtlCol="0" anchor="ctr"/>
          <a:lstStyle/>
          <a:p>
            <a:pPr algn="ctr" indent="0" marL="0">
              <a:buNone/>
            </a:pPr>
            <a:r>
              <a:rPr lang="en-US" sz="1200" b="1" dirty="0">
                <a:solidFill>
                  <a:srgbClr val="00B4D8">
                    <a:alpha val="65000"/>
                  </a:srgbClr>
                </a:solidFill>
                <a:latin typeface="Calibri" pitchFamily="34" charset="0"/>
                <a:ea typeface="Calibri" pitchFamily="34" charset="-122"/>
                <a:cs typeface="Calibri" pitchFamily="34" charset="-120"/>
              </a:rPr>
              <a:t>Screenshot / GIF — Text Enhancement</a:t>
            </a:r>
            <a:endParaRPr lang="en-US" sz="1200" dirty="0"/>
          </a:p>
        </p:txBody>
      </p:sp>
      <p:sp>
        <p:nvSpPr>
          <p:cNvPr id="17" name="Text 15"/>
          <p:cNvSpPr/>
          <p:nvPr/>
        </p:nvSpPr>
        <p:spPr>
          <a:xfrm>
            <a:off x="4069080" y="2423160"/>
            <a:ext cx="4846320" cy="201168"/>
          </a:xfrm>
          <a:prstGeom prst="rect">
            <a:avLst/>
          </a:prstGeom>
          <a:noFill/>
          <a:ln/>
        </p:spPr>
        <p:txBody>
          <a:bodyPr wrap="square" rtlCol="0" anchor="ctr"/>
          <a:lstStyle/>
          <a:p>
            <a:pPr algn="ctr" indent="0" marL="0">
              <a:buNone/>
            </a:pPr>
            <a:r>
              <a:rPr lang="en-US" sz="900" dirty="0">
                <a:solidFill>
                  <a:srgbClr val="00B4D8">
                    <a:alpha val="40000"/>
                  </a:srgbClr>
                </a:solidFill>
                <a:latin typeface="Calibri" pitchFamily="34" charset="0"/>
                <a:ea typeface="Calibri" pitchFamily="34" charset="-122"/>
                <a:cs typeface="Calibri" pitchFamily="34" charset="-120"/>
              </a:rPr>
              <a:t>Replace with screenshot or animated GIF</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3840480" cy="5143500"/>
          </a:xfrm>
          <a:prstGeom prst="rect">
            <a:avLst/>
          </a:prstGeom>
          <a:solidFill>
            <a:srgbClr val="0D1F3C"/>
          </a:solidFill>
          <a:ln w="12700">
            <a:solidFill>
              <a:srgbClr val="0D1F3C"/>
            </a:solidFill>
            <a:prstDash val="solid"/>
          </a:ln>
        </p:spPr>
      </p:sp>
      <p:sp>
        <p:nvSpPr>
          <p:cNvPr id="3" name="Text 1"/>
          <p:cNvSpPr/>
          <p:nvPr/>
        </p:nvSpPr>
        <p:spPr>
          <a:xfrm>
            <a:off x="182880" y="329184"/>
            <a:ext cx="2286000" cy="256032"/>
          </a:xfrm>
          <a:prstGeom prst="roundRect">
            <a:avLst>
              <a:gd name="adj" fmla="val 178571"/>
            </a:avLst>
          </a:prstGeom>
          <a:solidFill>
            <a:srgbClr val="00B4D8"/>
          </a:solidFill>
          <a:ln/>
        </p:spPr>
        <p:txBody>
          <a:bodyPr wrap="square" rtlCol="0" anchor="ctr"/>
          <a:lstStyle/>
          <a:p>
            <a:pPr algn="ctr" indent="0" marL="0">
              <a:buNone/>
            </a:pPr>
            <a:r>
              <a:rPr lang="en-US" sz="900" b="1" dirty="0">
                <a:solidFill>
                  <a:srgbClr val="0D1F3C"/>
                </a:solidFill>
                <a:latin typeface="Calibri" pitchFamily="34" charset="0"/>
                <a:ea typeface="Calibri" pitchFamily="34" charset="-122"/>
                <a:cs typeface="Calibri" pitchFamily="34" charset="-120"/>
              </a:rPr>
              <a:t>2 · PROPOSED SOLUTION</a:t>
            </a:r>
            <a:endParaRPr lang="en-US" sz="900" dirty="0"/>
          </a:p>
        </p:txBody>
      </p:sp>
      <p:sp>
        <p:nvSpPr>
          <p:cNvPr id="4" name="Text 2"/>
          <p:cNvSpPr/>
          <p:nvPr/>
        </p:nvSpPr>
        <p:spPr>
          <a:xfrm>
            <a:off x="182880" y="676656"/>
            <a:ext cx="3429000" cy="475488"/>
          </a:xfrm>
          <a:prstGeom prst="rect">
            <a:avLst/>
          </a:prstGeom>
          <a:noFill/>
          <a:ln/>
        </p:spPr>
        <p:txBody>
          <a:bodyPr wrap="square"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Visible Area</a:t>
            </a:r>
            <a:endParaRPr lang="en-US" sz="2600" dirty="0"/>
          </a:p>
        </p:txBody>
      </p:sp>
      <p:sp>
        <p:nvSpPr>
          <p:cNvPr id="5" name="Text 3"/>
          <p:cNvSpPr/>
          <p:nvPr/>
        </p:nvSpPr>
        <p:spPr>
          <a:xfrm>
            <a:off x="182880" y="1133856"/>
            <a:ext cx="3429000" cy="256032"/>
          </a:xfrm>
          <a:prstGeom prst="rect">
            <a:avLst/>
          </a:prstGeom>
          <a:noFill/>
          <a:ln/>
        </p:spPr>
        <p:txBody>
          <a:bodyPr wrap="square" rtlCol="0" anchor="ctr"/>
          <a:lstStyle/>
          <a:p>
            <a:pPr indent="0" marL="0">
              <a:buNone/>
            </a:pPr>
            <a:r>
              <a:rPr lang="en-US" sz="1100" dirty="0">
                <a:solidFill>
                  <a:srgbClr val="AAAAAA"/>
                </a:solidFill>
                <a:latin typeface="Calibri" pitchFamily="34" charset="0"/>
                <a:ea typeface="Calibri" pitchFamily="34" charset="-122"/>
                <a:cs typeface="Calibri" pitchFamily="34" charset="-120"/>
              </a:rPr>
              <a:t>AI Paragraph Summary</a:t>
            </a:r>
            <a:endParaRPr lang="en-US" sz="1100" dirty="0"/>
          </a:p>
        </p:txBody>
      </p:sp>
      <p:sp>
        <p:nvSpPr>
          <p:cNvPr id="6" name="Shape 4"/>
          <p:cNvSpPr/>
          <p:nvPr/>
        </p:nvSpPr>
        <p:spPr>
          <a:xfrm>
            <a:off x="182880" y="1499616"/>
            <a:ext cx="3429000" cy="566928"/>
          </a:xfrm>
          <a:prstGeom prst="roundRect">
            <a:avLst>
              <a:gd name="adj" fmla="val 16129"/>
            </a:avLst>
          </a:prstGeom>
          <a:solidFill>
            <a:srgbClr val="00B4D8">
              <a:alpha val="12000"/>
            </a:srgbClr>
          </a:solidFill>
          <a:ln w="12700">
            <a:solidFill>
              <a:srgbClr val="00B4D8">
                <a:alpha val="90000"/>
              </a:srgbClr>
            </a:solidFill>
            <a:prstDash val="solid"/>
          </a:ln>
        </p:spPr>
      </p:sp>
      <p:sp>
        <p:nvSpPr>
          <p:cNvPr id="7" name="Shape 5"/>
          <p:cNvSpPr/>
          <p:nvPr/>
        </p:nvSpPr>
        <p:spPr>
          <a:xfrm>
            <a:off x="182880" y="1499616"/>
            <a:ext cx="36576" cy="566928"/>
          </a:xfrm>
          <a:prstGeom prst="rect">
            <a:avLst/>
          </a:prstGeom>
          <a:solidFill>
            <a:srgbClr val="00B4D8"/>
          </a:solidFill>
          <a:ln w="12700">
            <a:solidFill>
              <a:srgbClr val="00B4D8"/>
            </a:solidFill>
            <a:prstDash val="solid"/>
          </a:ln>
        </p:spPr>
      </p:sp>
      <p:sp>
        <p:nvSpPr>
          <p:cNvPr id="8" name="Text 6"/>
          <p:cNvSpPr/>
          <p:nvPr/>
        </p:nvSpPr>
        <p:spPr>
          <a:xfrm>
            <a:off x="347472" y="1655064"/>
            <a:ext cx="3191256" cy="256032"/>
          </a:xfrm>
          <a:prstGeom prst="rect">
            <a:avLst/>
          </a:prstGeom>
          <a:noFill/>
          <a:ln/>
        </p:spPr>
        <p:txBody>
          <a:bodyPr wrap="square" rtlCol="0" anchor="ctr"/>
          <a:lstStyle/>
          <a:p>
            <a:pPr indent="0" marL="0">
              <a:buNone/>
            </a:pPr>
            <a:r>
              <a:rPr lang="en-US" sz="1300" b="1" dirty="0">
                <a:solidFill>
                  <a:srgbClr val="90E0EF"/>
                </a:solidFill>
                <a:latin typeface="Calibri" pitchFamily="34" charset="0"/>
                <a:ea typeface="Calibri" pitchFamily="34" charset="-122"/>
                <a:cs typeface="Calibri" pitchFamily="34" charset="-120"/>
              </a:rPr>
              <a:t>Paragraph Summary</a:t>
            </a:r>
            <a:pPr indent="0" marL="0">
              <a:buNone/>
            </a:pPr>
            <a:r>
              <a:rPr lang="en-US" sz="900" b="1" dirty="0">
                <a:solidFill>
                  <a:srgbClr val="06D6A0"/>
                </a:solidFill>
                <a:latin typeface="Calibri" pitchFamily="34" charset="0"/>
                <a:ea typeface="Calibri" pitchFamily="34" charset="-122"/>
                <a:cs typeface="Calibri" pitchFamily="34" charset="-120"/>
              </a:rPr>
              <a:t>  User Feedback</a:t>
            </a:r>
            <a:endParaRPr lang="en-US" sz="1300" dirty="0"/>
          </a:p>
        </p:txBody>
      </p:sp>
      <p:sp>
        <p:nvSpPr>
          <p:cNvPr id="9" name="Shape 7"/>
          <p:cNvSpPr/>
          <p:nvPr/>
        </p:nvSpPr>
        <p:spPr>
          <a:xfrm>
            <a:off x="182880" y="2157984"/>
            <a:ext cx="3429000" cy="566928"/>
          </a:xfrm>
          <a:prstGeom prst="roundRect">
            <a:avLst>
              <a:gd name="adj" fmla="val 16129"/>
            </a:avLst>
          </a:prstGeom>
          <a:solidFill>
            <a:srgbClr val="FFFFFF">
              <a:alpha val="6000"/>
            </a:srgbClr>
          </a:solidFill>
          <a:ln w="12700">
            <a:solidFill>
              <a:srgbClr val="00B4D8">
                <a:alpha val="50000"/>
              </a:srgbClr>
            </a:solidFill>
            <a:prstDash val="solid"/>
          </a:ln>
        </p:spPr>
      </p:sp>
      <p:sp>
        <p:nvSpPr>
          <p:cNvPr id="10" name="Shape 8"/>
          <p:cNvSpPr/>
          <p:nvPr/>
        </p:nvSpPr>
        <p:spPr>
          <a:xfrm>
            <a:off x="182880" y="2157984"/>
            <a:ext cx="36576" cy="566928"/>
          </a:xfrm>
          <a:prstGeom prst="rect">
            <a:avLst/>
          </a:prstGeom>
          <a:solidFill>
            <a:srgbClr val="00B4D8">
              <a:alpha val="50000"/>
            </a:srgbClr>
          </a:solidFill>
          <a:ln w="12700">
            <a:solidFill>
              <a:srgbClr val="00B4D8"/>
            </a:solidFill>
            <a:prstDash val="solid"/>
          </a:ln>
        </p:spPr>
      </p:sp>
      <p:sp>
        <p:nvSpPr>
          <p:cNvPr id="11" name="Text 9"/>
          <p:cNvSpPr/>
          <p:nvPr/>
        </p:nvSpPr>
        <p:spPr>
          <a:xfrm>
            <a:off x="347472" y="2313432"/>
            <a:ext cx="3191256" cy="256032"/>
          </a:xfrm>
          <a:prstGeom prst="rect">
            <a:avLst/>
          </a:prstGeom>
          <a:noFill/>
          <a:ln/>
        </p:spPr>
        <p:txBody>
          <a:bodyPr wrap="square"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Click-to-Reveal</a:t>
            </a:r>
            <a:endParaRPr lang="en-US" sz="1300" dirty="0"/>
          </a:p>
        </p:txBody>
      </p:sp>
      <p:sp>
        <p:nvSpPr>
          <p:cNvPr id="12" name="Shape 10"/>
          <p:cNvSpPr/>
          <p:nvPr/>
        </p:nvSpPr>
        <p:spPr>
          <a:xfrm>
            <a:off x="4069080" y="475488"/>
            <a:ext cx="4846320" cy="4206240"/>
          </a:xfrm>
          <a:prstGeom prst="roundRect">
            <a:avLst>
              <a:gd name="adj" fmla="val 4348"/>
            </a:avLst>
          </a:prstGeom>
          <a:solidFill>
            <a:srgbClr val="00B4D8">
              <a:alpha val="4000"/>
            </a:srgbClr>
          </a:solidFill>
          <a:ln w="12700">
            <a:solidFill>
              <a:srgbClr val="00B4D8">
                <a:alpha val="45000"/>
              </a:srgbClr>
            </a:solidFill>
            <a:prstDash val="dash"/>
          </a:ln>
        </p:spPr>
      </p:sp>
      <p:sp>
        <p:nvSpPr>
          <p:cNvPr id="13" name="Text 11"/>
          <p:cNvSpPr/>
          <p:nvPr/>
        </p:nvSpPr>
        <p:spPr>
          <a:xfrm>
            <a:off x="4069080" y="2103120"/>
            <a:ext cx="4846320" cy="274320"/>
          </a:xfrm>
          <a:prstGeom prst="rect">
            <a:avLst/>
          </a:prstGeom>
          <a:noFill/>
          <a:ln/>
        </p:spPr>
        <p:txBody>
          <a:bodyPr wrap="square" rtlCol="0" anchor="ctr"/>
          <a:lstStyle/>
          <a:p>
            <a:pPr algn="ctr" indent="0" marL="0">
              <a:buNone/>
            </a:pPr>
            <a:r>
              <a:rPr lang="en-US" sz="1200" b="1" dirty="0">
                <a:solidFill>
                  <a:srgbClr val="00B4D8">
                    <a:alpha val="65000"/>
                  </a:srgbClr>
                </a:solidFill>
                <a:latin typeface="Calibri" pitchFamily="34" charset="0"/>
                <a:ea typeface="Calibri" pitchFamily="34" charset="-122"/>
                <a:cs typeface="Calibri" pitchFamily="34" charset="-120"/>
              </a:rPr>
              <a:t>Demo Video — AI Summary</a:t>
            </a:r>
            <a:endParaRPr lang="en-US" sz="1200" dirty="0"/>
          </a:p>
        </p:txBody>
      </p:sp>
      <p:sp>
        <p:nvSpPr>
          <p:cNvPr id="14" name="Text 12"/>
          <p:cNvSpPr/>
          <p:nvPr/>
        </p:nvSpPr>
        <p:spPr>
          <a:xfrm>
            <a:off x="4069080" y="2423160"/>
            <a:ext cx="4846320" cy="201168"/>
          </a:xfrm>
          <a:prstGeom prst="rect">
            <a:avLst/>
          </a:prstGeom>
          <a:noFill/>
          <a:ln/>
        </p:spPr>
        <p:txBody>
          <a:bodyPr wrap="square" rtlCol="0" anchor="ctr"/>
          <a:lstStyle/>
          <a:p>
            <a:pPr algn="ctr" indent="0" marL="0">
              <a:buNone/>
            </a:pPr>
            <a:r>
              <a:rPr lang="en-US" sz="900" dirty="0">
                <a:solidFill>
                  <a:srgbClr val="00B4D8">
                    <a:alpha val="40000"/>
                  </a:srgbClr>
                </a:solidFill>
                <a:latin typeface="Calibri" pitchFamily="34" charset="0"/>
                <a:ea typeface="Calibri" pitchFamily="34" charset="-122"/>
                <a:cs typeface="Calibri" pitchFamily="34" charset="-120"/>
              </a:rPr>
              <a:t>Replace with demo video file</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EF5FF"/>
        </a:solidFill>
      </p:bgPr>
    </p:bg>
    <p:spTree>
      <p:nvGrpSpPr>
        <p:cNvPr id="1" name=""/>
        <p:cNvGrpSpPr/>
        <p:nvPr/>
      </p:nvGrpSpPr>
      <p:grpSpPr>
        <a:xfrm>
          <a:off x="0" y="0"/>
          <a:ext cx="0" cy="0"/>
          <a:chOff x="0" y="0"/>
          <a:chExt cx="0" cy="0"/>
        </a:xfrm>
      </p:grpSpPr>
      <p:sp>
        <p:nvSpPr>
          <p:cNvPr id="2" name="Text 0"/>
          <p:cNvSpPr/>
          <p:nvPr/>
        </p:nvSpPr>
        <p:spPr>
          <a:xfrm>
            <a:off x="3429000" y="201168"/>
            <a:ext cx="2286000" cy="256032"/>
          </a:xfrm>
          <a:prstGeom prst="roundRect">
            <a:avLst>
              <a:gd name="adj" fmla="val 178571"/>
            </a:avLst>
          </a:prstGeom>
          <a:solidFill>
            <a:srgbClr val="00B4D8"/>
          </a:solidFill>
          <a:ln/>
        </p:spPr>
        <p:txBody>
          <a:bodyPr wrap="square" rtlCol="0" anchor="ctr"/>
          <a:lstStyle/>
          <a:p>
            <a:pPr algn="ctr" indent="0" marL="0">
              <a:buNone/>
            </a:pPr>
            <a:r>
              <a:rPr lang="en-US" sz="900" b="1" dirty="0">
                <a:solidFill>
                  <a:srgbClr val="0D1F3C"/>
                </a:solidFill>
                <a:latin typeface="Calibri" pitchFamily="34" charset="0"/>
                <a:ea typeface="Calibri" pitchFamily="34" charset="-122"/>
                <a:cs typeface="Calibri" pitchFamily="34" charset="-120"/>
              </a:rPr>
              <a:t>2 · PROPOSED SOLUTION</a:t>
            </a:r>
            <a:endParaRPr lang="en-US" sz="900" dirty="0"/>
          </a:p>
        </p:txBody>
      </p:sp>
      <p:sp>
        <p:nvSpPr>
          <p:cNvPr id="3" name="Text 1"/>
          <p:cNvSpPr/>
          <p:nvPr/>
        </p:nvSpPr>
        <p:spPr>
          <a:xfrm>
            <a:off x="457200" y="530352"/>
            <a:ext cx="8229600" cy="512064"/>
          </a:xfrm>
          <a:prstGeom prst="rect">
            <a:avLst/>
          </a:prstGeom>
          <a:noFill/>
          <a:ln/>
        </p:spPr>
        <p:txBody>
          <a:bodyPr wrap="square" rtlCol="0" anchor="ctr"/>
          <a:lstStyle/>
          <a:p>
            <a:pPr indent="0" marL="0">
              <a:buNone/>
            </a:pPr>
            <a:r>
              <a:rPr lang="en-US" sz="3000" b="1" dirty="0">
                <a:solidFill>
                  <a:srgbClr val="0D1F3C"/>
                </a:solidFill>
                <a:latin typeface="Cambria" pitchFamily="34" charset="0"/>
                <a:ea typeface="Cambria" pitchFamily="34" charset="-122"/>
                <a:cs typeface="Cambria" pitchFamily="34" charset="-120"/>
              </a:rPr>
              <a:t>On-Device AI Stack</a:t>
            </a:r>
            <a:endParaRPr lang="en-US" sz="3000" dirty="0"/>
          </a:p>
        </p:txBody>
      </p:sp>
      <p:sp>
        <p:nvSpPr>
          <p:cNvPr id="4" name="Text 2"/>
          <p:cNvSpPr/>
          <p:nvPr/>
        </p:nvSpPr>
        <p:spPr>
          <a:xfrm>
            <a:off x="457200" y="1024128"/>
            <a:ext cx="8229600" cy="219456"/>
          </a:xfrm>
          <a:prstGeom prst="rect">
            <a:avLst/>
          </a:prstGeom>
          <a:noFill/>
          <a:ln/>
        </p:spPr>
        <p:txBody>
          <a:bodyPr wrap="square" rtlCol="0" anchor="ctr"/>
          <a:lstStyle/>
          <a:p>
            <a:pPr indent="0" marL="0">
              <a:buNone/>
            </a:pPr>
            <a:r>
              <a:rPr lang="en-US" sz="1100" dirty="0">
                <a:solidFill>
                  <a:srgbClr val="4A5568"/>
                </a:solidFill>
                <a:latin typeface="Calibri" pitchFamily="34" charset="0"/>
                <a:ea typeface="Calibri" pitchFamily="34" charset="-122"/>
                <a:cs typeface="Calibri" pitchFamily="34" charset="-120"/>
              </a:rPr>
              <a:t>All inference runs locally — no API, no cloud, no data leaves the laptop</a:t>
            </a:r>
            <a:endParaRPr lang="en-US" sz="1100" dirty="0"/>
          </a:p>
        </p:txBody>
      </p:sp>
      <p:sp>
        <p:nvSpPr>
          <p:cNvPr id="5" name="Shape 3"/>
          <p:cNvSpPr/>
          <p:nvPr/>
        </p:nvSpPr>
        <p:spPr>
          <a:xfrm>
            <a:off x="365760" y="1371600"/>
            <a:ext cx="3566160" cy="2743200"/>
          </a:xfrm>
          <a:prstGeom prst="roundRect">
            <a:avLst>
              <a:gd name="adj" fmla="val 5000"/>
            </a:avLst>
          </a:prstGeom>
          <a:solidFill>
            <a:srgbClr val="0077B6">
              <a:alpha val="7000"/>
            </a:srgbClr>
          </a:solidFill>
          <a:ln w="25400">
            <a:solidFill>
              <a:srgbClr val="0077B6">
                <a:alpha val="40000"/>
              </a:srgbClr>
            </a:solidFill>
            <a:prstDash val="solid"/>
          </a:ln>
        </p:spPr>
      </p:sp>
      <p:sp>
        <p:nvSpPr>
          <p:cNvPr id="6" name="Text 4"/>
          <p:cNvSpPr/>
          <p:nvPr/>
        </p:nvSpPr>
        <p:spPr>
          <a:xfrm>
            <a:off x="548640" y="1463040"/>
            <a:ext cx="3200400" cy="274320"/>
          </a:xfrm>
          <a:prstGeom prst="rect">
            <a:avLst/>
          </a:prstGeom>
          <a:noFill/>
          <a:ln/>
        </p:spPr>
        <p:txBody>
          <a:bodyPr wrap="square" rtlCol="0" anchor="ctr"/>
          <a:lstStyle/>
          <a:p>
            <a:pPr indent="0" marL="0">
              <a:buNone/>
            </a:pPr>
            <a:r>
              <a:rPr lang="en-US" sz="1300" b="1" dirty="0">
                <a:solidFill>
                  <a:srgbClr val="0077B6"/>
                </a:solidFill>
                <a:latin typeface="Calibri" pitchFamily="34" charset="0"/>
                <a:ea typeface="Calibri" pitchFamily="34" charset="-122"/>
                <a:cs typeface="Calibri" pitchFamily="34" charset="-120"/>
              </a:rPr>
              <a:t>Browser World</a:t>
            </a:r>
            <a:endParaRPr lang="en-US" sz="1300" dirty="0"/>
          </a:p>
        </p:txBody>
      </p:sp>
      <p:sp>
        <p:nvSpPr>
          <p:cNvPr id="7" name="Shape 5"/>
          <p:cNvSpPr/>
          <p:nvPr/>
        </p:nvSpPr>
        <p:spPr>
          <a:xfrm>
            <a:off x="530352" y="1828800"/>
            <a:ext cx="3236976" cy="548640"/>
          </a:xfrm>
          <a:prstGeom prst="roundRect">
            <a:avLst>
              <a:gd name="adj" fmla="val 15000"/>
            </a:avLst>
          </a:prstGeom>
          <a:solidFill>
            <a:srgbClr val="0077B6">
              <a:alpha val="8000"/>
            </a:srgbClr>
          </a:solidFill>
          <a:ln w="12700">
            <a:solidFill>
              <a:srgbClr val="0077B6">
                <a:alpha val="30000"/>
              </a:srgbClr>
            </a:solidFill>
            <a:prstDash val="solid"/>
          </a:ln>
        </p:spPr>
      </p:sp>
      <p:sp>
        <p:nvSpPr>
          <p:cNvPr id="8" name="Text 6"/>
          <p:cNvSpPr/>
          <p:nvPr/>
        </p:nvSpPr>
        <p:spPr>
          <a:xfrm>
            <a:off x="658368" y="1874520"/>
            <a:ext cx="3017520" cy="237744"/>
          </a:xfrm>
          <a:prstGeom prst="rect">
            <a:avLst/>
          </a:prstGeom>
          <a:noFill/>
          <a:ln/>
        </p:spPr>
        <p:txBody>
          <a:bodyPr wrap="square" rtlCol="0" anchor="ctr"/>
          <a:lstStyle/>
          <a:p>
            <a:pPr indent="0" marL="0">
              <a:buNone/>
            </a:pPr>
            <a:r>
              <a:rPr lang="en-US" sz="1200" b="1" dirty="0">
                <a:solidFill>
                  <a:srgbClr val="0D1F3C"/>
                </a:solidFill>
                <a:latin typeface="Calibri" pitchFamily="34" charset="0"/>
                <a:ea typeface="Calibri" pitchFamily="34" charset="-122"/>
                <a:cs typeface="Calibri" pitchFamily="34" charset="-120"/>
              </a:rPr>
              <a:t>Gaze Tracking</a:t>
            </a:r>
            <a:endParaRPr lang="en-US" sz="1200" dirty="0"/>
          </a:p>
        </p:txBody>
      </p:sp>
      <p:sp>
        <p:nvSpPr>
          <p:cNvPr id="9" name="Text 7"/>
          <p:cNvSpPr/>
          <p:nvPr/>
        </p:nvSpPr>
        <p:spPr>
          <a:xfrm>
            <a:off x="658368" y="2103120"/>
            <a:ext cx="3017520" cy="201168"/>
          </a:xfrm>
          <a:prstGeom prst="rect">
            <a:avLst/>
          </a:prstGeom>
          <a:noFill/>
          <a:ln/>
        </p:spPr>
        <p:txBody>
          <a:bodyPr wrap="square" rtlCol="0" anchor="ctr"/>
          <a:lstStyle/>
          <a:p>
            <a:pPr indent="0" marL="0">
              <a:buNone/>
            </a:pPr>
            <a:r>
              <a:rPr lang="en-US" sz="900" dirty="0">
                <a:solidFill>
                  <a:srgbClr val="4A5568"/>
                </a:solidFill>
                <a:latin typeface="Calibri" pitchFamily="34" charset="0"/>
                <a:ea typeface="Calibri" pitchFamily="34" charset="-122"/>
                <a:cs typeface="Calibri" pitchFamily="34" charset="-120"/>
              </a:rPr>
              <a:t>Mouse hover · Webcam</a:t>
            </a:r>
            <a:endParaRPr lang="en-US" sz="900" dirty="0"/>
          </a:p>
        </p:txBody>
      </p:sp>
      <p:sp>
        <p:nvSpPr>
          <p:cNvPr id="10" name="Shape 8"/>
          <p:cNvSpPr/>
          <p:nvPr/>
        </p:nvSpPr>
        <p:spPr>
          <a:xfrm>
            <a:off x="530352" y="2487168"/>
            <a:ext cx="3236976" cy="548640"/>
          </a:xfrm>
          <a:prstGeom prst="roundRect">
            <a:avLst>
              <a:gd name="adj" fmla="val 15000"/>
            </a:avLst>
          </a:prstGeom>
          <a:solidFill>
            <a:srgbClr val="0077B6">
              <a:alpha val="8000"/>
            </a:srgbClr>
          </a:solidFill>
          <a:ln w="12700">
            <a:solidFill>
              <a:srgbClr val="0077B6">
                <a:alpha val="30000"/>
              </a:srgbClr>
            </a:solidFill>
            <a:prstDash val="solid"/>
          </a:ln>
        </p:spPr>
      </p:sp>
      <p:sp>
        <p:nvSpPr>
          <p:cNvPr id="11" name="Text 9"/>
          <p:cNvSpPr/>
          <p:nvPr/>
        </p:nvSpPr>
        <p:spPr>
          <a:xfrm>
            <a:off x="658368" y="2532888"/>
            <a:ext cx="3017520" cy="237744"/>
          </a:xfrm>
          <a:prstGeom prst="rect">
            <a:avLst/>
          </a:prstGeom>
          <a:noFill/>
          <a:ln/>
        </p:spPr>
        <p:txBody>
          <a:bodyPr wrap="square" rtlCol="0" anchor="ctr"/>
          <a:lstStyle/>
          <a:p>
            <a:pPr indent="0" marL="0">
              <a:buNone/>
            </a:pPr>
            <a:r>
              <a:rPr lang="en-US" sz="1200" b="1" dirty="0">
                <a:solidFill>
                  <a:srgbClr val="0D1F3C"/>
                </a:solidFill>
                <a:latin typeface="Calibri" pitchFamily="34" charset="0"/>
                <a:ea typeface="Calibri" pitchFamily="34" charset="-122"/>
                <a:cs typeface="Calibri" pitchFamily="34" charset="-120"/>
              </a:rPr>
              <a:t>Content Enhancement</a:t>
            </a:r>
            <a:endParaRPr lang="en-US" sz="1200" dirty="0"/>
          </a:p>
        </p:txBody>
      </p:sp>
      <p:sp>
        <p:nvSpPr>
          <p:cNvPr id="12" name="Text 10"/>
          <p:cNvSpPr/>
          <p:nvPr/>
        </p:nvSpPr>
        <p:spPr>
          <a:xfrm>
            <a:off x="658368" y="2761488"/>
            <a:ext cx="3017520" cy="201168"/>
          </a:xfrm>
          <a:prstGeom prst="rect">
            <a:avLst/>
          </a:prstGeom>
          <a:noFill/>
          <a:ln/>
        </p:spPr>
        <p:txBody>
          <a:bodyPr wrap="square" rtlCol="0" anchor="ctr"/>
          <a:lstStyle/>
          <a:p>
            <a:pPr indent="0" marL="0">
              <a:buNone/>
            </a:pPr>
            <a:r>
              <a:rPr lang="en-US" sz="900" dirty="0">
                <a:solidFill>
                  <a:srgbClr val="4A5568"/>
                </a:solidFill>
                <a:latin typeface="Calibri" pitchFamily="34" charset="0"/>
                <a:ea typeface="Calibri" pitchFamily="34" charset="-122"/>
                <a:cs typeface="Calibri" pitchFamily="34" charset="-120"/>
              </a:rPr>
              <a:t>Text enhancement · AI Summary</a:t>
            </a:r>
            <a:endParaRPr lang="en-US" sz="900" dirty="0"/>
          </a:p>
        </p:txBody>
      </p:sp>
      <p:sp>
        <p:nvSpPr>
          <p:cNvPr id="13" name="Shape 11"/>
          <p:cNvSpPr/>
          <p:nvPr/>
        </p:nvSpPr>
        <p:spPr>
          <a:xfrm>
            <a:off x="530352" y="3145536"/>
            <a:ext cx="3236976" cy="548640"/>
          </a:xfrm>
          <a:prstGeom prst="roundRect">
            <a:avLst>
              <a:gd name="adj" fmla="val 15000"/>
            </a:avLst>
          </a:prstGeom>
          <a:solidFill>
            <a:srgbClr val="0077B6">
              <a:alpha val="8000"/>
            </a:srgbClr>
          </a:solidFill>
          <a:ln w="12700">
            <a:solidFill>
              <a:srgbClr val="0077B6">
                <a:alpha val="30000"/>
              </a:srgbClr>
            </a:solidFill>
            <a:prstDash val="solid"/>
          </a:ln>
        </p:spPr>
      </p:sp>
      <p:sp>
        <p:nvSpPr>
          <p:cNvPr id="14" name="Text 12"/>
          <p:cNvSpPr/>
          <p:nvPr/>
        </p:nvSpPr>
        <p:spPr>
          <a:xfrm>
            <a:off x="658368" y="3191256"/>
            <a:ext cx="3017520" cy="237744"/>
          </a:xfrm>
          <a:prstGeom prst="rect">
            <a:avLst/>
          </a:prstGeom>
          <a:noFill/>
          <a:ln/>
        </p:spPr>
        <p:txBody>
          <a:bodyPr wrap="square" rtlCol="0" anchor="ctr"/>
          <a:lstStyle/>
          <a:p>
            <a:pPr indent="0" marL="0">
              <a:buNone/>
            </a:pPr>
            <a:r>
              <a:rPr lang="en-US" sz="1200" b="1" dirty="0">
                <a:solidFill>
                  <a:srgbClr val="0D1F3C"/>
                </a:solidFill>
                <a:latin typeface="Calibri" pitchFamily="34" charset="0"/>
                <a:ea typeface="Calibri" pitchFamily="34" charset="-122"/>
                <a:cs typeface="Calibri" pitchFamily="34" charset="-120"/>
              </a:rPr>
              <a:t>Service Worker</a:t>
            </a:r>
            <a:endParaRPr lang="en-US" sz="1200" dirty="0"/>
          </a:p>
        </p:txBody>
      </p:sp>
      <p:sp>
        <p:nvSpPr>
          <p:cNvPr id="15" name="Text 13"/>
          <p:cNvSpPr/>
          <p:nvPr/>
        </p:nvSpPr>
        <p:spPr>
          <a:xfrm>
            <a:off x="658368" y="3419856"/>
            <a:ext cx="3017520" cy="201168"/>
          </a:xfrm>
          <a:prstGeom prst="rect">
            <a:avLst/>
          </a:prstGeom>
          <a:noFill/>
          <a:ln/>
        </p:spPr>
        <p:txBody>
          <a:bodyPr wrap="square" rtlCol="0" anchor="ctr"/>
          <a:lstStyle/>
          <a:p>
            <a:pPr indent="0" marL="0">
              <a:buNone/>
            </a:pPr>
            <a:r>
              <a:rPr lang="en-US" sz="900" dirty="0">
                <a:solidFill>
                  <a:srgbClr val="4A5568"/>
                </a:solidFill>
                <a:latin typeface="Calibri" pitchFamily="34" charset="0"/>
                <a:ea typeface="Calibri" pitchFamily="34" charset="-122"/>
                <a:cs typeface="Calibri" pitchFamily="34" charset="-120"/>
              </a:rPr>
              <a:t>Native port routing</a:t>
            </a:r>
            <a:endParaRPr lang="en-US" sz="900" dirty="0"/>
          </a:p>
        </p:txBody>
      </p:sp>
      <p:sp>
        <p:nvSpPr>
          <p:cNvPr id="16" name="Text 14"/>
          <p:cNvSpPr/>
          <p:nvPr/>
        </p:nvSpPr>
        <p:spPr>
          <a:xfrm>
            <a:off x="4023360" y="2194560"/>
            <a:ext cx="1097280" cy="438912"/>
          </a:xfrm>
          <a:prstGeom prst="rect">
            <a:avLst/>
          </a:prstGeom>
          <a:noFill/>
          <a:ln/>
        </p:spPr>
        <p:txBody>
          <a:bodyPr wrap="square" rtlCol="0" anchor="ctr"/>
          <a:lstStyle/>
          <a:p>
            <a:pPr algn="ctr" indent="0" marL="0">
              <a:buNone/>
            </a:pPr>
            <a:r>
              <a:rPr lang="en-US" sz="1000" b="1" dirty="0">
                <a:solidFill>
                  <a:srgbClr val="0077B6"/>
                </a:solidFill>
                <a:latin typeface="Calibri" pitchFamily="34" charset="0"/>
                <a:ea typeface="Calibri" pitchFamily="34" charset="-122"/>
                <a:cs typeface="Calibri" pitchFamily="34" charset="-120"/>
              </a:rPr>
              <a:t>Native</a:t>
            </a:r>
            <a:endParaRPr lang="en-US" sz="1000" dirty="0"/>
          </a:p>
          <a:p>
            <a:pPr algn="ctr" indent="0" marL="0">
              <a:buNone/>
            </a:pPr>
            <a:r>
              <a:rPr lang="en-US" sz="1000" b="1" dirty="0">
                <a:solidFill>
                  <a:srgbClr val="0077B6"/>
                </a:solidFill>
                <a:latin typeface="Calibri" pitchFamily="34" charset="0"/>
                <a:ea typeface="Calibri" pitchFamily="34" charset="-122"/>
                <a:cs typeface="Calibri" pitchFamily="34" charset="-120"/>
              </a:rPr>
              <a:t>Messaging</a:t>
            </a:r>
            <a:endParaRPr lang="en-US" sz="1000" dirty="0"/>
          </a:p>
        </p:txBody>
      </p:sp>
      <p:sp>
        <p:nvSpPr>
          <p:cNvPr id="17" name="Text 15"/>
          <p:cNvSpPr/>
          <p:nvPr/>
        </p:nvSpPr>
        <p:spPr>
          <a:xfrm>
            <a:off x="4023360" y="2651760"/>
            <a:ext cx="1097280" cy="329184"/>
          </a:xfrm>
          <a:prstGeom prst="rect">
            <a:avLst/>
          </a:prstGeom>
          <a:noFill/>
          <a:ln/>
        </p:spPr>
        <p:txBody>
          <a:bodyPr wrap="square" rtlCol="0" anchor="ctr"/>
          <a:lstStyle/>
          <a:p>
            <a:pPr algn="ctr" indent="0" marL="0">
              <a:buNone/>
            </a:pPr>
            <a:r>
              <a:rPr lang="en-US" sz="2200" dirty="0">
                <a:solidFill>
                  <a:srgbClr val="0077B6">
                    <a:alpha val="60000"/>
                  </a:srgbClr>
                </a:solidFill>
                <a:latin typeface="Calibri" pitchFamily="34" charset="0"/>
                <a:ea typeface="Calibri" pitchFamily="34" charset="-122"/>
                <a:cs typeface="Calibri" pitchFamily="34" charset="-120"/>
              </a:rPr>
              <a:t>↔</a:t>
            </a:r>
            <a:endParaRPr lang="en-US" sz="2200" dirty="0"/>
          </a:p>
        </p:txBody>
      </p:sp>
      <p:sp>
        <p:nvSpPr>
          <p:cNvPr id="18" name="Text 16"/>
          <p:cNvSpPr/>
          <p:nvPr/>
        </p:nvSpPr>
        <p:spPr>
          <a:xfrm>
            <a:off x="4023360" y="2999232"/>
            <a:ext cx="1097280" cy="201168"/>
          </a:xfrm>
          <a:prstGeom prst="rect">
            <a:avLst/>
          </a:prstGeom>
          <a:noFill/>
          <a:ln/>
        </p:spPr>
        <p:txBody>
          <a:bodyPr wrap="square" rtlCol="0" anchor="ctr"/>
          <a:lstStyle/>
          <a:p>
            <a:pPr algn="ctr" indent="0" marL="0">
              <a:buNone/>
            </a:pPr>
            <a:r>
              <a:rPr lang="en-US" sz="800" dirty="0">
                <a:solidFill>
                  <a:srgbClr val="4A5568"/>
                </a:solidFill>
                <a:latin typeface="Calibri" pitchFamily="34" charset="0"/>
                <a:ea typeface="Calibri" pitchFamily="34" charset="-122"/>
                <a:cs typeface="Calibri" pitchFamily="34" charset="-120"/>
              </a:rPr>
              <a:t>stdin / stdout</a:t>
            </a:r>
            <a:endParaRPr lang="en-US" sz="800" dirty="0"/>
          </a:p>
        </p:txBody>
      </p:sp>
      <p:sp>
        <p:nvSpPr>
          <p:cNvPr id="19" name="Shape 17"/>
          <p:cNvSpPr/>
          <p:nvPr/>
        </p:nvSpPr>
        <p:spPr>
          <a:xfrm>
            <a:off x="5212080" y="1371600"/>
            <a:ext cx="3566160" cy="2743200"/>
          </a:xfrm>
          <a:prstGeom prst="roundRect">
            <a:avLst>
              <a:gd name="adj" fmla="val 5000"/>
            </a:avLst>
          </a:prstGeom>
          <a:solidFill>
            <a:srgbClr val="C9922A">
              <a:alpha val="8000"/>
            </a:srgbClr>
          </a:solidFill>
          <a:ln w="25400">
            <a:solidFill>
              <a:srgbClr val="C9922A">
                <a:alpha val="45000"/>
              </a:srgbClr>
            </a:solidFill>
            <a:prstDash val="solid"/>
          </a:ln>
        </p:spPr>
      </p:sp>
      <p:sp>
        <p:nvSpPr>
          <p:cNvPr id="20" name="Text 18"/>
          <p:cNvSpPr/>
          <p:nvPr/>
        </p:nvSpPr>
        <p:spPr>
          <a:xfrm>
            <a:off x="5394960" y="1463040"/>
            <a:ext cx="3200400" cy="274320"/>
          </a:xfrm>
          <a:prstGeom prst="rect">
            <a:avLst/>
          </a:prstGeom>
          <a:noFill/>
          <a:ln/>
        </p:spPr>
        <p:txBody>
          <a:bodyPr wrap="square" rtlCol="0" anchor="ctr"/>
          <a:lstStyle/>
          <a:p>
            <a:pPr indent="0" marL="0">
              <a:buNone/>
            </a:pPr>
            <a:r>
              <a:rPr lang="en-US" sz="1300" b="1" dirty="0">
                <a:solidFill>
                  <a:srgbClr val="C9922A"/>
                </a:solidFill>
                <a:latin typeface="Calibri" pitchFamily="34" charset="0"/>
                <a:ea typeface="Calibri" pitchFamily="34" charset="-122"/>
                <a:cs typeface="Calibri" pitchFamily="34" charset="-120"/>
              </a:rPr>
              <a:t>OS World</a:t>
            </a:r>
            <a:endParaRPr lang="en-US" sz="1300" dirty="0"/>
          </a:p>
        </p:txBody>
      </p:sp>
      <p:sp>
        <p:nvSpPr>
          <p:cNvPr id="21" name="Shape 19"/>
          <p:cNvSpPr/>
          <p:nvPr/>
        </p:nvSpPr>
        <p:spPr>
          <a:xfrm>
            <a:off x="5376672" y="1828800"/>
            <a:ext cx="3236976" cy="548640"/>
          </a:xfrm>
          <a:prstGeom prst="roundRect">
            <a:avLst>
              <a:gd name="adj" fmla="val 15000"/>
            </a:avLst>
          </a:prstGeom>
          <a:solidFill>
            <a:srgbClr val="C9922A">
              <a:alpha val="10000"/>
            </a:srgbClr>
          </a:solidFill>
          <a:ln w="12700">
            <a:solidFill>
              <a:srgbClr val="C9922A">
                <a:alpha val="35000"/>
              </a:srgbClr>
            </a:solidFill>
            <a:prstDash val="solid"/>
          </a:ln>
        </p:spPr>
      </p:sp>
      <p:sp>
        <p:nvSpPr>
          <p:cNvPr id="22" name="Text 20"/>
          <p:cNvSpPr/>
          <p:nvPr/>
        </p:nvSpPr>
        <p:spPr>
          <a:xfrm>
            <a:off x="5504688" y="1874520"/>
            <a:ext cx="3017520" cy="237744"/>
          </a:xfrm>
          <a:prstGeom prst="rect">
            <a:avLst/>
          </a:prstGeom>
          <a:noFill/>
          <a:ln/>
        </p:spPr>
        <p:txBody>
          <a:bodyPr wrap="square" rtlCol="0" anchor="ctr"/>
          <a:lstStyle/>
          <a:p>
            <a:pPr indent="0" marL="0">
              <a:buNone/>
            </a:pPr>
            <a:r>
              <a:rPr lang="en-US" sz="1200" b="1" dirty="0">
                <a:solidFill>
                  <a:srgbClr val="0D1F3C"/>
                </a:solidFill>
                <a:latin typeface="Calibri" pitchFamily="34" charset="0"/>
                <a:ea typeface="Calibri" pitchFamily="34" charset="-122"/>
                <a:cs typeface="Calibri" pitchFamily="34" charset="-120"/>
              </a:rPr>
              <a:t>Native Host</a:t>
            </a:r>
            <a:endParaRPr lang="en-US" sz="1200" dirty="0"/>
          </a:p>
        </p:txBody>
      </p:sp>
      <p:sp>
        <p:nvSpPr>
          <p:cNvPr id="23" name="Text 21"/>
          <p:cNvSpPr/>
          <p:nvPr/>
        </p:nvSpPr>
        <p:spPr>
          <a:xfrm>
            <a:off x="5504688" y="2103120"/>
            <a:ext cx="3017520" cy="201168"/>
          </a:xfrm>
          <a:prstGeom prst="rect">
            <a:avLst/>
          </a:prstGeom>
          <a:noFill/>
          <a:ln/>
        </p:spPr>
        <p:txBody>
          <a:bodyPr wrap="square" rtlCol="0" anchor="ctr"/>
          <a:lstStyle/>
          <a:p>
            <a:pPr indent="0" marL="0">
              <a:buNone/>
            </a:pPr>
            <a:r>
              <a:rPr lang="en-US" sz="900" dirty="0">
                <a:solidFill>
                  <a:srgbClr val="4A5568"/>
                </a:solidFill>
                <a:latin typeface="Calibri" pitchFamily="34" charset="0"/>
                <a:ea typeface="Calibri" pitchFamily="34" charset="-122"/>
                <a:cs typeface="Calibri" pitchFamily="34" charset="-120"/>
              </a:rPr>
              <a:t>PyInstaller · Windows</a:t>
            </a:r>
            <a:endParaRPr lang="en-US" sz="900" dirty="0"/>
          </a:p>
        </p:txBody>
      </p:sp>
      <p:sp>
        <p:nvSpPr>
          <p:cNvPr id="24" name="Shape 22"/>
          <p:cNvSpPr/>
          <p:nvPr/>
        </p:nvSpPr>
        <p:spPr>
          <a:xfrm>
            <a:off x="5376672" y="2487168"/>
            <a:ext cx="3236976" cy="548640"/>
          </a:xfrm>
          <a:prstGeom prst="roundRect">
            <a:avLst>
              <a:gd name="adj" fmla="val 15000"/>
            </a:avLst>
          </a:prstGeom>
          <a:solidFill>
            <a:srgbClr val="C9922A">
              <a:alpha val="10000"/>
            </a:srgbClr>
          </a:solidFill>
          <a:ln w="12700">
            <a:solidFill>
              <a:srgbClr val="C9922A">
                <a:alpha val="35000"/>
              </a:srgbClr>
            </a:solidFill>
            <a:prstDash val="solid"/>
          </a:ln>
        </p:spPr>
      </p:sp>
      <p:sp>
        <p:nvSpPr>
          <p:cNvPr id="25" name="Text 23"/>
          <p:cNvSpPr/>
          <p:nvPr/>
        </p:nvSpPr>
        <p:spPr>
          <a:xfrm>
            <a:off x="5504688" y="2532888"/>
            <a:ext cx="3017520" cy="237744"/>
          </a:xfrm>
          <a:prstGeom prst="rect">
            <a:avLst/>
          </a:prstGeom>
          <a:noFill/>
          <a:ln/>
        </p:spPr>
        <p:txBody>
          <a:bodyPr wrap="square" rtlCol="0" anchor="ctr"/>
          <a:lstStyle/>
          <a:p>
            <a:pPr indent="0" marL="0">
              <a:buNone/>
            </a:pPr>
            <a:r>
              <a:rPr lang="en-US" sz="1200" b="1" dirty="0">
                <a:solidFill>
                  <a:srgbClr val="0D1F3C"/>
                </a:solidFill>
                <a:latin typeface="Calibri" pitchFamily="34" charset="0"/>
                <a:ea typeface="Calibri" pitchFamily="34" charset="-122"/>
                <a:cs typeface="Calibri" pitchFamily="34" charset="-120"/>
              </a:rPr>
              <a:t>OpenVINO GenAI</a:t>
            </a:r>
            <a:endParaRPr lang="en-US" sz="1200" dirty="0"/>
          </a:p>
        </p:txBody>
      </p:sp>
      <p:sp>
        <p:nvSpPr>
          <p:cNvPr id="26" name="Text 24"/>
          <p:cNvSpPr/>
          <p:nvPr/>
        </p:nvSpPr>
        <p:spPr>
          <a:xfrm>
            <a:off x="5504688" y="2761488"/>
            <a:ext cx="3017520" cy="201168"/>
          </a:xfrm>
          <a:prstGeom prst="rect">
            <a:avLst/>
          </a:prstGeom>
          <a:noFill/>
          <a:ln/>
        </p:spPr>
        <p:txBody>
          <a:bodyPr wrap="square" rtlCol="0" anchor="ctr"/>
          <a:lstStyle/>
          <a:p>
            <a:pPr indent="0" marL="0">
              <a:buNone/>
            </a:pPr>
            <a:r>
              <a:rPr lang="en-US" sz="900" dirty="0">
                <a:solidFill>
                  <a:srgbClr val="4A5568"/>
                </a:solidFill>
                <a:latin typeface="Calibri" pitchFamily="34" charset="0"/>
                <a:ea typeface="Calibri" pitchFamily="34" charset="-122"/>
                <a:cs typeface="Calibri" pitchFamily="34" charset="-120"/>
              </a:rPr>
              <a:t>Inference Runtime</a:t>
            </a:r>
            <a:endParaRPr lang="en-US" sz="900" dirty="0"/>
          </a:p>
        </p:txBody>
      </p:sp>
      <p:sp>
        <p:nvSpPr>
          <p:cNvPr id="27" name="Shape 25"/>
          <p:cNvSpPr/>
          <p:nvPr/>
        </p:nvSpPr>
        <p:spPr>
          <a:xfrm>
            <a:off x="5376672" y="3145536"/>
            <a:ext cx="3236976" cy="548640"/>
          </a:xfrm>
          <a:prstGeom prst="roundRect">
            <a:avLst>
              <a:gd name="adj" fmla="val 15000"/>
            </a:avLst>
          </a:prstGeom>
          <a:solidFill>
            <a:srgbClr val="C9922A">
              <a:alpha val="10000"/>
            </a:srgbClr>
          </a:solidFill>
          <a:ln w="12700">
            <a:solidFill>
              <a:srgbClr val="C9922A">
                <a:alpha val="35000"/>
              </a:srgbClr>
            </a:solidFill>
            <a:prstDash val="solid"/>
          </a:ln>
        </p:spPr>
      </p:sp>
      <p:sp>
        <p:nvSpPr>
          <p:cNvPr id="28" name="Text 26"/>
          <p:cNvSpPr/>
          <p:nvPr/>
        </p:nvSpPr>
        <p:spPr>
          <a:xfrm>
            <a:off x="5504688" y="3191256"/>
            <a:ext cx="3017520" cy="237744"/>
          </a:xfrm>
          <a:prstGeom prst="rect">
            <a:avLst/>
          </a:prstGeom>
          <a:noFill/>
          <a:ln/>
        </p:spPr>
        <p:txBody>
          <a:bodyPr wrap="square" rtlCol="0" anchor="ctr"/>
          <a:lstStyle/>
          <a:p>
            <a:pPr indent="0" marL="0">
              <a:buNone/>
            </a:pPr>
            <a:r>
              <a:rPr lang="en-US" sz="1200" b="1" dirty="0">
                <a:solidFill>
                  <a:srgbClr val="0D1F3C"/>
                </a:solidFill>
                <a:latin typeface="Calibri" pitchFamily="34" charset="0"/>
                <a:ea typeface="Calibri" pitchFamily="34" charset="-122"/>
                <a:cs typeface="Calibri" pitchFamily="34" charset="-120"/>
              </a:rPr>
              <a:t>Qwen2.5-1.5B INT4</a:t>
            </a:r>
            <a:endParaRPr lang="en-US" sz="1200" dirty="0"/>
          </a:p>
        </p:txBody>
      </p:sp>
      <p:sp>
        <p:nvSpPr>
          <p:cNvPr id="29" name="Text 27"/>
          <p:cNvSpPr/>
          <p:nvPr/>
        </p:nvSpPr>
        <p:spPr>
          <a:xfrm>
            <a:off x="5504688" y="3419856"/>
            <a:ext cx="3017520" cy="201168"/>
          </a:xfrm>
          <a:prstGeom prst="rect">
            <a:avLst/>
          </a:prstGeom>
          <a:noFill/>
          <a:ln/>
        </p:spPr>
        <p:txBody>
          <a:bodyPr wrap="square" rtlCol="0" anchor="ctr"/>
          <a:lstStyle/>
          <a:p>
            <a:pPr indent="0" marL="0">
              <a:buNone/>
            </a:pPr>
            <a:r>
              <a:rPr lang="en-US" sz="900" dirty="0">
                <a:solidFill>
                  <a:srgbClr val="4A5568"/>
                </a:solidFill>
                <a:latin typeface="Calibri" pitchFamily="34" charset="0"/>
                <a:ea typeface="Calibri" pitchFamily="34" charset="-122"/>
                <a:cs typeface="Calibri" pitchFamily="34" charset="-120"/>
              </a:rPr>
              <a:t>On-device AI Model</a:t>
            </a:r>
            <a:endParaRPr lang="en-US" sz="900" dirty="0"/>
          </a:p>
        </p:txBody>
      </p:sp>
      <p:sp>
        <p:nvSpPr>
          <p:cNvPr id="30" name="Shape 28"/>
          <p:cNvSpPr/>
          <p:nvPr/>
        </p:nvSpPr>
        <p:spPr>
          <a:xfrm>
            <a:off x="2286000" y="4251960"/>
            <a:ext cx="1371600" cy="658368"/>
          </a:xfrm>
          <a:prstGeom prst="roundRect">
            <a:avLst>
              <a:gd name="adj" fmla="val 13889"/>
            </a:avLst>
          </a:prstGeom>
          <a:solidFill>
            <a:srgbClr val="00B4D8">
              <a:alpha val="12000"/>
            </a:srgbClr>
          </a:solidFill>
          <a:ln w="12700">
            <a:solidFill>
              <a:srgbClr val="00B4D8">
                <a:alpha val="10000"/>
              </a:srgbClr>
            </a:solidFill>
            <a:prstDash val="solid"/>
          </a:ln>
        </p:spPr>
      </p:sp>
      <p:sp>
        <p:nvSpPr>
          <p:cNvPr id="31" name="Text 29"/>
          <p:cNvSpPr/>
          <p:nvPr/>
        </p:nvSpPr>
        <p:spPr>
          <a:xfrm>
            <a:off x="2286000" y="4279392"/>
            <a:ext cx="1371600" cy="292608"/>
          </a:xfrm>
          <a:prstGeom prst="rect">
            <a:avLst/>
          </a:prstGeom>
          <a:noFill/>
          <a:ln/>
        </p:spPr>
        <p:txBody>
          <a:bodyPr wrap="square" rtlCol="0" anchor="ctr"/>
          <a:lstStyle/>
          <a:p>
            <a:pPr algn="ctr" indent="0" marL="0">
              <a:buNone/>
            </a:pPr>
            <a:r>
              <a:rPr lang="en-US" sz="1800" b="1" dirty="0">
                <a:solidFill>
                  <a:srgbClr val="00B4D8"/>
                </a:solidFill>
                <a:latin typeface="Cambria" pitchFamily="34" charset="0"/>
                <a:ea typeface="Cambria" pitchFamily="34" charset="-122"/>
                <a:cs typeface="Cambria" pitchFamily="34" charset="-120"/>
              </a:rPr>
              <a:t>0.85s</a:t>
            </a:r>
            <a:endParaRPr lang="en-US" sz="1800" dirty="0"/>
          </a:p>
        </p:txBody>
      </p:sp>
      <p:sp>
        <p:nvSpPr>
          <p:cNvPr id="32" name="Text 30"/>
          <p:cNvSpPr/>
          <p:nvPr/>
        </p:nvSpPr>
        <p:spPr>
          <a:xfrm>
            <a:off x="2286000" y="4562856"/>
            <a:ext cx="1371600" cy="201168"/>
          </a:xfrm>
          <a:prstGeom prst="rect">
            <a:avLst/>
          </a:prstGeom>
          <a:noFill/>
          <a:ln/>
        </p:spPr>
        <p:txBody>
          <a:bodyPr wrap="square" rtlCol="0" anchor="ctr"/>
          <a:lstStyle/>
          <a:p>
            <a:pPr algn="ctr" indent="0" marL="0">
              <a:buNone/>
            </a:pPr>
            <a:r>
              <a:rPr lang="en-US" sz="850" dirty="0">
                <a:solidFill>
                  <a:srgbClr val="4A5568"/>
                </a:solidFill>
                <a:latin typeface="Calibri" pitchFamily="34" charset="0"/>
                <a:ea typeface="Calibri" pitchFamily="34" charset="-122"/>
                <a:cs typeface="Calibri" pitchFamily="34" charset="-120"/>
              </a:rPr>
              <a:t>GPU · 71 tok/s</a:t>
            </a:r>
            <a:endParaRPr lang="en-US" sz="850" dirty="0"/>
          </a:p>
        </p:txBody>
      </p:sp>
      <p:sp>
        <p:nvSpPr>
          <p:cNvPr id="33" name="Shape 31"/>
          <p:cNvSpPr/>
          <p:nvPr/>
        </p:nvSpPr>
        <p:spPr>
          <a:xfrm>
            <a:off x="3858768" y="4251960"/>
            <a:ext cx="1371600" cy="658368"/>
          </a:xfrm>
          <a:prstGeom prst="roundRect">
            <a:avLst>
              <a:gd name="adj" fmla="val 13889"/>
            </a:avLst>
          </a:prstGeom>
          <a:solidFill>
            <a:srgbClr val="000000">
              <a:alpha val="5000"/>
            </a:srgbClr>
          </a:solidFill>
          <a:ln w="12700">
            <a:solidFill>
              <a:srgbClr val="000000">
                <a:alpha val="10000"/>
              </a:srgbClr>
            </a:solidFill>
            <a:prstDash val="solid"/>
          </a:ln>
        </p:spPr>
      </p:sp>
      <p:sp>
        <p:nvSpPr>
          <p:cNvPr id="34" name="Text 32"/>
          <p:cNvSpPr/>
          <p:nvPr/>
        </p:nvSpPr>
        <p:spPr>
          <a:xfrm>
            <a:off x="3858768" y="4279392"/>
            <a:ext cx="1371600" cy="292608"/>
          </a:xfrm>
          <a:prstGeom prst="rect">
            <a:avLst/>
          </a:prstGeom>
          <a:noFill/>
          <a:ln/>
        </p:spPr>
        <p:txBody>
          <a:bodyPr wrap="square" rtlCol="0" anchor="ctr"/>
          <a:lstStyle/>
          <a:p>
            <a:pPr algn="ctr" indent="0" marL="0">
              <a:buNone/>
            </a:pPr>
            <a:r>
              <a:rPr lang="en-US" sz="1800" b="1" dirty="0">
                <a:solidFill>
                  <a:srgbClr val="0D1F3C"/>
                </a:solidFill>
                <a:latin typeface="Cambria" pitchFamily="34" charset="0"/>
                <a:ea typeface="Cambria" pitchFamily="34" charset="-122"/>
                <a:cs typeface="Cambria" pitchFamily="34" charset="-120"/>
              </a:rPr>
              <a:t>1.32s</a:t>
            </a:r>
            <a:endParaRPr lang="en-US" sz="1800" dirty="0"/>
          </a:p>
        </p:txBody>
      </p:sp>
      <p:sp>
        <p:nvSpPr>
          <p:cNvPr id="35" name="Text 33"/>
          <p:cNvSpPr/>
          <p:nvPr/>
        </p:nvSpPr>
        <p:spPr>
          <a:xfrm>
            <a:off x="3858768" y="4562856"/>
            <a:ext cx="1371600" cy="201168"/>
          </a:xfrm>
          <a:prstGeom prst="rect">
            <a:avLst/>
          </a:prstGeom>
          <a:noFill/>
          <a:ln/>
        </p:spPr>
        <p:txBody>
          <a:bodyPr wrap="square" rtlCol="0" anchor="ctr"/>
          <a:lstStyle/>
          <a:p>
            <a:pPr algn="ctr" indent="0" marL="0">
              <a:buNone/>
            </a:pPr>
            <a:r>
              <a:rPr lang="en-US" sz="850" dirty="0">
                <a:solidFill>
                  <a:srgbClr val="4A5568"/>
                </a:solidFill>
                <a:latin typeface="Calibri" pitchFamily="34" charset="0"/>
                <a:ea typeface="Calibri" pitchFamily="34" charset="-122"/>
                <a:cs typeface="Calibri" pitchFamily="34" charset="-120"/>
              </a:rPr>
              <a:t>CPU · 45 tok/s</a:t>
            </a:r>
            <a:endParaRPr lang="en-US" sz="850" dirty="0"/>
          </a:p>
        </p:txBody>
      </p:sp>
      <p:sp>
        <p:nvSpPr>
          <p:cNvPr id="36" name="Shape 34"/>
          <p:cNvSpPr/>
          <p:nvPr/>
        </p:nvSpPr>
        <p:spPr>
          <a:xfrm>
            <a:off x="5431536" y="4251960"/>
            <a:ext cx="1371600" cy="658368"/>
          </a:xfrm>
          <a:prstGeom prst="roundRect">
            <a:avLst>
              <a:gd name="adj" fmla="val 13889"/>
            </a:avLst>
          </a:prstGeom>
          <a:solidFill>
            <a:srgbClr val="000000">
              <a:alpha val="5000"/>
            </a:srgbClr>
          </a:solidFill>
          <a:ln w="12700">
            <a:solidFill>
              <a:srgbClr val="000000">
                <a:alpha val="10000"/>
              </a:srgbClr>
            </a:solidFill>
            <a:prstDash val="solid"/>
          </a:ln>
        </p:spPr>
      </p:sp>
      <p:sp>
        <p:nvSpPr>
          <p:cNvPr id="37" name="Text 35"/>
          <p:cNvSpPr/>
          <p:nvPr/>
        </p:nvSpPr>
        <p:spPr>
          <a:xfrm>
            <a:off x="5431536" y="4279392"/>
            <a:ext cx="1371600" cy="292608"/>
          </a:xfrm>
          <a:prstGeom prst="rect">
            <a:avLst/>
          </a:prstGeom>
          <a:noFill/>
          <a:ln/>
        </p:spPr>
        <p:txBody>
          <a:bodyPr wrap="square" rtlCol="0" anchor="ctr"/>
          <a:lstStyle/>
          <a:p>
            <a:pPr algn="ctr" indent="0" marL="0">
              <a:buNone/>
            </a:pPr>
            <a:r>
              <a:rPr lang="en-US" sz="1800" b="1" dirty="0">
                <a:solidFill>
                  <a:srgbClr val="0D1F3C"/>
                </a:solidFill>
                <a:latin typeface="Cambria" pitchFamily="34" charset="0"/>
                <a:ea typeface="Cambria" pitchFamily="34" charset="-122"/>
                <a:cs typeface="Cambria" pitchFamily="34" charset="-120"/>
              </a:rPr>
              <a:t>1.62s</a:t>
            </a:r>
            <a:endParaRPr lang="en-US" sz="1800" dirty="0"/>
          </a:p>
        </p:txBody>
      </p:sp>
      <p:sp>
        <p:nvSpPr>
          <p:cNvPr id="38" name="Text 36"/>
          <p:cNvSpPr/>
          <p:nvPr/>
        </p:nvSpPr>
        <p:spPr>
          <a:xfrm>
            <a:off x="5431536" y="4562856"/>
            <a:ext cx="1371600" cy="201168"/>
          </a:xfrm>
          <a:prstGeom prst="rect">
            <a:avLst/>
          </a:prstGeom>
          <a:noFill/>
          <a:ln/>
        </p:spPr>
        <p:txBody>
          <a:bodyPr wrap="square" rtlCol="0" anchor="ctr"/>
          <a:lstStyle/>
          <a:p>
            <a:pPr algn="ctr" indent="0" marL="0">
              <a:buNone/>
            </a:pPr>
            <a:r>
              <a:rPr lang="en-US" sz="850" dirty="0">
                <a:solidFill>
                  <a:srgbClr val="4A5568"/>
                </a:solidFill>
                <a:latin typeface="Calibri" pitchFamily="34" charset="0"/>
                <a:ea typeface="Calibri" pitchFamily="34" charset="-122"/>
                <a:cs typeface="Calibri" pitchFamily="34" charset="-120"/>
              </a:rPr>
              <a:t>NPU · 37 tok/s</a:t>
            </a:r>
            <a:endParaRPr lang="en-US" sz="850" dirty="0"/>
          </a:p>
        </p:txBody>
      </p:sp>
      <p:sp>
        <p:nvSpPr>
          <p:cNvPr id="39" name="Text 37"/>
          <p:cNvSpPr/>
          <p:nvPr/>
        </p:nvSpPr>
        <p:spPr>
          <a:xfrm>
            <a:off x="457200" y="4919472"/>
            <a:ext cx="8229600" cy="164592"/>
          </a:xfrm>
          <a:prstGeom prst="rect">
            <a:avLst/>
          </a:prstGeom>
          <a:noFill/>
          <a:ln/>
        </p:spPr>
        <p:txBody>
          <a:bodyPr wrap="square" rtlCol="0" anchor="ctr"/>
          <a:lstStyle/>
          <a:p>
            <a:pPr algn="ctr" indent="0" marL="0">
              <a:buNone/>
            </a:pPr>
            <a:r>
              <a:rPr lang="en-US" sz="900" dirty="0">
                <a:solidFill>
                  <a:srgbClr val="4A5568">
                    <a:alpha val="80000"/>
                  </a:srgbClr>
                </a:solidFill>
                <a:latin typeface="Calibri" pitchFamily="34" charset="0"/>
                <a:ea typeface="Calibri" pitchFamily="34" charset="-122"/>
                <a:cs typeface="Calibri" pitchFamily="34" charset="-120"/>
              </a:rPr>
              <a:t>Test Environment · KentoI (Intel Panther Lake)</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EF5FF"/>
        </a:solidFill>
      </p:bgPr>
    </p:bg>
    <p:spTree>
      <p:nvGrpSpPr>
        <p:cNvPr id="1" name=""/>
        <p:cNvGrpSpPr/>
        <p:nvPr/>
      </p:nvGrpSpPr>
      <p:grpSpPr>
        <a:xfrm>
          <a:off x="0" y="0"/>
          <a:ext cx="0" cy="0"/>
          <a:chOff x="0" y="0"/>
          <a:chExt cx="0" cy="0"/>
        </a:xfrm>
      </p:grpSpPr>
      <p:sp>
        <p:nvSpPr>
          <p:cNvPr id="2" name="Text 0"/>
          <p:cNvSpPr/>
          <p:nvPr/>
        </p:nvSpPr>
        <p:spPr>
          <a:xfrm>
            <a:off x="3383280" y="237744"/>
            <a:ext cx="2377440" cy="256032"/>
          </a:xfrm>
          <a:prstGeom prst="roundRect">
            <a:avLst>
              <a:gd name="adj" fmla="val 178571"/>
            </a:avLst>
          </a:prstGeom>
          <a:solidFill>
            <a:srgbClr val="00B4D8"/>
          </a:solidFill>
          <a:ln/>
        </p:spPr>
        <p:txBody>
          <a:bodyPr wrap="square" rtlCol="0" anchor="ctr"/>
          <a:lstStyle/>
          <a:p>
            <a:pPr algn="ctr" indent="0" marL="0">
              <a:buNone/>
            </a:pPr>
            <a:r>
              <a:rPr lang="en-US" sz="900" b="1" dirty="0">
                <a:solidFill>
                  <a:srgbClr val="0D1F3C"/>
                </a:solidFill>
                <a:latin typeface="Calibri" pitchFamily="34" charset="0"/>
                <a:ea typeface="Calibri" pitchFamily="34" charset="-122"/>
                <a:cs typeface="Calibri" pitchFamily="34" charset="-120"/>
              </a:rPr>
              <a:t>3 · USER EXPERIENCE FLOW</a:t>
            </a:r>
            <a:endParaRPr lang="en-US" sz="900" dirty="0"/>
          </a:p>
        </p:txBody>
      </p:sp>
      <p:sp>
        <p:nvSpPr>
          <p:cNvPr id="3" name="Text 1"/>
          <p:cNvSpPr/>
          <p:nvPr/>
        </p:nvSpPr>
        <p:spPr>
          <a:xfrm>
            <a:off x="457200" y="566928"/>
            <a:ext cx="8229600" cy="548640"/>
          </a:xfrm>
          <a:prstGeom prst="rect">
            <a:avLst/>
          </a:prstGeom>
          <a:noFill/>
          <a:ln/>
        </p:spPr>
        <p:txBody>
          <a:bodyPr wrap="square" rtlCol="0" anchor="ctr"/>
          <a:lstStyle/>
          <a:p>
            <a:pPr algn="ctr" indent="0" marL="0">
              <a:buNone/>
            </a:pPr>
            <a:r>
              <a:rPr lang="en-US" sz="3000" b="1" dirty="0">
                <a:solidFill>
                  <a:srgbClr val="0D1F3C"/>
                </a:solidFill>
                <a:latin typeface="Cambria" pitchFamily="34" charset="0"/>
                <a:ea typeface="Cambria" pitchFamily="34" charset="-122"/>
                <a:cs typeface="Cambria" pitchFamily="34" charset="-120"/>
              </a:rPr>
              <a:t>User Journey Map</a:t>
            </a:r>
            <a:endParaRPr lang="en-US" sz="3000" dirty="0"/>
          </a:p>
        </p:txBody>
      </p:sp>
      <p:sp>
        <p:nvSpPr>
          <p:cNvPr id="4" name="Shape 2"/>
          <p:cNvSpPr/>
          <p:nvPr/>
        </p:nvSpPr>
        <p:spPr>
          <a:xfrm>
            <a:off x="676656" y="1316736"/>
            <a:ext cx="914400" cy="914400"/>
          </a:xfrm>
          <a:prstGeom prst="ellipse">
            <a:avLst/>
          </a:prstGeom>
          <a:solidFill>
            <a:srgbClr val="FFFFFF"/>
          </a:solidFill>
          <a:ln w="38100">
            <a:solidFill>
              <a:srgbClr val="00B4D8"/>
            </a:solidFill>
            <a:prstDash val="solid"/>
          </a:ln>
        </p:spPr>
      </p:sp>
      <p:sp>
        <p:nvSpPr>
          <p:cNvPr id="5" name="Text 3"/>
          <p:cNvSpPr/>
          <p:nvPr/>
        </p:nvSpPr>
        <p:spPr>
          <a:xfrm>
            <a:off x="1664208" y="1627632"/>
            <a:ext cx="329184" cy="274320"/>
          </a:xfrm>
          <a:prstGeom prst="rect">
            <a:avLst/>
          </a:prstGeom>
          <a:noFill/>
          <a:ln/>
        </p:spPr>
        <p:txBody>
          <a:bodyPr wrap="square" rtlCol="0" anchor="ctr"/>
          <a:lstStyle/>
          <a:p>
            <a:pPr algn="ctr" indent="0" marL="0">
              <a:buNone/>
            </a:pPr>
            <a:r>
              <a:rPr lang="en-US" sz="1600" dirty="0">
                <a:solidFill>
                  <a:srgbClr val="00B4D8"/>
                </a:solidFill>
                <a:latin typeface="Calibri" pitchFamily="34" charset="0"/>
                <a:ea typeface="Calibri" pitchFamily="34" charset="-122"/>
                <a:cs typeface="Calibri" pitchFamily="34" charset="-120"/>
              </a:rPr>
              <a:t>→</a:t>
            </a:r>
            <a:endParaRPr lang="en-US" sz="1600" dirty="0"/>
          </a:p>
        </p:txBody>
      </p:sp>
      <p:sp>
        <p:nvSpPr>
          <p:cNvPr id="6" name="Text 4"/>
          <p:cNvSpPr/>
          <p:nvPr/>
        </p:nvSpPr>
        <p:spPr>
          <a:xfrm>
            <a:off x="274320" y="2395728"/>
            <a:ext cx="1719072" cy="347472"/>
          </a:xfrm>
          <a:prstGeom prst="rect">
            <a:avLst/>
          </a:prstGeom>
          <a:noFill/>
          <a:ln/>
        </p:spPr>
        <p:txBody>
          <a:bodyPr wrap="square" rtlCol="0" anchor="ctr"/>
          <a:lstStyle/>
          <a:p>
            <a:pPr algn="ctr" indent="0" marL="0">
              <a:buNone/>
            </a:pPr>
            <a:r>
              <a:rPr lang="en-US" sz="1400" b="1" dirty="0">
                <a:solidFill>
                  <a:srgbClr val="0D1F3C"/>
                </a:solidFill>
                <a:latin typeface="Cambria" pitchFamily="34" charset="0"/>
                <a:ea typeface="Cambria" pitchFamily="34" charset="-122"/>
                <a:cs typeface="Cambria" pitchFamily="34" charset="-120"/>
              </a:rPr>
              <a:t>Pre-installed</a:t>
            </a:r>
            <a:endParaRPr lang="en-US" sz="1400" dirty="0"/>
          </a:p>
        </p:txBody>
      </p:sp>
      <p:sp>
        <p:nvSpPr>
          <p:cNvPr id="7" name="Text 5"/>
          <p:cNvSpPr/>
          <p:nvPr/>
        </p:nvSpPr>
        <p:spPr>
          <a:xfrm>
            <a:off x="274320" y="2798064"/>
            <a:ext cx="1719072" cy="658368"/>
          </a:xfrm>
          <a:prstGeom prst="rect">
            <a:avLst/>
          </a:prstGeom>
          <a:noFill/>
          <a:ln/>
        </p:spPr>
        <p:txBody>
          <a:bodyPr wrap="square" rtlCol="0" anchor="ctr"/>
          <a:lstStyle/>
          <a:p>
            <a:pPr algn="ctr" indent="0" marL="0">
              <a:buNone/>
            </a:pPr>
            <a:r>
              <a:rPr lang="en-US" sz="1000" dirty="0">
                <a:solidFill>
                  <a:srgbClr val="4A5568"/>
                </a:solidFill>
                <a:latin typeface="Calibri" pitchFamily="34" charset="0"/>
                <a:ea typeface="Calibri" pitchFamily="34" charset="-122"/>
                <a:cs typeface="Calibri" pitchFamily="34" charset="-120"/>
              </a:rPr>
              <a:t>Ready at boot</a:t>
            </a:r>
            <a:endParaRPr lang="en-US" sz="1000" dirty="0"/>
          </a:p>
          <a:p>
            <a:pPr algn="ctr" indent="0" marL="0">
              <a:buNone/>
            </a:pPr>
            <a:r>
              <a:rPr lang="en-US" sz="1000" dirty="0">
                <a:solidFill>
                  <a:srgbClr val="4A5568"/>
                </a:solidFill>
                <a:latin typeface="Calibri" pitchFamily="34" charset="0"/>
                <a:ea typeface="Calibri" pitchFamily="34" charset="-122"/>
                <a:cs typeface="Calibri" pitchFamily="34" charset="-120"/>
              </a:rPr>
              <a:t>No setup needed</a:t>
            </a:r>
            <a:endParaRPr lang="en-US" sz="1000" dirty="0"/>
          </a:p>
        </p:txBody>
      </p:sp>
      <p:sp>
        <p:nvSpPr>
          <p:cNvPr id="8" name="Shape 6"/>
          <p:cNvSpPr/>
          <p:nvPr/>
        </p:nvSpPr>
        <p:spPr>
          <a:xfrm>
            <a:off x="2395728" y="1316736"/>
            <a:ext cx="914400" cy="914400"/>
          </a:xfrm>
          <a:prstGeom prst="ellipse">
            <a:avLst/>
          </a:prstGeom>
          <a:solidFill>
            <a:srgbClr val="FFFFFF"/>
          </a:solidFill>
          <a:ln w="38100">
            <a:solidFill>
              <a:srgbClr val="00B4D8"/>
            </a:solidFill>
            <a:prstDash val="solid"/>
          </a:ln>
        </p:spPr>
      </p:sp>
      <p:sp>
        <p:nvSpPr>
          <p:cNvPr id="9" name="Text 7"/>
          <p:cNvSpPr/>
          <p:nvPr/>
        </p:nvSpPr>
        <p:spPr>
          <a:xfrm>
            <a:off x="3383280" y="1627632"/>
            <a:ext cx="329184" cy="274320"/>
          </a:xfrm>
          <a:prstGeom prst="rect">
            <a:avLst/>
          </a:prstGeom>
          <a:noFill/>
          <a:ln/>
        </p:spPr>
        <p:txBody>
          <a:bodyPr wrap="square" rtlCol="0" anchor="ctr"/>
          <a:lstStyle/>
          <a:p>
            <a:pPr algn="ctr" indent="0" marL="0">
              <a:buNone/>
            </a:pPr>
            <a:r>
              <a:rPr lang="en-US" sz="1600" dirty="0">
                <a:solidFill>
                  <a:srgbClr val="00B4D8"/>
                </a:solidFill>
                <a:latin typeface="Calibri" pitchFamily="34" charset="0"/>
                <a:ea typeface="Calibri" pitchFamily="34" charset="-122"/>
                <a:cs typeface="Calibri" pitchFamily="34" charset="-120"/>
              </a:rPr>
              <a:t>→</a:t>
            </a:r>
            <a:endParaRPr lang="en-US" sz="1600" dirty="0"/>
          </a:p>
        </p:txBody>
      </p:sp>
      <p:sp>
        <p:nvSpPr>
          <p:cNvPr id="10" name="Text 8"/>
          <p:cNvSpPr/>
          <p:nvPr/>
        </p:nvSpPr>
        <p:spPr>
          <a:xfrm>
            <a:off x="1993392" y="2395728"/>
            <a:ext cx="1719072" cy="347472"/>
          </a:xfrm>
          <a:prstGeom prst="rect">
            <a:avLst/>
          </a:prstGeom>
          <a:noFill/>
          <a:ln/>
        </p:spPr>
        <p:txBody>
          <a:bodyPr wrap="square" rtlCol="0" anchor="ctr"/>
          <a:lstStyle/>
          <a:p>
            <a:pPr algn="ctr" indent="0" marL="0">
              <a:buNone/>
            </a:pPr>
            <a:r>
              <a:rPr lang="en-US" sz="1400" b="1" dirty="0">
                <a:solidFill>
                  <a:srgbClr val="0D1F3C"/>
                </a:solidFill>
                <a:latin typeface="Cambria" pitchFamily="34" charset="0"/>
                <a:ea typeface="Cambria" pitchFamily="34" charset="-122"/>
                <a:cs typeface="Cambria" pitchFamily="34" charset="-120"/>
              </a:rPr>
              <a:t>One-time Setup</a:t>
            </a:r>
            <a:endParaRPr lang="en-US" sz="1400" dirty="0"/>
          </a:p>
        </p:txBody>
      </p:sp>
      <p:sp>
        <p:nvSpPr>
          <p:cNvPr id="11" name="Text 9"/>
          <p:cNvSpPr/>
          <p:nvPr/>
        </p:nvSpPr>
        <p:spPr>
          <a:xfrm>
            <a:off x="1993392" y="2798064"/>
            <a:ext cx="1719072" cy="658368"/>
          </a:xfrm>
          <a:prstGeom prst="rect">
            <a:avLst/>
          </a:prstGeom>
          <a:noFill/>
          <a:ln/>
        </p:spPr>
        <p:txBody>
          <a:bodyPr wrap="square" rtlCol="0" anchor="ctr"/>
          <a:lstStyle/>
          <a:p>
            <a:pPr algn="ctr" indent="0" marL="0">
              <a:buNone/>
            </a:pPr>
            <a:r>
              <a:rPr lang="en-US" sz="1000" dirty="0">
                <a:solidFill>
                  <a:srgbClr val="4A5568"/>
                </a:solidFill>
                <a:latin typeface="Calibri" pitchFamily="34" charset="0"/>
                <a:ea typeface="Calibri" pitchFamily="34" charset="-122"/>
                <a:cs typeface="Calibri" pitchFamily="34" charset="-120"/>
              </a:rPr>
              <a:t>25-point gaze calibration</a:t>
            </a:r>
            <a:endParaRPr lang="en-US" sz="1000" dirty="0"/>
          </a:p>
          <a:p>
            <a:pPr algn="ctr" indent="0" marL="0">
              <a:buNone/>
            </a:pPr>
            <a:r>
              <a:rPr lang="en-US" sz="1000" dirty="0">
                <a:solidFill>
                  <a:srgbClr val="4A5568"/>
                </a:solidFill>
                <a:latin typeface="Calibri" pitchFamily="34" charset="0"/>
                <a:ea typeface="Calibri" pitchFamily="34" charset="-122"/>
                <a:cs typeface="Calibri" pitchFamily="34" charset="-120"/>
              </a:rPr>
              <a:t>Done once · ~60 sec</a:t>
            </a:r>
            <a:endParaRPr lang="en-US" sz="1000" dirty="0"/>
          </a:p>
        </p:txBody>
      </p:sp>
      <p:sp>
        <p:nvSpPr>
          <p:cNvPr id="12" name="Shape 10"/>
          <p:cNvSpPr/>
          <p:nvPr/>
        </p:nvSpPr>
        <p:spPr>
          <a:xfrm>
            <a:off x="4114800" y="1316736"/>
            <a:ext cx="914400" cy="914400"/>
          </a:xfrm>
          <a:prstGeom prst="ellipse">
            <a:avLst/>
          </a:prstGeom>
          <a:solidFill>
            <a:srgbClr val="FFFFFF"/>
          </a:solidFill>
          <a:ln w="38100">
            <a:solidFill>
              <a:srgbClr val="00B4D8"/>
            </a:solidFill>
            <a:prstDash val="solid"/>
          </a:ln>
        </p:spPr>
      </p:sp>
      <p:sp>
        <p:nvSpPr>
          <p:cNvPr id="13" name="Text 11"/>
          <p:cNvSpPr/>
          <p:nvPr/>
        </p:nvSpPr>
        <p:spPr>
          <a:xfrm>
            <a:off x="5102352" y="1627632"/>
            <a:ext cx="329184" cy="274320"/>
          </a:xfrm>
          <a:prstGeom prst="rect">
            <a:avLst/>
          </a:prstGeom>
          <a:noFill/>
          <a:ln/>
        </p:spPr>
        <p:txBody>
          <a:bodyPr wrap="square" rtlCol="0" anchor="ctr"/>
          <a:lstStyle/>
          <a:p>
            <a:pPr algn="ctr" indent="0" marL="0">
              <a:buNone/>
            </a:pPr>
            <a:r>
              <a:rPr lang="en-US" sz="1600" dirty="0">
                <a:solidFill>
                  <a:srgbClr val="00B4D8"/>
                </a:solidFill>
                <a:latin typeface="Calibri" pitchFamily="34" charset="0"/>
                <a:ea typeface="Calibri" pitchFamily="34" charset="-122"/>
                <a:cs typeface="Calibri" pitchFamily="34" charset="-120"/>
              </a:rPr>
              <a:t>→</a:t>
            </a:r>
            <a:endParaRPr lang="en-US" sz="1600" dirty="0"/>
          </a:p>
        </p:txBody>
      </p:sp>
      <p:sp>
        <p:nvSpPr>
          <p:cNvPr id="14" name="Text 12"/>
          <p:cNvSpPr/>
          <p:nvPr/>
        </p:nvSpPr>
        <p:spPr>
          <a:xfrm>
            <a:off x="3712464" y="2395728"/>
            <a:ext cx="1719072" cy="347472"/>
          </a:xfrm>
          <a:prstGeom prst="rect">
            <a:avLst/>
          </a:prstGeom>
          <a:noFill/>
          <a:ln/>
        </p:spPr>
        <p:txBody>
          <a:bodyPr wrap="square" rtlCol="0" anchor="ctr"/>
          <a:lstStyle/>
          <a:p>
            <a:pPr algn="ctr" indent="0" marL="0">
              <a:buNone/>
            </a:pPr>
            <a:r>
              <a:rPr lang="en-US" sz="1400" b="1" dirty="0">
                <a:solidFill>
                  <a:srgbClr val="0D1F3C"/>
                </a:solidFill>
                <a:latin typeface="Cambria" pitchFamily="34" charset="0"/>
                <a:ea typeface="Cambria" pitchFamily="34" charset="-122"/>
                <a:cs typeface="Cambria" pitchFamily="34" charset="-120"/>
              </a:rPr>
              <a:t>Browse Normally</a:t>
            </a:r>
            <a:endParaRPr lang="en-US" sz="1400" dirty="0"/>
          </a:p>
        </p:txBody>
      </p:sp>
      <p:sp>
        <p:nvSpPr>
          <p:cNvPr id="15" name="Text 13"/>
          <p:cNvSpPr/>
          <p:nvPr/>
        </p:nvSpPr>
        <p:spPr>
          <a:xfrm>
            <a:off x="3712464" y="2798064"/>
            <a:ext cx="1719072" cy="658368"/>
          </a:xfrm>
          <a:prstGeom prst="rect">
            <a:avLst/>
          </a:prstGeom>
          <a:noFill/>
          <a:ln/>
        </p:spPr>
        <p:txBody>
          <a:bodyPr wrap="square" rtlCol="0" anchor="ctr"/>
          <a:lstStyle/>
          <a:p>
            <a:pPr algn="ctr" indent="0" marL="0">
              <a:buNone/>
            </a:pPr>
            <a:r>
              <a:rPr lang="en-US" sz="1000" dirty="0">
                <a:solidFill>
                  <a:srgbClr val="4A5568"/>
                </a:solidFill>
                <a:latin typeface="Calibri" pitchFamily="34" charset="0"/>
                <a:ea typeface="Calibri" pitchFamily="34" charset="-122"/>
                <a:cs typeface="Calibri" pitchFamily="34" charset="-120"/>
              </a:rPr>
              <a:t>AI runs silently</a:t>
            </a:r>
            <a:endParaRPr lang="en-US" sz="1000" dirty="0"/>
          </a:p>
          <a:p>
            <a:pPr algn="ctr" indent="0" marL="0">
              <a:buNone/>
            </a:pPr>
            <a:r>
              <a:rPr lang="en-US" sz="1000" dirty="0">
                <a:solidFill>
                  <a:srgbClr val="4A5568"/>
                </a:solidFill>
                <a:latin typeface="Calibri" pitchFamily="34" charset="0"/>
                <a:ea typeface="Calibri" pitchFamily="34" charset="-122"/>
                <a:cs typeface="Calibri" pitchFamily="34" charset="-120"/>
              </a:rPr>
              <a:t>No habit change</a:t>
            </a:r>
            <a:endParaRPr lang="en-US" sz="1000" dirty="0"/>
          </a:p>
        </p:txBody>
      </p:sp>
      <p:sp>
        <p:nvSpPr>
          <p:cNvPr id="16" name="Shape 14"/>
          <p:cNvSpPr/>
          <p:nvPr/>
        </p:nvSpPr>
        <p:spPr>
          <a:xfrm>
            <a:off x="5833872" y="1316736"/>
            <a:ext cx="914400" cy="914400"/>
          </a:xfrm>
          <a:prstGeom prst="ellipse">
            <a:avLst/>
          </a:prstGeom>
          <a:solidFill>
            <a:srgbClr val="FFFFFF"/>
          </a:solidFill>
          <a:ln w="38100">
            <a:solidFill>
              <a:srgbClr val="F6AE2D"/>
            </a:solidFill>
            <a:prstDash val="solid"/>
          </a:ln>
        </p:spPr>
      </p:sp>
      <p:sp>
        <p:nvSpPr>
          <p:cNvPr id="17" name="Text 15"/>
          <p:cNvSpPr/>
          <p:nvPr/>
        </p:nvSpPr>
        <p:spPr>
          <a:xfrm>
            <a:off x="6821424" y="1627632"/>
            <a:ext cx="329184" cy="274320"/>
          </a:xfrm>
          <a:prstGeom prst="rect">
            <a:avLst/>
          </a:prstGeom>
          <a:noFill/>
          <a:ln/>
        </p:spPr>
        <p:txBody>
          <a:bodyPr wrap="square" rtlCol="0" anchor="ctr"/>
          <a:lstStyle/>
          <a:p>
            <a:pPr algn="ctr" indent="0" marL="0">
              <a:buNone/>
            </a:pPr>
            <a:r>
              <a:rPr lang="en-US" sz="1600" dirty="0">
                <a:solidFill>
                  <a:srgbClr val="00B4D8"/>
                </a:solidFill>
                <a:latin typeface="Calibri" pitchFamily="34" charset="0"/>
                <a:ea typeface="Calibri" pitchFamily="34" charset="-122"/>
                <a:cs typeface="Calibri" pitchFamily="34" charset="-120"/>
              </a:rPr>
              <a:t>→</a:t>
            </a:r>
            <a:endParaRPr lang="en-US" sz="1600" dirty="0"/>
          </a:p>
        </p:txBody>
      </p:sp>
      <p:sp>
        <p:nvSpPr>
          <p:cNvPr id="18" name="Text 16"/>
          <p:cNvSpPr/>
          <p:nvPr/>
        </p:nvSpPr>
        <p:spPr>
          <a:xfrm>
            <a:off x="5431536" y="2395728"/>
            <a:ext cx="1719072" cy="347472"/>
          </a:xfrm>
          <a:prstGeom prst="rect">
            <a:avLst/>
          </a:prstGeom>
          <a:noFill/>
          <a:ln/>
        </p:spPr>
        <p:txBody>
          <a:bodyPr wrap="square" rtlCol="0" anchor="ctr"/>
          <a:lstStyle/>
          <a:p>
            <a:pPr algn="ctr" indent="0" marL="0">
              <a:buNone/>
            </a:pPr>
            <a:r>
              <a:rPr lang="en-US" sz="1400" b="1" dirty="0">
                <a:solidFill>
                  <a:srgbClr val="0D1F3C"/>
                </a:solidFill>
                <a:latin typeface="Cambria" pitchFamily="34" charset="0"/>
                <a:ea typeface="Cambria" pitchFamily="34" charset="-122"/>
                <a:cs typeface="Cambria" pitchFamily="34" charset="-120"/>
              </a:rPr>
              <a:t>Gaze Holds 1.5s</a:t>
            </a:r>
            <a:endParaRPr lang="en-US" sz="1400" dirty="0"/>
          </a:p>
        </p:txBody>
      </p:sp>
      <p:sp>
        <p:nvSpPr>
          <p:cNvPr id="19" name="Text 17"/>
          <p:cNvSpPr/>
          <p:nvPr/>
        </p:nvSpPr>
        <p:spPr>
          <a:xfrm>
            <a:off x="5431536" y="2798064"/>
            <a:ext cx="1719072" cy="658368"/>
          </a:xfrm>
          <a:prstGeom prst="rect">
            <a:avLst/>
          </a:prstGeom>
          <a:noFill/>
          <a:ln/>
        </p:spPr>
        <p:txBody>
          <a:bodyPr wrap="square" rtlCol="0" anchor="ctr"/>
          <a:lstStyle/>
          <a:p>
            <a:pPr algn="ctr" indent="0" marL="0">
              <a:buNone/>
            </a:pPr>
            <a:r>
              <a:rPr lang="en-US" sz="1000" dirty="0">
                <a:solidFill>
                  <a:srgbClr val="4A5568"/>
                </a:solidFill>
                <a:latin typeface="Calibri" pitchFamily="34" charset="0"/>
                <a:ea typeface="Calibri" pitchFamily="34" charset="-122"/>
                <a:cs typeface="Calibri" pitchFamily="34" charset="-120"/>
              </a:rPr>
              <a:t>Text enhancements</a:t>
            </a:r>
            <a:endParaRPr lang="en-US" sz="1000" dirty="0"/>
          </a:p>
          <a:p>
            <a:pPr algn="ctr" indent="0" marL="0">
              <a:buNone/>
            </a:pPr>
            <a:r>
              <a:rPr lang="en-US" sz="1000" dirty="0">
                <a:solidFill>
                  <a:srgbClr val="4A5568"/>
                </a:solidFill>
                <a:latin typeface="Calibri" pitchFamily="34" charset="0"/>
                <a:ea typeface="Calibri" pitchFamily="34" charset="-122"/>
                <a:cs typeface="Calibri" pitchFamily="34" charset="-120"/>
              </a:rPr>
              <a:t>AI Summary appears</a:t>
            </a:r>
            <a:endParaRPr lang="en-US" sz="1000" dirty="0"/>
          </a:p>
        </p:txBody>
      </p:sp>
      <p:sp>
        <p:nvSpPr>
          <p:cNvPr id="20" name="Shape 18"/>
          <p:cNvSpPr/>
          <p:nvPr/>
        </p:nvSpPr>
        <p:spPr>
          <a:xfrm>
            <a:off x="7552944" y="1316736"/>
            <a:ext cx="914400" cy="914400"/>
          </a:xfrm>
          <a:prstGeom prst="ellipse">
            <a:avLst/>
          </a:prstGeom>
          <a:solidFill>
            <a:srgbClr val="FFFFFF"/>
          </a:solidFill>
          <a:ln w="38100">
            <a:solidFill>
              <a:srgbClr val="00B4D8"/>
            </a:solidFill>
            <a:prstDash val="solid"/>
          </a:ln>
        </p:spPr>
      </p:sp>
      <p:sp>
        <p:nvSpPr>
          <p:cNvPr id="21" name="Text 19"/>
          <p:cNvSpPr/>
          <p:nvPr/>
        </p:nvSpPr>
        <p:spPr>
          <a:xfrm>
            <a:off x="7150608" y="2395728"/>
            <a:ext cx="1719072" cy="347472"/>
          </a:xfrm>
          <a:prstGeom prst="rect">
            <a:avLst/>
          </a:prstGeom>
          <a:noFill/>
          <a:ln/>
        </p:spPr>
        <p:txBody>
          <a:bodyPr wrap="square" rtlCol="0" anchor="ctr"/>
          <a:lstStyle/>
          <a:p>
            <a:pPr algn="ctr" indent="0" marL="0">
              <a:buNone/>
            </a:pPr>
            <a:r>
              <a:rPr lang="en-US" sz="1400" b="1" dirty="0">
                <a:solidFill>
                  <a:srgbClr val="0D1F3C"/>
                </a:solidFill>
                <a:latin typeface="Cambria" pitchFamily="34" charset="0"/>
                <a:ea typeface="Cambria" pitchFamily="34" charset="-122"/>
                <a:cs typeface="Cambria" pitchFamily="34" charset="-120"/>
              </a:rPr>
              <a:t>Read Faster</a:t>
            </a:r>
            <a:endParaRPr lang="en-US" sz="1400" dirty="0"/>
          </a:p>
        </p:txBody>
      </p:sp>
      <p:sp>
        <p:nvSpPr>
          <p:cNvPr id="22" name="Text 20"/>
          <p:cNvSpPr/>
          <p:nvPr/>
        </p:nvSpPr>
        <p:spPr>
          <a:xfrm>
            <a:off x="7150608" y="2798064"/>
            <a:ext cx="1719072" cy="658368"/>
          </a:xfrm>
          <a:prstGeom prst="rect">
            <a:avLst/>
          </a:prstGeom>
          <a:noFill/>
          <a:ln/>
        </p:spPr>
        <p:txBody>
          <a:bodyPr wrap="square" rtlCol="0" anchor="ctr"/>
          <a:lstStyle/>
          <a:p>
            <a:pPr algn="ctr" indent="0" marL="0">
              <a:buNone/>
            </a:pPr>
            <a:r>
              <a:rPr lang="en-US" sz="1000" dirty="0">
                <a:solidFill>
                  <a:srgbClr val="4A5568"/>
                </a:solidFill>
                <a:latin typeface="Calibri" pitchFamily="34" charset="0"/>
                <a:ea typeface="Calibri" pitchFamily="34" charset="-122"/>
                <a:cs typeface="Calibri" pitchFamily="34" charset="-120"/>
              </a:rPr>
              <a:t>Summary aids</a:t>
            </a:r>
            <a:endParaRPr lang="en-US" sz="1000" dirty="0"/>
          </a:p>
          <a:p>
            <a:pPr algn="ctr" indent="0" marL="0">
              <a:buNone/>
            </a:pPr>
            <a:r>
              <a:rPr lang="en-US" sz="1000" dirty="0">
                <a:solidFill>
                  <a:srgbClr val="4A5568"/>
                </a:solidFill>
                <a:latin typeface="Calibri" pitchFamily="34" charset="0"/>
                <a:ea typeface="Calibri" pitchFamily="34" charset="-122"/>
                <a:cs typeface="Calibri" pitchFamily="34" charset="-120"/>
              </a:rPr>
              <a:t>comprehension</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EF5FF"/>
        </a:solidFill>
      </p:bgPr>
    </p:bg>
    <p:spTree>
      <p:nvGrpSpPr>
        <p:cNvPr id="1" name=""/>
        <p:cNvGrpSpPr/>
        <p:nvPr/>
      </p:nvGrpSpPr>
      <p:grpSpPr>
        <a:xfrm>
          <a:off x="0" y="0"/>
          <a:ext cx="0" cy="0"/>
          <a:chOff x="0" y="0"/>
          <a:chExt cx="0" cy="0"/>
        </a:xfrm>
      </p:grpSpPr>
      <p:sp>
        <p:nvSpPr>
          <p:cNvPr id="2" name="Text 0"/>
          <p:cNvSpPr/>
          <p:nvPr/>
        </p:nvSpPr>
        <p:spPr>
          <a:xfrm>
            <a:off x="3566160" y="237744"/>
            <a:ext cx="2286000" cy="256032"/>
          </a:xfrm>
          <a:prstGeom prst="roundRect">
            <a:avLst>
              <a:gd name="adj" fmla="val 178571"/>
            </a:avLst>
          </a:prstGeom>
          <a:solidFill>
            <a:srgbClr val="00B4D8"/>
          </a:solidFill>
          <a:ln/>
        </p:spPr>
        <p:txBody>
          <a:bodyPr wrap="square" rtlCol="0" anchor="ctr"/>
          <a:lstStyle/>
          <a:p>
            <a:pPr algn="ctr" indent="0" marL="0">
              <a:buNone/>
            </a:pPr>
            <a:r>
              <a:rPr lang="en-US" sz="900" b="1" dirty="0">
                <a:solidFill>
                  <a:srgbClr val="0D1F3C"/>
                </a:solidFill>
                <a:latin typeface="Calibri" pitchFamily="34" charset="0"/>
                <a:ea typeface="Calibri" pitchFamily="34" charset="-122"/>
                <a:cs typeface="Calibri" pitchFamily="34" charset="-120"/>
              </a:rPr>
              <a:t>3 · USER EXPERIENCE</a:t>
            </a:r>
            <a:endParaRPr lang="en-US" sz="900" dirty="0"/>
          </a:p>
        </p:txBody>
      </p:sp>
      <p:sp>
        <p:nvSpPr>
          <p:cNvPr id="3" name="Text 1"/>
          <p:cNvSpPr/>
          <p:nvPr/>
        </p:nvSpPr>
        <p:spPr>
          <a:xfrm>
            <a:off x="457200" y="548640"/>
            <a:ext cx="8229600" cy="658368"/>
          </a:xfrm>
          <a:prstGeom prst="rect">
            <a:avLst/>
          </a:prstGeom>
          <a:noFill/>
          <a:ln/>
        </p:spPr>
        <p:txBody>
          <a:bodyPr wrap="square" rtlCol="0" anchor="ctr"/>
          <a:lstStyle/>
          <a:p>
            <a:pPr algn="ctr" indent="0" marL="0">
              <a:buNone/>
            </a:pPr>
            <a:r>
              <a:rPr lang="en-US" sz="4000" b="1" dirty="0">
                <a:solidFill>
                  <a:srgbClr val="0D1F3C"/>
                </a:solidFill>
                <a:latin typeface="Cambria" pitchFamily="34" charset="0"/>
                <a:ea typeface="Cambria" pitchFamily="34" charset="-122"/>
                <a:cs typeface="Cambria" pitchFamily="34" charset="-120"/>
              </a:rPr>
              <a:t>Read Faster</a:t>
            </a:r>
            <a:endParaRPr lang="en-US" sz="4000" dirty="0"/>
          </a:p>
        </p:txBody>
      </p:sp>
      <p:sp>
        <p:nvSpPr>
          <p:cNvPr id="4" name="Text 2"/>
          <p:cNvSpPr/>
          <p:nvPr/>
        </p:nvSpPr>
        <p:spPr>
          <a:xfrm>
            <a:off x="457200" y="1170432"/>
            <a:ext cx="8229600" cy="256032"/>
          </a:xfrm>
          <a:prstGeom prst="rect">
            <a:avLst/>
          </a:prstGeom>
          <a:noFill/>
          <a:ln/>
        </p:spPr>
        <p:txBody>
          <a:bodyPr wrap="square" rtlCol="0" anchor="ctr"/>
          <a:lstStyle/>
          <a:p>
            <a:pPr algn="ctr" indent="0" marL="0">
              <a:buNone/>
            </a:pPr>
            <a:r>
              <a:rPr lang="en-US" sz="1100" dirty="0">
                <a:solidFill>
                  <a:srgbClr val="4A5568"/>
                </a:solidFill>
                <a:latin typeface="Calibri" pitchFamily="34" charset="0"/>
                <a:ea typeface="Calibri" pitchFamily="34" charset="-122"/>
                <a:cs typeface="Calibri" pitchFamily="34" charset="-120"/>
              </a:rPr>
              <a:t>Measured reading time across three conditions — same 1000-word article, same user</a:t>
            </a:r>
            <a:endParaRPr lang="en-US" sz="1100" dirty="0"/>
          </a:p>
        </p:txBody>
      </p:sp>
      <p:graphicFrame>
        <p:nvGraphicFramePr>
          <p:cNvPr id="5" name="Chart 0" descr=""/>
          <p:cNvGraphicFramePr/>
          <p:nvPr/>
        </p:nvGraphicFramePr>
        <p:xfrm>
          <a:off x="640080" y="1508760"/>
          <a:ext cx="7863840" cy="3310128"/>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9144000" cy="1298448"/>
          </a:xfrm>
          <a:prstGeom prst="rect">
            <a:avLst/>
          </a:prstGeom>
          <a:solidFill>
            <a:srgbClr val="0D1F3C"/>
          </a:solidFill>
          <a:ln w="12700">
            <a:solidFill>
              <a:srgbClr val="0D1F3C"/>
            </a:solidFill>
            <a:prstDash val="solid"/>
          </a:ln>
        </p:spPr>
      </p:sp>
      <p:sp>
        <p:nvSpPr>
          <p:cNvPr id="3" name="Text 1"/>
          <p:cNvSpPr/>
          <p:nvPr/>
        </p:nvSpPr>
        <p:spPr>
          <a:xfrm>
            <a:off x="219456" y="219456"/>
            <a:ext cx="2743200" cy="256032"/>
          </a:xfrm>
          <a:prstGeom prst="roundRect">
            <a:avLst>
              <a:gd name="adj" fmla="val 178571"/>
            </a:avLst>
          </a:prstGeom>
          <a:solidFill>
            <a:srgbClr val="F6AE2D"/>
          </a:solidFill>
          <a:ln/>
        </p:spPr>
        <p:txBody>
          <a:bodyPr wrap="square" rtlCol="0" anchor="ctr"/>
          <a:lstStyle/>
          <a:p>
            <a:pPr algn="ctr" indent="0" marL="0">
              <a:buNone/>
            </a:pPr>
            <a:r>
              <a:rPr lang="en-US" sz="900" b="1" dirty="0">
                <a:solidFill>
                  <a:srgbClr val="0D1F3C"/>
                </a:solidFill>
                <a:latin typeface="Calibri" pitchFamily="34" charset="0"/>
                <a:ea typeface="Calibri" pitchFamily="34" charset="-122"/>
                <a:cs typeface="Calibri" pitchFamily="34" charset="-120"/>
              </a:rPr>
              <a:t>4 · VALUE &amp; IMPACT / CURB-CUT</a:t>
            </a:r>
            <a:endParaRPr lang="en-US" sz="900" dirty="0"/>
          </a:p>
        </p:txBody>
      </p:sp>
      <p:sp>
        <p:nvSpPr>
          <p:cNvPr id="4" name="Text 2"/>
          <p:cNvSpPr/>
          <p:nvPr/>
        </p:nvSpPr>
        <p:spPr>
          <a:xfrm>
            <a:off x="219456" y="548640"/>
            <a:ext cx="8686800" cy="512064"/>
          </a:xfrm>
          <a:prstGeom prst="rect">
            <a:avLst/>
          </a:prstGeom>
          <a:noFill/>
          <a:ln/>
        </p:spPr>
        <p:txBody>
          <a:bodyPr wrap="square"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Curb-Cut Effect — From 20% to Everyday Users</a:t>
            </a:r>
            <a:endParaRPr lang="en-US" sz="2200" dirty="0"/>
          </a:p>
        </p:txBody>
      </p:sp>
      <p:sp>
        <p:nvSpPr>
          <p:cNvPr id="5" name="Shape 3"/>
          <p:cNvSpPr/>
          <p:nvPr/>
        </p:nvSpPr>
        <p:spPr>
          <a:xfrm>
            <a:off x="182880" y="1481328"/>
            <a:ext cx="2103120" cy="1463040"/>
          </a:xfrm>
          <a:prstGeom prst="roundRect">
            <a:avLst>
              <a:gd name="adj" fmla="val 9375"/>
            </a:avLst>
          </a:prstGeom>
          <a:solidFill>
            <a:srgbClr val="F4F6FA"/>
          </a:solidFill>
          <a:ln w="12700">
            <a:solidFill>
              <a:srgbClr val="F4F6FA"/>
            </a:solidFill>
            <a:prstDash val="solid"/>
          </a:ln>
        </p:spPr>
      </p:sp>
      <p:sp>
        <p:nvSpPr>
          <p:cNvPr id="6" name="Shape 4"/>
          <p:cNvSpPr/>
          <p:nvPr/>
        </p:nvSpPr>
        <p:spPr>
          <a:xfrm>
            <a:off x="182880" y="1481328"/>
            <a:ext cx="2103120" cy="45720"/>
          </a:xfrm>
          <a:prstGeom prst="rect">
            <a:avLst/>
          </a:prstGeom>
          <a:solidFill>
            <a:srgbClr val="00B4D8"/>
          </a:solidFill>
          <a:ln w="12700">
            <a:solidFill>
              <a:srgbClr val="00B4D8"/>
            </a:solidFill>
            <a:prstDash val="solid"/>
          </a:ln>
        </p:spPr>
      </p:sp>
      <p:sp>
        <p:nvSpPr>
          <p:cNvPr id="7" name="Text 5"/>
          <p:cNvSpPr/>
          <p:nvPr/>
        </p:nvSpPr>
        <p:spPr>
          <a:xfrm>
            <a:off x="320040" y="1600200"/>
            <a:ext cx="1828800" cy="1188720"/>
          </a:xfrm>
          <a:prstGeom prst="rect">
            <a:avLst/>
          </a:prstGeom>
          <a:noFill/>
          <a:ln/>
        </p:spPr>
        <p:txBody>
          <a:bodyPr wrap="square" rtlCol="0" anchor="ctr"/>
          <a:lstStyle/>
          <a:p>
            <a:pPr indent="0" marL="0">
              <a:buNone/>
            </a:pPr>
            <a:r>
              <a:rPr lang="en-US" sz="1500" b="1" dirty="0">
                <a:solidFill>
                  <a:srgbClr val="0D1F3C"/>
                </a:solidFill>
                <a:latin typeface="Cambria" pitchFamily="34" charset="0"/>
                <a:ea typeface="Cambria" pitchFamily="34" charset="-122"/>
                <a:cs typeface="Cambria" pitchFamily="34" charset="-120"/>
              </a:rPr>
              <a:t>Screen Glare &amp; Reflections</a:t>
            </a:r>
            <a:endParaRPr lang="en-US" sz="1500" dirty="0"/>
          </a:p>
        </p:txBody>
      </p:sp>
      <p:sp>
        <p:nvSpPr>
          <p:cNvPr id="8" name="Shape 6"/>
          <p:cNvSpPr/>
          <p:nvPr/>
        </p:nvSpPr>
        <p:spPr>
          <a:xfrm>
            <a:off x="2395728" y="1481328"/>
            <a:ext cx="2103120" cy="1463040"/>
          </a:xfrm>
          <a:prstGeom prst="roundRect">
            <a:avLst>
              <a:gd name="adj" fmla="val 9375"/>
            </a:avLst>
          </a:prstGeom>
          <a:solidFill>
            <a:srgbClr val="F4F6FA"/>
          </a:solidFill>
          <a:ln w="12700">
            <a:solidFill>
              <a:srgbClr val="F4F6FA"/>
            </a:solidFill>
            <a:prstDash val="solid"/>
          </a:ln>
        </p:spPr>
      </p:sp>
      <p:sp>
        <p:nvSpPr>
          <p:cNvPr id="9" name="Shape 7"/>
          <p:cNvSpPr/>
          <p:nvPr/>
        </p:nvSpPr>
        <p:spPr>
          <a:xfrm>
            <a:off x="2395728" y="1481328"/>
            <a:ext cx="2103120" cy="45720"/>
          </a:xfrm>
          <a:prstGeom prst="rect">
            <a:avLst/>
          </a:prstGeom>
          <a:solidFill>
            <a:srgbClr val="00B4D8"/>
          </a:solidFill>
          <a:ln w="12700">
            <a:solidFill>
              <a:srgbClr val="00B4D8"/>
            </a:solidFill>
            <a:prstDash val="solid"/>
          </a:ln>
        </p:spPr>
      </p:sp>
      <p:sp>
        <p:nvSpPr>
          <p:cNvPr id="10" name="Text 8"/>
          <p:cNvSpPr/>
          <p:nvPr/>
        </p:nvSpPr>
        <p:spPr>
          <a:xfrm>
            <a:off x="2532888" y="1600200"/>
            <a:ext cx="1828800" cy="1188720"/>
          </a:xfrm>
          <a:prstGeom prst="rect">
            <a:avLst/>
          </a:prstGeom>
          <a:noFill/>
          <a:ln/>
        </p:spPr>
        <p:txBody>
          <a:bodyPr wrap="square" rtlCol="0" anchor="ctr"/>
          <a:lstStyle/>
          <a:p>
            <a:pPr indent="0" marL="0">
              <a:buNone/>
            </a:pPr>
            <a:r>
              <a:rPr lang="en-US" sz="1500" b="1" dirty="0">
                <a:solidFill>
                  <a:srgbClr val="0D1F3C"/>
                </a:solidFill>
                <a:latin typeface="Cambria" pitchFamily="34" charset="0"/>
                <a:ea typeface="Cambria" pitchFamily="34" charset="-122"/>
                <a:cs typeface="Cambria" pitchFamily="34" charset="-120"/>
              </a:rPr>
              <a:t>Outdoor Bright Sunlight</a:t>
            </a:r>
            <a:endParaRPr lang="en-US" sz="1500" dirty="0"/>
          </a:p>
        </p:txBody>
      </p:sp>
      <p:sp>
        <p:nvSpPr>
          <p:cNvPr id="11" name="Shape 9"/>
          <p:cNvSpPr/>
          <p:nvPr/>
        </p:nvSpPr>
        <p:spPr>
          <a:xfrm>
            <a:off x="4608576" y="1481328"/>
            <a:ext cx="2103120" cy="1463040"/>
          </a:xfrm>
          <a:prstGeom prst="roundRect">
            <a:avLst>
              <a:gd name="adj" fmla="val 9375"/>
            </a:avLst>
          </a:prstGeom>
          <a:solidFill>
            <a:srgbClr val="F4F6FA"/>
          </a:solidFill>
          <a:ln w="12700">
            <a:solidFill>
              <a:srgbClr val="F4F6FA"/>
            </a:solidFill>
            <a:prstDash val="solid"/>
          </a:ln>
        </p:spPr>
      </p:sp>
      <p:sp>
        <p:nvSpPr>
          <p:cNvPr id="12" name="Shape 10"/>
          <p:cNvSpPr/>
          <p:nvPr/>
        </p:nvSpPr>
        <p:spPr>
          <a:xfrm>
            <a:off x="4608576" y="1481328"/>
            <a:ext cx="2103120" cy="45720"/>
          </a:xfrm>
          <a:prstGeom prst="rect">
            <a:avLst/>
          </a:prstGeom>
          <a:solidFill>
            <a:srgbClr val="00B4D8"/>
          </a:solidFill>
          <a:ln w="12700">
            <a:solidFill>
              <a:srgbClr val="00B4D8"/>
            </a:solidFill>
            <a:prstDash val="solid"/>
          </a:ln>
        </p:spPr>
      </p:sp>
      <p:sp>
        <p:nvSpPr>
          <p:cNvPr id="13" name="Text 11"/>
          <p:cNvSpPr/>
          <p:nvPr/>
        </p:nvSpPr>
        <p:spPr>
          <a:xfrm>
            <a:off x="4745736" y="1600200"/>
            <a:ext cx="1828800" cy="1188720"/>
          </a:xfrm>
          <a:prstGeom prst="rect">
            <a:avLst/>
          </a:prstGeom>
          <a:noFill/>
          <a:ln/>
        </p:spPr>
        <p:txBody>
          <a:bodyPr wrap="square" rtlCol="0" anchor="ctr"/>
          <a:lstStyle/>
          <a:p>
            <a:pPr indent="0" marL="0">
              <a:buNone/>
            </a:pPr>
            <a:r>
              <a:rPr lang="en-US" sz="1500" b="1" dirty="0">
                <a:solidFill>
                  <a:srgbClr val="0D1F3C"/>
                </a:solidFill>
                <a:latin typeface="Cambria" pitchFamily="34" charset="0"/>
                <a:ea typeface="Cambria" pitchFamily="34" charset="-122"/>
                <a:cs typeface="Cambria" pitchFamily="34" charset="-120"/>
              </a:rPr>
              <a:t>Eye Strain from Long Screen Time</a:t>
            </a:r>
            <a:endParaRPr lang="en-US" sz="1500" dirty="0"/>
          </a:p>
        </p:txBody>
      </p:sp>
      <p:sp>
        <p:nvSpPr>
          <p:cNvPr id="14" name="Shape 12"/>
          <p:cNvSpPr/>
          <p:nvPr/>
        </p:nvSpPr>
        <p:spPr>
          <a:xfrm>
            <a:off x="6821424" y="1481328"/>
            <a:ext cx="2103120" cy="1463040"/>
          </a:xfrm>
          <a:prstGeom prst="roundRect">
            <a:avLst>
              <a:gd name="adj" fmla="val 9375"/>
            </a:avLst>
          </a:prstGeom>
          <a:solidFill>
            <a:srgbClr val="F4F6FA"/>
          </a:solidFill>
          <a:ln w="12700">
            <a:solidFill>
              <a:srgbClr val="F4F6FA"/>
            </a:solidFill>
            <a:prstDash val="solid"/>
          </a:ln>
        </p:spPr>
      </p:sp>
      <p:sp>
        <p:nvSpPr>
          <p:cNvPr id="15" name="Shape 13"/>
          <p:cNvSpPr/>
          <p:nvPr/>
        </p:nvSpPr>
        <p:spPr>
          <a:xfrm>
            <a:off x="6821424" y="1481328"/>
            <a:ext cx="2103120" cy="45720"/>
          </a:xfrm>
          <a:prstGeom prst="rect">
            <a:avLst/>
          </a:prstGeom>
          <a:solidFill>
            <a:srgbClr val="F6AE2D"/>
          </a:solidFill>
          <a:ln w="12700">
            <a:solidFill>
              <a:srgbClr val="F6AE2D"/>
            </a:solidFill>
            <a:prstDash val="solid"/>
          </a:ln>
        </p:spPr>
      </p:sp>
      <p:sp>
        <p:nvSpPr>
          <p:cNvPr id="16" name="Text 14"/>
          <p:cNvSpPr/>
          <p:nvPr/>
        </p:nvSpPr>
        <p:spPr>
          <a:xfrm>
            <a:off x="6958584" y="1600200"/>
            <a:ext cx="1828800" cy="1188720"/>
          </a:xfrm>
          <a:prstGeom prst="rect">
            <a:avLst/>
          </a:prstGeom>
          <a:noFill/>
          <a:ln/>
        </p:spPr>
        <p:txBody>
          <a:bodyPr wrap="square" rtlCol="0" anchor="ctr"/>
          <a:lstStyle/>
          <a:p>
            <a:pPr indent="0" marL="0">
              <a:buNone/>
            </a:pPr>
            <a:r>
              <a:rPr lang="en-US" sz="1500" b="1" dirty="0">
                <a:solidFill>
                  <a:srgbClr val="0D1F3C"/>
                </a:solidFill>
                <a:latin typeface="Cambria" pitchFamily="34" charset="0"/>
                <a:ea typeface="Cambria" pitchFamily="34" charset="-122"/>
                <a:cs typeface="Cambria" pitchFamily="34" charset="-120"/>
              </a:rPr>
              <a:t>Busy Readers &amp; Skimmers</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2026-07-23T05:29:29Z</dcterms:created>
  <dcterms:modified xsi:type="dcterms:W3CDTF">2026-07-23T05:29:29Z</dcterms:modified>
</cp:coreProperties>
</file>